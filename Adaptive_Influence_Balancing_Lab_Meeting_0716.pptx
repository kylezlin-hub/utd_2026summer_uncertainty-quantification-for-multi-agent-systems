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4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00DBC-771E-4BD1-8CB8-DFB7541DE31F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9548C-795C-4E8B-AB57-B7C8E8D50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9548C-795C-4E8B-AB57-B7C8E8D50F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9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Adaptive Influence Balancing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</a:rPr>
              <a:t>Preserving Correct Minority Hypotheses
in Multi-Agent LLM Debates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154680"/>
            <a:ext cx="5486400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794760"/>
            <a:ext cx="8229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 dirty="0">
                <a:solidFill>
                  <a:srgbClr val="99BBEE"/>
                </a:solidFill>
              </a:rPr>
              <a:t>Building on: A Diagnostic Study of Multi-Agent LLMs (ICML 2026)</a:t>
            </a:r>
            <a:endParaRPr lang="en-US" sz="1300" b="0" i="1" dirty="0">
              <a:solidFill>
                <a:srgbClr val="99BBE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0A4BF-CF00-467D-5A4E-91E42AD4498D}"/>
              </a:ext>
            </a:extLst>
          </p:cNvPr>
          <p:cNvSpPr txBox="1"/>
          <p:nvPr/>
        </p:nvSpPr>
        <p:spPr>
          <a:xfrm>
            <a:off x="2286000" y="328383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>
                <a:solidFill>
                  <a:schemeClr val="bg1"/>
                </a:solidFill>
              </a:rPr>
              <a:t>Advisor: Dr. Feng Chen</a:t>
            </a:r>
          </a:p>
          <a:p>
            <a:pPr algn="ctr"/>
            <a:r>
              <a:rPr lang="en-US" sz="1600" i="1" dirty="0">
                <a:solidFill>
                  <a:schemeClr val="bg1"/>
                </a:solidFill>
              </a:rPr>
              <a:t>Weekly Update 07/16/2026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Problem: Multi-Agent Debates Can Fail Silently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023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What We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Agents debate, challenge each other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Best argument wins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444444"/>
                </a:solidFill>
              </a:rPr>
              <a:t>✓  Consensus = correct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What Actually Happens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3657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Majority pressure silences minority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Correct hypothesis eliminated early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Agents converge on wrong answer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0392B"/>
                </a:solidFill>
              </a:rPr>
              <a:t>✗  Consensus looks confident but is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822960"/>
            <a:ext cx="429768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Real Example  (MMLU-Pro Q42, Correct =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Agent1: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Agent2: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371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Agent3: A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Agent1: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Agent2: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057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Agent3: A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Agent1: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Agent2: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432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Agent3: B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Agent1: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Agent2: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429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Agent3: B 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Rd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→ Consensus: B  ✗ 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41148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663440" y="4800600"/>
            <a:ext cx="4114800" cy="914400"/>
          </a:xfrm>
          <a:prstGeom prst="rect">
            <a:avLst/>
          </a:prstGeom>
          <a:solidFill>
            <a:srgbClr val="FFE5E5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79" y="48463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8.2% of correct hypotheses
are eliminated before the final 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Our Experiments Already Show  (Exp1 – 3b, 200 MMLU-Pro Questions)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78892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869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54679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Δ Acc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868680"/>
            <a:ext cx="105156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886968"/>
            <a:ext cx="960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868680"/>
            <a:ext cx="132588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88696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Consensus
Reliability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39903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Baseline (Exp1)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7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371600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8.20%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371600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1399032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38528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Loser Resist.–Support (2a)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79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55.5%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51959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+1.0 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1938528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19659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</a:rPr>
              <a:t>9.02%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938528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96596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56.3%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505456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53288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Loser Resist.–Metric (2b)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54679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51959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+3.5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2505456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49240" y="253288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7.81%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505456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253288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072384"/>
            <a:ext cx="27889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3099815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Static Protection (3a)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0896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154679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51959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+3.0 pp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072384"/>
            <a:ext cx="10515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49240" y="3099815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6.20%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072384"/>
            <a:ext cx="13258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46520" y="3099815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58.1%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639312"/>
            <a:ext cx="278892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0040" y="366674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Diag. Protection (3b) 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0896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54679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60.0%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51959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+5.5 pp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0" y="3639312"/>
            <a:ext cx="105156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49240" y="3666744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3.17%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639312"/>
            <a:ext cx="1325880" cy="530352"/>
          </a:xfrm>
          <a:prstGeom prst="rect">
            <a:avLst/>
          </a:prstGeom>
          <a:solidFill>
            <a:srgbClr val="E8FFEE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6520" y="3666744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60.6%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E8FFE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Exp3b: diagnostic-triggered minority protection is best so far
+5.5 pp accuracy  |  −61% PER  |  +3.5 pp consensus reliability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5120640"/>
            <a:ext cx="8595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0000"/>
                </a:solidFill>
              </a:rPr>
              <a:t>Key gap: Exp3b uses FIXED thresholds — not responsive to reasoning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New Baseline Design: Multi-Seed, Multi-Dataset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2B4A"/>
                </a:solidFill>
              </a:rPr>
              <a:t>Why </a:t>
            </a:r>
            <a:r>
              <a:rPr lang="en-US" sz="1600" b="1" i="0" dirty="0">
                <a:solidFill>
                  <a:srgbClr val="1A2B4A"/>
                </a:solidFill>
              </a:rPr>
              <a:t>I</a:t>
            </a:r>
            <a:r>
              <a:rPr sz="1600" b="1" i="0" dirty="0">
                <a:solidFill>
                  <a:srgbClr val="1A2B4A"/>
                </a:solidFill>
              </a:rPr>
              <a:t> need a new baseline: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Current baseline: 200 questions × 1 seed = only 88 minority situations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Only 24 correct minorities, only 3 that disappeared next round</a:t>
            </a:r>
          </a:p>
          <a:p>
            <a:pPr>
              <a:spcBef>
                <a:spcPts val="400"/>
              </a:spcBef>
            </a:pPr>
            <a:r>
              <a:rPr sz="1400" dirty="0">
                <a:solidFill>
                  <a:srgbClr val="444444"/>
                </a:solidFill>
              </a:rPr>
              <a:t>→  Too few examples to train a reliable learned predictor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New design: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6FC1"/>
                </a:solidFill>
              </a:rPr>
              <a:t>MMLU-Pro
200q × 3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444444"/>
                </a:solidFill>
              </a:rPr>
              <a:t>Breadth
Knowledge + reasoning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008B8B"/>
                </a:solidFill>
              </a:rPr>
              <a:t>GPQA
100q × 3 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20440"/>
            <a:ext cx="25603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0" i="0" dirty="0">
                <a:solidFill>
                  <a:srgbClr val="444444"/>
                </a:solidFill>
              </a:rPr>
              <a:t>More difficult </a:t>
            </a:r>
            <a:r>
              <a:rPr lang="en-US" sz="1300" dirty="0">
                <a:solidFill>
                  <a:srgbClr val="444444"/>
                </a:solidFill>
              </a:rPr>
              <a:t>questions; </a:t>
            </a:r>
            <a:r>
              <a:rPr sz="1300" b="0" i="0" dirty="0">
                <a:solidFill>
                  <a:srgbClr val="444444"/>
                </a:solidFill>
              </a:rPr>
              <a:t>Depth
Grad-level science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788920"/>
            <a:ext cx="2743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</a:rPr>
              <a:t>~455
minority 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5× more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434840"/>
            <a:ext cx="8412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1A2B4A"/>
                </a:solidFill>
              </a:rPr>
              <a:t>Key addition: Round</a:t>
            </a:r>
            <a:r>
              <a:rPr lang="en-US" sz="1500" b="1" i="0" dirty="0">
                <a:solidFill>
                  <a:srgbClr val="1A2B4A"/>
                </a:solidFill>
              </a:rPr>
              <a:t> </a:t>
            </a:r>
            <a:r>
              <a:rPr sz="1500" b="1" i="0" dirty="0">
                <a:solidFill>
                  <a:srgbClr val="1A2B4A"/>
                </a:solidFill>
              </a:rPr>
              <a:t>State </a:t>
            </a:r>
            <a:r>
              <a:rPr lang="en-US" sz="1500" b="1" i="0" dirty="0">
                <a:solidFill>
                  <a:srgbClr val="1A2B4A"/>
                </a:solidFill>
              </a:rPr>
              <a:t>saved in DETAIL </a:t>
            </a:r>
            <a:r>
              <a:rPr sz="1500" b="1" i="0" dirty="0">
                <a:solidFill>
                  <a:srgbClr val="1A2B4A"/>
                </a:solidFill>
              </a:rPr>
              <a:t>— per-round, per-agent diagnostics saved during debate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892040"/>
            <a:ext cx="2651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dirty="0">
                <a:solidFill>
                  <a:srgbClr val="1F6FC1"/>
                </a:solidFill>
              </a:rPr>
              <a:t>Process diagnostics</a:t>
            </a:r>
            <a:r>
              <a:rPr lang="en-US" sz="1200" b="1" dirty="0">
                <a:solidFill>
                  <a:srgbClr val="1F6FC1"/>
                </a:solidFill>
              </a:rPr>
              <a:t>: "Prefix" = Only the Rounds You've Seen So Far</a:t>
            </a:r>
            <a:endParaRPr sz="1200" b="1" i="0" dirty="0">
              <a:solidFill>
                <a:srgbClr val="1F6FC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79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444444"/>
                </a:solidFill>
              </a:rPr>
              <a:t>• </a:t>
            </a:r>
            <a:r>
              <a:rPr sz="1000" b="0" i="0" dirty="0" err="1">
                <a:solidFill>
                  <a:srgbClr val="444444"/>
                </a:solidFill>
              </a:rPr>
              <a:t>prefix_influence_asymmetry</a:t>
            </a:r>
            <a:endParaRPr sz="1000" b="0" i="0" dirty="0">
              <a:solidFill>
                <a:srgbClr val="44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79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prefix_responsiveness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prefix_dispersion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4956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B8B"/>
                </a:solidFill>
              </a:rPr>
              <a:t>Minority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support_share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support_delta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minority_quality_mean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minority_conf_mean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was_majority_before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892040"/>
            <a:ext cx="28346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4956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C"/>
                </a:solidFill>
              </a:rPr>
              <a:t>Labels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2852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is_correct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5321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is_correct_minority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779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drops_next_round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602589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correct_drops_next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627278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• answer_survives_to_final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Adaptive Controller: Closing the Observe → Control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2651760" cy="2011680"/>
          </a:xfrm>
          <a:prstGeom prst="rect">
            <a:avLst/>
          </a:prstGeom>
          <a:solidFill>
            <a:srgbClr val="1F6FC1"/>
          </a:solidFill>
          <a:ln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  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Compute prefix-safe
process diagnostics
after each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691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14400"/>
            <a:ext cx="2651760" cy="2011680"/>
          </a:xfrm>
          <a:prstGeom prst="rect">
            <a:avLst/>
          </a:prstGeom>
          <a:solidFill>
            <a:srgbClr val="008B8B"/>
          </a:solidFill>
          <a:ln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005840"/>
            <a:ext cx="24688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</a:rPr>
              <a:t>2  PREDICT</a:t>
            </a:r>
            <a:r>
              <a:rPr lang="en-US" sz="1700" b="1" i="0" dirty="0">
                <a:solidFill>
                  <a:srgbClr val="FFFFFF"/>
                </a:solidFill>
              </a:rPr>
              <a:t> RISK </a:t>
            </a:r>
            <a:endParaRPr sz="1700" b="1" i="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37560" y="1333645"/>
            <a:ext cx="246888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Estimate </a:t>
            </a:r>
            <a:r>
              <a:rPr sz="1300" b="0" i="0" dirty="0" err="1">
                <a:solidFill>
                  <a:srgbClr val="FFFFFF"/>
                </a:solidFill>
              </a:rPr>
              <a:t>p_truth</a:t>
            </a:r>
            <a:r>
              <a:rPr sz="1300" b="0" i="0" dirty="0">
                <a:solidFill>
                  <a:srgbClr val="FFFFFF"/>
                </a:solidFill>
              </a:rPr>
              <a:t> × </a:t>
            </a:r>
            <a:r>
              <a:rPr sz="1300" b="0" i="0" dirty="0" err="1">
                <a:solidFill>
                  <a:srgbClr val="FFFFFF"/>
                </a:solidFill>
              </a:rPr>
              <a:t>p_drop</a:t>
            </a:r>
            <a:r>
              <a:rPr sz="1300" b="0" i="0" dirty="0">
                <a:solidFill>
                  <a:srgbClr val="FFFFFF"/>
                </a:solidFill>
              </a:rPr>
              <a:t>
(Is h correct?
Will h disappear?)</a:t>
            </a:r>
            <a:endParaRPr lang="en-US" sz="1300" dirty="0">
              <a:solidFill>
                <a:srgbClr val="FFFFFF"/>
              </a:solidFill>
            </a:endParaRPr>
          </a:p>
          <a:p>
            <a:pPr algn="ctr"/>
            <a:r>
              <a:rPr lang="en-US" sz="1400" dirty="0"/>
              <a:t>Protect potentially correct hypotheses that might otherwise be eliminated in the next round.</a:t>
            </a:r>
            <a:endParaRPr sz="1300" b="0" i="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0" y="16916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14400"/>
            <a:ext cx="2651760" cy="2011680"/>
          </a:xfrm>
          <a:prstGeom prst="rect">
            <a:avLst/>
          </a:prstGeom>
          <a:solidFill>
            <a:srgbClr val="1A7A3C"/>
          </a:solidFill>
          <a:ln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0058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 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FFFFFF"/>
                </a:solidFill>
              </a:rPr>
              <a:t>Allocate protection
tokens proportional
to risk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08960"/>
            <a:ext cx="8412480" cy="731520"/>
          </a:xfrm>
          <a:prstGeom prst="rect">
            <a:avLst/>
          </a:prstGeom>
          <a:solidFill>
            <a:srgbClr val="E8F4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15467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2B4A"/>
                </a:solidFill>
              </a:rPr>
              <a:t>Risk(h, t)  =  p_truth(h, t)  ×  p_drop(h, 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4069080" cy="1800711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114800"/>
            <a:ext cx="3794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Quality Gate  (prevents protecting noise)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374903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</a:t>
            </a:r>
            <a:r>
              <a:rPr sz="1300" dirty="0" err="1">
                <a:solidFill>
                  <a:srgbClr val="444444"/>
                </a:solidFill>
              </a:rPr>
              <a:t>minority_quality_mean</a:t>
            </a:r>
            <a:r>
              <a:rPr sz="1300" dirty="0">
                <a:solidFill>
                  <a:srgbClr val="444444"/>
                </a:solidFill>
              </a:rPr>
              <a:t> ≥ 0.30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Risk(h, t) ≥ threshold τ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• Both required to trigger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→ </a:t>
            </a:r>
            <a:r>
              <a:rPr sz="1300" b="1" dirty="0">
                <a:solidFill>
                  <a:srgbClr val="FF0000"/>
                </a:solidFill>
              </a:rPr>
              <a:t>Incorrect minorities </a:t>
            </a:r>
            <a:r>
              <a:rPr lang="en-US" sz="1300" b="1" dirty="0">
                <a:solidFill>
                  <a:srgbClr val="FF0000"/>
                </a:solidFill>
              </a:rPr>
              <a:t>not </a:t>
            </a:r>
            <a:r>
              <a:rPr sz="1300" b="1" dirty="0">
                <a:solidFill>
                  <a:srgbClr val="FF0000"/>
                </a:solidFill>
              </a:rPr>
              <a:t>protected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023360"/>
            <a:ext cx="402336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Adaptive Token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526280"/>
            <a:ext cx="384048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dirty="0" err="1">
                <a:solidFill>
                  <a:srgbClr val="444444"/>
                </a:solidFill>
              </a:rPr>
              <a:t>extra_tokens</a:t>
            </a:r>
            <a:r>
              <a:rPr sz="1300" dirty="0">
                <a:solidFill>
                  <a:srgbClr val="444444"/>
                </a:solidFill>
              </a:rPr>
              <a:t> = 150 × min(Risk, 0.9)</a:t>
            </a:r>
          </a:p>
          <a:p>
            <a:pPr>
              <a:spcBef>
                <a:spcPts val="400"/>
              </a:spcBef>
            </a:pPr>
            <a:endParaRPr sz="1300" dirty="0">
              <a:solidFill>
                <a:srgbClr val="444444"/>
              </a:solidFill>
            </a:endParaRP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0.40  →  +60 tokens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0.70  →  +105 tokens</a:t>
            </a:r>
          </a:p>
          <a:p>
            <a:pPr>
              <a:spcBef>
                <a:spcPts val="400"/>
              </a:spcBef>
            </a:pPr>
            <a:r>
              <a:rPr sz="1300" dirty="0">
                <a:solidFill>
                  <a:srgbClr val="444444"/>
                </a:solidFill>
              </a:rPr>
              <a:t>  Risk = 0.90  →  +135 tokens</a:t>
            </a:r>
            <a:endParaRPr lang="en-US" sz="1300" dirty="0">
              <a:solidFill>
                <a:srgbClr val="44444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3DE88-B4A0-7D62-3DC4-DC84EF1113C8}"/>
              </a:ext>
            </a:extLst>
          </p:cNvPr>
          <p:cNvSpPr txBox="1"/>
          <p:nvPr/>
        </p:nvSpPr>
        <p:spPr>
          <a:xfrm>
            <a:off x="502919" y="6006951"/>
            <a:ext cx="8103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research question:  "Can learned process diagnostics guide within-trajectory minority protection?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Two-Head Predictor: p_truth and p_drop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41148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6FC1"/>
                </a:solidFill>
              </a:rPr>
              <a:t>Head 1:  p_truth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P(minority is correct | features at round 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A2B4A"/>
                </a:solidFill>
              </a:rPr>
              <a:t>Top features</a:t>
            </a:r>
            <a:r>
              <a:rPr lang="en-US" sz="1300" b="1" i="0" dirty="0">
                <a:solidFill>
                  <a:srgbClr val="1A2B4A"/>
                </a:solidFill>
              </a:rPr>
              <a:t> (need re-evaluate</a:t>
            </a:r>
            <a:r>
              <a:rPr sz="1300" b="1" i="0" dirty="0">
                <a:solidFill>
                  <a:srgbClr val="1A2B4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minority_quality_mean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+0.245  ← #1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support_delta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96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+0.179  ← losing support?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3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num_defectors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8950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−0.121  ← being abandoned?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8269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was_majority_before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826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−0.107  ← social pressure?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B4A"/>
                </a:solidFill>
              </a:rPr>
              <a:t>• </a:t>
            </a:r>
            <a:r>
              <a:rPr sz="1200" b="0" i="0" dirty="0" err="1">
                <a:solidFill>
                  <a:srgbClr val="1A2B4A"/>
                </a:solidFill>
              </a:rPr>
              <a:t>prefix_influence_asymmetry</a:t>
            </a:r>
            <a:endParaRPr sz="1200" b="0" i="0" dirty="0">
              <a:solidFill>
                <a:srgbClr val="1A2B4A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367588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+0.077  ← suppression?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0690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β = +0.091  ← convergence risk?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57200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08B8B"/>
                </a:solidFill>
              </a:rPr>
              <a:t>Model: Logistic Regression + Isotonic Calibration
Grouped CV by (dataset, </a:t>
            </a:r>
            <a:r>
              <a:rPr sz="1200" b="0" i="0" dirty="0" err="1">
                <a:solidFill>
                  <a:srgbClr val="008B8B"/>
                </a:solidFill>
              </a:rPr>
              <a:t>question_no</a:t>
            </a:r>
            <a:r>
              <a:rPr sz="1200" b="0" i="0" dirty="0">
                <a:solidFill>
                  <a:srgbClr val="008B8B"/>
                </a:solidFill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868680"/>
            <a:ext cx="411480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</a:rPr>
              <a:t>Head 2:  p_drop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3258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44444"/>
                </a:solidFill>
              </a:rPr>
              <a:t>P(hypothesis disappears at t+1 | features at round 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73736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>
                <a:solidFill>
                  <a:srgbClr val="1A2B4A"/>
                </a:solidFill>
              </a:rPr>
              <a:t>Key features</a:t>
            </a:r>
            <a:r>
              <a:rPr lang="en-US" sz="1300" b="1" dirty="0">
                <a:solidFill>
                  <a:srgbClr val="1A2B4A"/>
                </a:solidFill>
              </a:rPr>
              <a:t> (need re-evaluate)</a:t>
            </a:r>
            <a:r>
              <a:rPr sz="1300" b="1" i="0" dirty="0">
                <a:solidFill>
                  <a:srgbClr val="1A2B4A"/>
                </a:solidFill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03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support_delta  (losing agents this round)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496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num_defectors  (agents already leaving)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88950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rounds_remaining  (urgency)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282696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prefix_balance  (rapid convergence?)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6758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minority_size  (1 agent vs 2 agents)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06907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• prefix_influence_asymmetry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434840"/>
            <a:ext cx="3840480" cy="914400"/>
          </a:xfrm>
          <a:prstGeom prst="rect">
            <a:avLst/>
          </a:prstGeom>
          <a:solidFill>
            <a:srgbClr val="FFF5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4480559"/>
            <a:ext cx="365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E67E22"/>
                </a:solidFill>
              </a:rPr>
              <a:t>Status: 25–30 positive events expected from new baseline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Pipeline: From Round_State to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6FC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6FC1"/>
                </a:solidFill>
              </a:rPr>
              <a:t>New Baseline
(generate_baseline_v2.py)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200 MMLU-Pro × 3 seeds
100 GPQA × 3 seeds
Round_State: ~13,500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B8B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B8B"/>
                </a:solidFill>
              </a:rPr>
              <a:t>Feature Extraction
(extract_features_prefix.py)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~455 minority situations
Prefix-safe features only
No future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3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Train Two-Head Predictor
(train_two_head_predictor.py)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Logistic regression
Grouped CV by question_no
Calibrated probabilities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830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2B4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960120"/>
            <a:ext cx="201168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10241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19" y="1417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</a:rPr>
              <a:t>Deploy: Exp5
(generate_exp5_controller.py)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19" y="2057400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Same 200 MMLU-Pro questions
Compare vs Exp1 &amp; Exp3b
Measure: Acc, PER,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3375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Critical design choices: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490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Train on baseline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No data from intervention experiments → no circular 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7490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Prefix-safe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Only rounds 1..t used → valid for real-time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Grouped CV by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34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All seeds of same question in same fold → no question 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3C"/>
                </a:solidFill>
              </a:rPr>
              <a:t>✓ Constrained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4348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Maximize minority recovery s.t. majority corruption ≤ 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Expected Results:  Adaptive Controller vs Prior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25146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932688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39" y="914400"/>
            <a:ext cx="105156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80359" y="932688"/>
            <a:ext cx="960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914400"/>
            <a:ext cx="86868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77639" y="932688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914400"/>
            <a:ext cx="16002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932688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Cons. Reliability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914400"/>
            <a:ext cx="224028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93268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Key Advantage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25146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139903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Baseline (Exp1)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39" y="1371600"/>
            <a:ext cx="1051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59" y="13990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54.5%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371600"/>
            <a:ext cx="868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13990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8.2%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371600"/>
            <a:ext cx="16002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39903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57.1%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371600"/>
            <a:ext cx="2240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59" y="139903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Reference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20240"/>
            <a:ext cx="251460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194767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Diag. Protection (3b)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39" y="1920240"/>
            <a:ext cx="105156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80359" y="194767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60.0%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1920240"/>
            <a:ext cx="86868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77639" y="19476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3.2%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1920240"/>
            <a:ext cx="160020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194767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60.6%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1920240"/>
            <a:ext cx="2240280" cy="502920"/>
          </a:xfrm>
          <a:prstGeom prst="rect">
            <a:avLst/>
          </a:prstGeom>
          <a:solidFill>
            <a:srgbClr val="F0FFF4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59" y="19476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Best hard-threshold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468880"/>
            <a:ext cx="251460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249631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Adaptive Controller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39" y="2468880"/>
            <a:ext cx="105156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80359" y="249631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61–63%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2468880"/>
            <a:ext cx="86868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77639" y="249631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2–3%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468880"/>
            <a:ext cx="160020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92040" y="2496312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7A3C"/>
                </a:solidFill>
              </a:rPr>
              <a:t>61–63%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468880"/>
            <a:ext cx="2240280" cy="502920"/>
          </a:xfrm>
          <a:prstGeom prst="rect">
            <a:avLst/>
          </a:prstGeom>
          <a:solidFill>
            <a:srgbClr val="E0FFEC"/>
          </a:solidFill>
          <a:ln w="9525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59" y="249631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</a:rPr>
              <a:t>Quality-aware + calibrated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31089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B4A"/>
                </a:solidFill>
              </a:rPr>
              <a:t>Why the adaptive controller should outperform Exp3b: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Reasoning quality gated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 protects ALL minorities under high asymmetry
→ some of those are wrong
New controller: only protects high-quality reasoning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8328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Risk-scaled tokens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Exp3b: fixed +110 tokens always
New: +60 to +135 scaled by p_truth × p_drop
→ more budget to highest-risk situations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520440"/>
            <a:ext cx="283464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6FC1"/>
                </a:solidFill>
              </a:rPr>
              <a:t>p_drop signal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005072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</a:rPr>
              <a:t>Exp3b doesn't know if elimination is imminent
New: directly predicts whether hypothesis will
disappear next round → timely intervention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78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Summary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89781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Three things no prior work has combined: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F6F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6FC1"/>
                </a:solidFill>
              </a:rPr>
              <a:t>Process diagnostics
as control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Prior work measures engagement, asymmetry, balance
We use them to DECIDE when to intervene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8B8B"/>
                </a:solidFill>
              </a:rPr>
              <a:t>Reasoning quality
in the trigger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Exp3b triggers on dynamics alone
We add LLM quality score to gate out bad minorities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309290"/>
            <a:ext cx="27889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140073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7A3C"/>
                </a:solidFill>
              </a:rPr>
              <a:t>Calibrated risk
= p_truth × p_drop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94937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Novel formulation: protect only when
both correct AND at imminent risk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189650"/>
            <a:ext cx="8412480" cy="822960"/>
          </a:xfrm>
          <a:prstGeom prst="rect">
            <a:avLst/>
          </a:prstGeom>
          <a:solidFill>
            <a:srgbClr val="E8F4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23537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A2B4A"/>
                </a:solidFill>
              </a:rPr>
              <a:t>"First work to use calibrated process diagnostics for within-trajectory
minority protection in multi-agent LLM debates"</a:t>
            </a:r>
            <a:r>
              <a:rPr lang="en-US" sz="1400" b="1" i="0" dirty="0">
                <a:solidFill>
                  <a:srgbClr val="1A2B4A"/>
                </a:solidFill>
              </a:rPr>
              <a:t> per Codex</a:t>
            </a:r>
            <a:endParaRPr sz="1400" b="1" i="0" dirty="0">
              <a:solidFill>
                <a:srgbClr val="1A2B4A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C47F91-78C5-E515-6FFE-A9AB94F9EEB2}"/>
              </a:ext>
            </a:extLst>
          </p:cNvPr>
          <p:cNvSpPr txBox="1"/>
          <p:nvPr/>
        </p:nvSpPr>
        <p:spPr>
          <a:xfrm>
            <a:off x="598665" y="5145670"/>
            <a:ext cx="7823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Due to compute constraints, experiments use Qwen2.5-14B. Model generalization is left for future work, as our intervention mechanism operates on behavioral patterns (answer changes, support dynamics) rather than model-specific features.</a:t>
            </a:r>
          </a:p>
          <a:p>
            <a:endParaRPr lang="en-US" dirty="0"/>
          </a:p>
          <a:p>
            <a:r>
              <a:rPr lang="en-US" dirty="0"/>
              <a:t>Future work: Run same experiments using GPT-4, Llama, Gemini etc.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1381</Words>
  <Application>Microsoft Office PowerPoint</Application>
  <PresentationFormat>On-screen Show (4:3)</PresentationFormat>
  <Paragraphs>215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Zeng, Angie</cp:lastModifiedBy>
  <cp:revision>10</cp:revision>
  <dcterms:created xsi:type="dcterms:W3CDTF">2013-01-27T09:14:16Z</dcterms:created>
  <dcterms:modified xsi:type="dcterms:W3CDTF">2026-07-14T21:33:46Z</dcterms:modified>
  <cp:category/>
</cp:coreProperties>
</file>