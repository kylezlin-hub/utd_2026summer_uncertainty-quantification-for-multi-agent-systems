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70" r:id="rId6"/>
    <p:sldId id="268" r:id="rId7"/>
    <p:sldId id="267" r:id="rId8"/>
    <p:sldId id="269" r:id="rId9"/>
    <p:sldId id="261" r:id="rId10"/>
    <p:sldId id="262" r:id="rId11"/>
    <p:sldId id="266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4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00DBC-771E-4BD1-8CB8-DFB7541DE31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548C-795C-4E8B-AB57-B7C8E8D50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9548C-795C-4E8B-AB57-B7C8E8D50F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9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Adaptive Influence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AACCFF"/>
                </a:solidFill>
              </a:rPr>
              <a:t>Preserving Correct Minority Hypotheses
in Multi-Agent LLM Debates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154680"/>
            <a:ext cx="5486400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99BBEE"/>
                </a:solidFill>
              </a:rPr>
              <a:t>Building on: A Diagnostic Study of Multi-Agent LLMs (ICML 2026)</a:t>
            </a:r>
            <a:endParaRPr lang="en-US" sz="1300" b="0" i="1" dirty="0">
              <a:solidFill>
                <a:srgbClr val="99BBE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0A4BF-CF00-467D-5A4E-91E42AD4498D}"/>
              </a:ext>
            </a:extLst>
          </p:cNvPr>
          <p:cNvSpPr txBox="1"/>
          <p:nvPr/>
        </p:nvSpPr>
        <p:spPr>
          <a:xfrm>
            <a:off x="2286000" y="328383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chemeClr val="bg1"/>
                </a:solidFill>
              </a:rPr>
              <a:t>Advisor: Dr. Feng Chen</a:t>
            </a:r>
          </a:p>
          <a:p>
            <a:pPr algn="ctr"/>
            <a:r>
              <a:rPr lang="en-US" sz="1600" i="1" dirty="0">
                <a:solidFill>
                  <a:schemeClr val="bg1"/>
                </a:solidFill>
              </a:rPr>
              <a:t>Weekly Update 07/23/2026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Multi-Agent Debates Can Fail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023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What We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✓  Agents debate, challenge each other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✓  Best argument wins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✓  Consensus = correct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What Actually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Majority pressure silences minority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Correct hypothesis eliminated early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Agents converge on wrong answer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Consensus looks confident but is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822960"/>
            <a:ext cx="429768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Real Example  (MMLU-Pro Q42, Correct =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Agent1: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Agent2: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Agent3: A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Agent1: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Agent2: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Agent3: A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Agent1: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Agent2: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Agent3: B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Agent1: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Agent2: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429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Agent3: B 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→ Consensus: B  ✗ 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4800600"/>
            <a:ext cx="4114800" cy="914400"/>
          </a:xfrm>
          <a:prstGeom prst="rect">
            <a:avLst/>
          </a:prstGeom>
          <a:solidFill>
            <a:srgbClr val="FFE5E5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79" y="48463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8.2% of correct hypotheses
are eliminated before the final 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Our Experiments Already Show  (Exp1 – 3b, 200 MMLU-Pro Questions)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278892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869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868680"/>
            <a:ext cx="10515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79" y="886968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868680"/>
            <a:ext cx="10515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886968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Δ Acc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868680"/>
            <a:ext cx="10515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886968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868680"/>
            <a:ext cx="132588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88696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Consensus
Reliability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3990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Baseline (Exp1)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371600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79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371600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59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371600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8.20%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39903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57.1%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38528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1965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Loser Resist.–Support (2a)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1938528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79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55.5%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938528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59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+1.0 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1938528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9240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</a:rPr>
              <a:t>9.02%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938528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19659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56.3%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505456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5328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Loser Resist.–Metric (2b)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2505456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79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58.0%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2505456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51959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+3.5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505456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49240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7.81%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505456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253288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58.3%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072384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3099815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Static Protection (3a)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3072384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154679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57.5%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072384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59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+3.0 pp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072384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49240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6.20%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072384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3099815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58.1%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639312"/>
            <a:ext cx="278892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366674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Diag. Protection (3b) 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3639312"/>
            <a:ext cx="105156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54679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60.0%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3639312"/>
            <a:ext cx="105156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51959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+5.5 pp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3639312"/>
            <a:ext cx="105156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49240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3.17%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639312"/>
            <a:ext cx="132588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46520" y="36667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60.6%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251960"/>
            <a:ext cx="8595360" cy="777240"/>
          </a:xfrm>
          <a:prstGeom prst="rect">
            <a:avLst/>
          </a:prstGeom>
          <a:solidFill>
            <a:srgbClr val="E8FFE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</a:rPr>
              <a:t>Exp3b: diagnostic-triggered minority protection is best so far
+5.5 pp accuracy  |  −61% PER  |  +3.5 pp consensus reliability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5120640"/>
            <a:ext cx="8595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0000"/>
                </a:solidFill>
              </a:rPr>
              <a:t>Key gap: Exp3b uses FIXED thresholds — not responsive to reasoning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New Baseline Design: Multi-Seed, Multi-Dataset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4A"/>
                </a:solidFill>
              </a:rPr>
              <a:t>Why </a:t>
            </a:r>
            <a:r>
              <a:rPr lang="en-US" sz="1600" b="1" i="0" dirty="0">
                <a:solidFill>
                  <a:srgbClr val="1A2B4A"/>
                </a:solidFill>
              </a:rPr>
              <a:t>I</a:t>
            </a:r>
            <a:r>
              <a:rPr sz="1600" b="1" i="0" dirty="0">
                <a:solidFill>
                  <a:srgbClr val="1A2B4A"/>
                </a:solidFill>
              </a:rPr>
              <a:t> need a new baseline: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444444"/>
                </a:solidFill>
              </a:rPr>
              <a:t>→  Current baseline: 200 questions × 1 seed = only 88 minority situations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444444"/>
                </a:solidFill>
              </a:rPr>
              <a:t>→  Only 24 correct minorities, only 3 that disappeared next round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444444"/>
                </a:solidFill>
              </a:rPr>
              <a:t>→  Too few examples to train a reliable learned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New design: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6FC1"/>
                </a:solidFill>
              </a:rPr>
              <a:t>MMLU-Pro
200q × 3 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444444"/>
                </a:solidFill>
              </a:rPr>
              <a:t>Breadth
Knowledge +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8B8B"/>
                </a:solidFill>
              </a:rPr>
              <a:t>GPQA
100q × 3 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520440"/>
            <a:ext cx="2560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444444"/>
                </a:solidFill>
              </a:rPr>
              <a:t>More difficult </a:t>
            </a:r>
            <a:r>
              <a:rPr lang="en-US" sz="1300" dirty="0">
                <a:solidFill>
                  <a:srgbClr val="444444"/>
                </a:solidFill>
              </a:rPr>
              <a:t>questions; </a:t>
            </a:r>
            <a:r>
              <a:rPr sz="1300" b="0" i="0" dirty="0">
                <a:solidFill>
                  <a:srgbClr val="444444"/>
                </a:solidFill>
              </a:rPr>
              <a:t>Depth
Grad-level science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3C"/>
                </a:solidFill>
              </a:rPr>
              <a:t>~455
minority 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5× more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8412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1A2B4A"/>
                </a:solidFill>
              </a:rPr>
              <a:t>Key addition: Round</a:t>
            </a:r>
            <a:r>
              <a:rPr lang="en-US" sz="1500" b="1" i="0" dirty="0">
                <a:solidFill>
                  <a:srgbClr val="1A2B4A"/>
                </a:solidFill>
              </a:rPr>
              <a:t> </a:t>
            </a:r>
            <a:r>
              <a:rPr sz="1500" b="1" i="0" dirty="0">
                <a:solidFill>
                  <a:srgbClr val="1A2B4A"/>
                </a:solidFill>
              </a:rPr>
              <a:t>State </a:t>
            </a:r>
            <a:r>
              <a:rPr lang="en-US" sz="1500" b="1" i="0" dirty="0">
                <a:solidFill>
                  <a:srgbClr val="1A2B4A"/>
                </a:solidFill>
              </a:rPr>
              <a:t>saved in DETAIL </a:t>
            </a:r>
            <a:r>
              <a:rPr sz="1500" b="1" i="0" dirty="0">
                <a:solidFill>
                  <a:srgbClr val="1A2B4A"/>
                </a:solidFill>
              </a:rPr>
              <a:t>— per-round, per-agent diagnostics saved during debate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92040"/>
            <a:ext cx="28346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9204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1F6FC1"/>
                </a:solidFill>
              </a:rPr>
              <a:t>Process diagnostics</a:t>
            </a:r>
            <a:r>
              <a:rPr lang="en-US" sz="1200" b="1" dirty="0">
                <a:solidFill>
                  <a:srgbClr val="1F6FC1"/>
                </a:solidFill>
              </a:rPr>
              <a:t>: "Prefix" = Only the Rounds You've Seen So Far</a:t>
            </a:r>
            <a:endParaRPr sz="1200" b="1" i="0" dirty="0">
              <a:solidFill>
                <a:srgbClr val="1F6FC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52852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44444"/>
                </a:solidFill>
              </a:rPr>
              <a:t>• </a:t>
            </a:r>
            <a:r>
              <a:rPr sz="1000" b="0" i="0" dirty="0" err="1">
                <a:solidFill>
                  <a:srgbClr val="444444"/>
                </a:solidFill>
              </a:rPr>
              <a:t>prefix_influence_asymmetry</a:t>
            </a:r>
            <a:endParaRPr sz="1000" b="0" i="0" dirty="0">
              <a:solidFill>
                <a:srgbClr val="44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79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6025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prefix_responsiveness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6272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prefix_dispersion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892040"/>
            <a:ext cx="28346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4956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Minority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2852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support_share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support_delta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minority_quality_mean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6025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minority_conf_mean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6272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was_majority_before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892040"/>
            <a:ext cx="28346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956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</a:rPr>
              <a:t>Labels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852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is_correct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is_correct_minority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drops_next_round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6025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correct_drops_next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6272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answer_survives_to_final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EAF76-4A15-4050-AEA9-D8758B21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C6027A-4B17-F25C-A430-50BF7E8592C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27EDA-A33D-2538-9EAA-57496A313A35}"/>
              </a:ext>
            </a:extLst>
          </p:cNvPr>
          <p:cNvSpPr txBox="1"/>
          <p:nvPr/>
        </p:nvSpPr>
        <p:spPr>
          <a:xfrm>
            <a:off x="182880" y="73152"/>
            <a:ext cx="877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Process Metrics Distribution by Datasets (Diff Difficulty</a:t>
            </a:r>
            <a:r>
              <a:rPr lang="en-US" sz="2800" b="1" dirty="0">
                <a:solidFill>
                  <a:srgbClr val="FFFFFF"/>
                </a:solidFill>
              </a:rPr>
              <a:t>)</a:t>
            </a:r>
            <a:endParaRPr sz="2800" b="1" i="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E5769-CD38-8F17-D96A-4DEC392E3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34" y="1055788"/>
            <a:ext cx="8590440" cy="4746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C60297-48D0-8E1E-1218-81826F3D4409}"/>
              </a:ext>
            </a:extLst>
          </p:cNvPr>
          <p:cNvSpPr txBox="1"/>
          <p:nvPr/>
        </p:nvSpPr>
        <p:spPr>
          <a:xfrm>
            <a:off x="225525" y="5891591"/>
            <a:ext cx="88323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Difficulty:  MMLU &lt; MMLU-PRO &lt; GPQA</a:t>
            </a:r>
          </a:p>
          <a:p>
            <a:r>
              <a:rPr lang="en-US" sz="1400" dirty="0"/>
              <a:t>2. Although the first-round consensus rates are similar, the first-round consensus accuracy differs significantly. </a:t>
            </a:r>
            <a:r>
              <a:rPr lang="en-US" sz="1400" dirty="0" err="1"/>
              <a:t>i.e</a:t>
            </a:r>
            <a:r>
              <a:rPr lang="en-US" sz="1400" dirty="0"/>
              <a:t> GPQA consensus formed without sufficient correct knowledge</a:t>
            </a:r>
          </a:p>
          <a:p>
            <a:r>
              <a:rPr lang="en-US" sz="1400" dirty="0"/>
              <a:t>3. Engagement mean, influence asymmetry mean and balance mean show correlation with difficulty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276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C6A2-E336-376D-1253-C85B9BFF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6EA5F-F77A-720E-B035-4AC19AB51BD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0A057-28F9-88A9-415E-6E5706CCC3E9}"/>
              </a:ext>
            </a:extLst>
          </p:cNvPr>
          <p:cNvSpPr txBox="1"/>
          <p:nvPr/>
        </p:nvSpPr>
        <p:spPr>
          <a:xfrm>
            <a:off x="182880" y="73152"/>
            <a:ext cx="877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</a:rPr>
              <a:t>Process Metrics Distribution by Correctness by Question Difficulty</a:t>
            </a:r>
            <a:endParaRPr sz="2400" b="1" i="0"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176F7-6261-61C5-8E6C-6578387E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89" y="787655"/>
            <a:ext cx="7134781" cy="5011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B48C6F-827F-5F1C-158C-BBB0C2533869}"/>
              </a:ext>
            </a:extLst>
          </p:cNvPr>
          <p:cNvSpPr txBox="1"/>
          <p:nvPr/>
        </p:nvSpPr>
        <p:spPr>
          <a:xfrm>
            <a:off x="705276" y="5865618"/>
            <a:ext cx="7245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metrics and accuracy are effectively decoupled - No significant separation between correct and incorrect debates, for MMLU-PRO and GPQA debates</a:t>
            </a:r>
          </a:p>
        </p:txBody>
      </p:sp>
    </p:spTree>
    <p:extLst>
      <p:ext uri="{BB962C8B-B14F-4D97-AF65-F5344CB8AC3E}">
        <p14:creationId xmlns:p14="http://schemas.microsoft.com/office/powerpoint/2010/main" val="3214673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5191-31B3-174A-B501-3FB8D66F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F93C34-E831-53E2-60EC-A0BE95ADA7C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A0994-B1E3-B14E-B219-64841A32F080}"/>
              </a:ext>
            </a:extLst>
          </p:cNvPr>
          <p:cNvSpPr txBox="1"/>
          <p:nvPr/>
        </p:nvSpPr>
        <p:spPr>
          <a:xfrm>
            <a:off x="182880" y="73152"/>
            <a:ext cx="877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Process Metrics Distribution by Question Difficulty</a:t>
            </a:r>
            <a:endParaRPr sz="2800" b="1" i="0" dirty="0">
              <a:solidFill>
                <a:srgbClr val="FFFFFF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86FBB6A-CEE9-ADF1-94DF-B1F3CE6F8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1" y="820090"/>
            <a:ext cx="8619143" cy="586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0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F6EC-7F48-11D5-05D5-DE145A909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75D206-9EC6-EF38-ABDA-17CF877D6A1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D697E-8359-6D0F-2DF4-E0B3376AD432}"/>
              </a:ext>
            </a:extLst>
          </p:cNvPr>
          <p:cNvSpPr txBox="1"/>
          <p:nvPr/>
        </p:nvSpPr>
        <p:spPr>
          <a:xfrm>
            <a:off x="182880" y="73152"/>
            <a:ext cx="877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</a:rPr>
              <a:t>Next Steps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43B75-ED83-3F27-D3EF-5452916EDE21}"/>
              </a:ext>
            </a:extLst>
          </p:cNvPr>
          <p:cNvSpPr txBox="1"/>
          <p:nvPr/>
        </p:nvSpPr>
        <p:spPr>
          <a:xfrm>
            <a:off x="656072" y="1466270"/>
            <a:ext cx="74177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Faithfully reproduce the baseline described in the paper.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Assign a different sampling temperature to each debate 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Assign a distinct persona to each debate 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 a question set with a difficulty level similar to that used in the paper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Redesign the debate inference balancing controller using debate diagnostics </a:t>
            </a:r>
          </a:p>
        </p:txBody>
      </p:sp>
    </p:spTree>
    <p:extLst>
      <p:ext uri="{BB962C8B-B14F-4D97-AF65-F5344CB8AC3E}">
        <p14:creationId xmlns:p14="http://schemas.microsoft.com/office/powerpoint/2010/main" val="1822326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Adaptive Controller: Closing the Observe → Control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651760" cy="2011680"/>
          </a:xfrm>
          <a:prstGeom prst="rect">
            <a:avLst/>
          </a:prstGeom>
          <a:solidFill>
            <a:srgbClr val="1F6FC1"/>
          </a:solidFill>
          <a:ln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  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Compute prefix-safe
process diagnostics
after each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91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914400"/>
            <a:ext cx="2651760" cy="201168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005840"/>
            <a:ext cx="24688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</a:rPr>
              <a:t>2  PREDICT</a:t>
            </a:r>
            <a:r>
              <a:rPr lang="en-US" sz="1700" b="1" i="0" dirty="0">
                <a:solidFill>
                  <a:srgbClr val="FFFFFF"/>
                </a:solidFill>
              </a:rPr>
              <a:t> RISK </a:t>
            </a:r>
            <a:endParaRPr sz="17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37560" y="1333645"/>
            <a:ext cx="246888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</a:rPr>
              <a:t>Estimate </a:t>
            </a:r>
            <a:r>
              <a:rPr sz="1300" b="0" i="0" dirty="0" err="1">
                <a:solidFill>
                  <a:srgbClr val="FFFFFF"/>
                </a:solidFill>
              </a:rPr>
              <a:t>p_truth</a:t>
            </a:r>
            <a:r>
              <a:rPr sz="1300" b="0" i="0" dirty="0">
                <a:solidFill>
                  <a:srgbClr val="FFFFFF"/>
                </a:solidFill>
              </a:rPr>
              <a:t> × </a:t>
            </a:r>
            <a:r>
              <a:rPr sz="1300" b="0" i="0" dirty="0" err="1">
                <a:solidFill>
                  <a:srgbClr val="FFFFFF"/>
                </a:solidFill>
              </a:rPr>
              <a:t>p_drop</a:t>
            </a:r>
            <a:r>
              <a:rPr sz="1300" b="0" i="0" dirty="0">
                <a:solidFill>
                  <a:srgbClr val="FFFFFF"/>
                </a:solidFill>
              </a:rPr>
              <a:t>
(Is h correct?
Will h disappear?)</a:t>
            </a:r>
            <a:endParaRPr lang="en-US" sz="1300" dirty="0">
              <a:solidFill>
                <a:srgbClr val="FFFFFF"/>
              </a:solidFill>
            </a:endParaRPr>
          </a:p>
          <a:p>
            <a:pPr algn="ctr"/>
            <a:r>
              <a:rPr lang="en-US" sz="1400" dirty="0"/>
              <a:t>Protect potentially correct hypotheses that might otherwise be eliminated in the next round.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1691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14400"/>
            <a:ext cx="2651760" cy="2011680"/>
          </a:xfrm>
          <a:prstGeom prst="rect">
            <a:avLst/>
          </a:prstGeom>
          <a:solidFill>
            <a:srgbClr val="1A7A3C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 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</a:rPr>
              <a:t>Allocate protection
tokens proportional
to risk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8412480" cy="731520"/>
          </a:xfrm>
          <a:prstGeom prst="rect">
            <a:avLst/>
          </a:prstGeom>
          <a:solidFill>
            <a:srgbClr val="E8F4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B4A"/>
                </a:solidFill>
              </a:rPr>
              <a:t>Risk(h, t)  =  p_truth(h, t)  ×  p_drop(h, 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4069080" cy="1800711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Quality Gate  (prevents protecting noise)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374903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• </a:t>
            </a:r>
            <a:r>
              <a:rPr sz="1300" dirty="0" err="1">
                <a:solidFill>
                  <a:srgbClr val="444444"/>
                </a:solidFill>
              </a:rPr>
              <a:t>minority_quality_mean</a:t>
            </a:r>
            <a:r>
              <a:rPr sz="1300" dirty="0">
                <a:solidFill>
                  <a:srgbClr val="444444"/>
                </a:solidFill>
              </a:rPr>
              <a:t> ≥ 0.30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• Risk(h, t) ≥ threshold τ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• Both required to trigger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→ </a:t>
            </a:r>
            <a:r>
              <a:rPr sz="1300" b="1" dirty="0">
                <a:solidFill>
                  <a:srgbClr val="FF0000"/>
                </a:solidFill>
              </a:rPr>
              <a:t>Incorrect minorities </a:t>
            </a:r>
            <a:r>
              <a:rPr lang="en-US" sz="1300" b="1" dirty="0">
                <a:solidFill>
                  <a:srgbClr val="FF0000"/>
                </a:solidFill>
              </a:rPr>
              <a:t>not </a:t>
            </a:r>
            <a:r>
              <a:rPr sz="1300" b="1" dirty="0">
                <a:solidFill>
                  <a:srgbClr val="FF0000"/>
                </a:solidFill>
              </a:rPr>
              <a:t>protected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023360"/>
            <a:ext cx="40233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Adaptive Token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526280"/>
            <a:ext cx="384048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44444"/>
                </a:solidFill>
              </a:rPr>
              <a:t>extra_tokens</a:t>
            </a:r>
            <a:r>
              <a:rPr sz="1300" dirty="0">
                <a:solidFill>
                  <a:srgbClr val="444444"/>
                </a:solidFill>
              </a:rPr>
              <a:t> = 150 × min(Risk, 0.9)</a:t>
            </a:r>
          </a:p>
          <a:p>
            <a:pPr>
              <a:spcBef>
                <a:spcPts val="400"/>
              </a:spcBef>
            </a:pPr>
            <a:endParaRPr sz="13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  Risk = 0.40  →  +60 tokens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  Risk = 0.70  →  +105 tokens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  Risk = 0.90  →  +135 tokens</a:t>
            </a:r>
            <a:endParaRPr lang="en-US" sz="1300" dirty="0">
              <a:solidFill>
                <a:srgbClr val="44444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3DE88-B4A0-7D62-3DC4-DC84EF1113C8}"/>
              </a:ext>
            </a:extLst>
          </p:cNvPr>
          <p:cNvSpPr txBox="1"/>
          <p:nvPr/>
        </p:nvSpPr>
        <p:spPr>
          <a:xfrm>
            <a:off x="502919" y="6006951"/>
            <a:ext cx="810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research question:  "Can learned process diagnostics guide within-trajectory minority protection?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Two-Head Predictor: p_truth and p_drop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41148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6FC1"/>
                </a:solidFill>
              </a:rPr>
              <a:t>Head 1:  p_truth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P(minority is correct | features at round 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2B4A"/>
                </a:solidFill>
              </a:rPr>
              <a:t>Top features</a:t>
            </a:r>
            <a:r>
              <a:rPr lang="en-US" sz="1300" b="1" i="0" dirty="0">
                <a:solidFill>
                  <a:srgbClr val="1A2B4A"/>
                </a:solidFill>
              </a:rPr>
              <a:t> (need re-evaluate</a:t>
            </a:r>
            <a:r>
              <a:rPr sz="1300" b="1" i="0" dirty="0">
                <a:solidFill>
                  <a:srgbClr val="1A2B4A"/>
                </a:solidFill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minority_quality_mean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+0.245  ← #1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support_delta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96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+0.179  ← losing support?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num_defectors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8950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−0.121  ← being abandoned?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was_majority_before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82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−0.107  ← social pressure?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B4A"/>
                </a:solidFill>
              </a:rPr>
              <a:t>• </a:t>
            </a:r>
            <a:r>
              <a:rPr sz="1200" b="0" i="0" dirty="0" err="1">
                <a:solidFill>
                  <a:srgbClr val="1A2B4A"/>
                </a:solidFill>
              </a:rPr>
              <a:t>prefix_influence_asymmetry</a:t>
            </a:r>
            <a:endParaRPr sz="1200" b="0" i="0" dirty="0">
              <a:solidFill>
                <a:srgbClr val="1A2B4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367588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+0.077  ← suppression?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prefix_balance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690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+0.091  ← convergence risk?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72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8B8B"/>
                </a:solidFill>
              </a:rPr>
              <a:t>Model: Logistic Regression + Isotonic Calibration
Grouped CV by (dataset, </a:t>
            </a:r>
            <a:r>
              <a:rPr sz="1200" b="0" i="0" dirty="0" err="1">
                <a:solidFill>
                  <a:srgbClr val="008B8B"/>
                </a:solidFill>
              </a:rPr>
              <a:t>question_no</a:t>
            </a:r>
            <a:r>
              <a:rPr sz="1200" b="0" i="0" dirty="0">
                <a:solidFill>
                  <a:srgbClr val="008B8B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868680"/>
            <a:ext cx="41148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Head 2:  p_drop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325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P(hypothesis disappears at t+1 | features at round 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73736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>
                <a:solidFill>
                  <a:srgbClr val="1A2B4A"/>
                </a:solidFill>
              </a:rPr>
              <a:t>Key features</a:t>
            </a:r>
            <a:r>
              <a:rPr lang="en-US" sz="1300" b="1" dirty="0">
                <a:solidFill>
                  <a:srgbClr val="1A2B4A"/>
                </a:solidFill>
              </a:rPr>
              <a:t> (need re-evaluate)</a:t>
            </a:r>
            <a:r>
              <a:rPr sz="1300" b="1" i="0" dirty="0">
                <a:solidFill>
                  <a:srgbClr val="1A2B4A"/>
                </a:solidFill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03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support_delta  (losing agents this round)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496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num_defectors  (agents already leaving)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88950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rounds_remaining  (urgency)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282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prefix_balance  (rapid convergence?)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67588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minority_size  (1 agent vs 2 agents)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06907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prefix_influence_asymmetry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434840"/>
            <a:ext cx="3840480" cy="914400"/>
          </a:xfrm>
          <a:prstGeom prst="rect">
            <a:avLst/>
          </a:prstGeom>
          <a:solidFill>
            <a:srgbClr val="FFF5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4480559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E67E22"/>
                </a:solidFill>
              </a:rPr>
              <a:t>Status: 25–30 positive events expected from new baseline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C4E24-D5A5-9109-1646-EA0FF5DA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5139D-D6E8-8081-3C91-0C9B898F9EB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1C1C8-1D20-1B3E-8C28-042444425A58}"/>
              </a:ext>
            </a:extLst>
          </p:cNvPr>
          <p:cNvSpPr txBox="1"/>
          <p:nvPr/>
        </p:nvSpPr>
        <p:spPr>
          <a:xfrm>
            <a:off x="182880" y="73152"/>
            <a:ext cx="877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Why This is </a:t>
            </a:r>
            <a:r>
              <a:rPr lang="en-US" sz="2800" b="1" dirty="0">
                <a:solidFill>
                  <a:srgbClr val="FFFFFF"/>
                </a:solidFill>
              </a:rPr>
              <a:t>B</a:t>
            </a:r>
            <a:r>
              <a:rPr lang="en-US" sz="2800" b="1" i="0" dirty="0">
                <a:solidFill>
                  <a:srgbClr val="FFFFFF"/>
                </a:solidFill>
              </a:rPr>
              <a:t>etter </a:t>
            </a:r>
            <a:r>
              <a:rPr lang="en-US" sz="2800" b="1" dirty="0">
                <a:solidFill>
                  <a:srgbClr val="FFFFFF"/>
                </a:solidFill>
              </a:rPr>
              <a:t>T</a:t>
            </a:r>
            <a:r>
              <a:rPr lang="en-US" sz="2800" b="1" i="0" dirty="0">
                <a:solidFill>
                  <a:srgbClr val="FFFFFF"/>
                </a:solidFill>
              </a:rPr>
              <a:t>han Exp3b</a:t>
            </a:r>
            <a:endParaRPr sz="2800" b="1" i="0" dirty="0">
              <a:solidFill>
                <a:srgbClr val="FFFFFF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6D29E6-8D2F-7A90-1F3A-62A6CEAF0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2" y="1374123"/>
            <a:ext cx="8092585" cy="394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0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Pipeline: From Round_State to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6FC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6FC1"/>
                </a:solidFill>
              </a:rPr>
              <a:t>New Baseline
(generate_baseline_v2.py)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200 MMLU-Pro × 3 seeds
100 GPQA × 3 seeds
Round_State: ~13,500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830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B8B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8B"/>
                </a:solidFill>
              </a:rPr>
              <a:t>Feature Extraction
(extract_features_prefix.py)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~455 minority situations
Prefix-safe features only
No future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068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3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Train Two-Head Predictor
(train_two_head_predictor.py)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Logistic regression
Grouped CV by question_no
Calibrated probabilities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830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19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Deploy: Exp5
(generate_exp5_controller.py)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19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Same 200 MMLU-Pro questions
Compare vs Exp1 &amp; Exp3b
Measure: Acc, PER,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Critical design choices: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Train on baseline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No data from intervention experiments → no circular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490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Prefix-safe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Only rounds 1..t used → valid for real-time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Grouped CV by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434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All seeds of same question in same fold → no question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Constrained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434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Maximize minority recovery s.t. majority corruption ≤ 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Expected Results:  Adaptive Controller vs Prior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5146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914400"/>
            <a:ext cx="1051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359" y="932688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914400"/>
            <a:ext cx="86868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93268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914400"/>
            <a:ext cx="16002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932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Cons. Reliability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914400"/>
            <a:ext cx="224028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93268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Key Advantage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2514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3990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Baseline (Exp1)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39" y="137160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59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371600"/>
            <a:ext cx="868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139903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8.2%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37160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3990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57.1%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371600"/>
            <a:ext cx="2240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139903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20240"/>
            <a:ext cx="251460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194767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Diag. Protection (3b)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39" y="1920240"/>
            <a:ext cx="105156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80359" y="19476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60.0%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920240"/>
            <a:ext cx="86868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7639" y="19476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3.2%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920240"/>
            <a:ext cx="160020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19476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60.6%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920240"/>
            <a:ext cx="224028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59" y="19476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Best hard-threshold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468880"/>
            <a:ext cx="251460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4963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Adaptive Controller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39" y="2468880"/>
            <a:ext cx="105156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80359" y="249631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61–63%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468880"/>
            <a:ext cx="86868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77639" y="24963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2–3%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68880"/>
            <a:ext cx="160020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92040" y="24963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61–63%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468880"/>
            <a:ext cx="224028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59" y="249631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Quality-aware + calibrated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Why the adaptive controller should outperform Exp3b: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2044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C1"/>
                </a:solidFill>
              </a:rPr>
              <a:t>Reasoning quality gated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0050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Exp3b protects ALL minorities under high asymmetry
→ some of those are wrong
New controller: only protects high-quality reasoning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52044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8328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C1"/>
                </a:solidFill>
              </a:rPr>
              <a:t>Risk-scaled tokens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0050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Exp3b: fixed +110 tokens always
New: +60 to +135 scaled by p_truth × p_drop
→ more budget to highest-risk situations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52044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C1"/>
                </a:solidFill>
              </a:rPr>
              <a:t>p_drop signal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0050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Exp3b doesn't know if elimination is imminent
New: directly predicts whether hypothesis will
disappear next round → timely intervention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Summary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89781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Three things no prior work has combined: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309290"/>
            <a:ext cx="2788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40073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C1"/>
                </a:solidFill>
              </a:rPr>
              <a:t>Process diagnostics
as control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94937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Prior work measures engagement, asymmetry, balance
We use them to DECIDE when to intervene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09290"/>
            <a:ext cx="2788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140073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8B"/>
                </a:solidFill>
              </a:rPr>
              <a:t>Reasoning quality
in the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94937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Exp3b triggers on dynamics alone
We add LLM quality score to gate out bad minorities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309290"/>
            <a:ext cx="2788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40073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</a:rPr>
              <a:t>Calibrated risk
= p_truth × p_drop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4937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Novel formulation: protect only when
both correct AND at imminent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89650"/>
            <a:ext cx="8412480" cy="822960"/>
          </a:xfrm>
          <a:prstGeom prst="rect">
            <a:avLst/>
          </a:prstGeom>
          <a:solidFill>
            <a:srgbClr val="E8F4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3537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A2B4A"/>
                </a:solidFill>
              </a:rPr>
              <a:t>"First work to use calibrated process diagnostics for within-trajectory
minority protection in multi-agent LLM debates"</a:t>
            </a:r>
            <a:r>
              <a:rPr lang="en-US" sz="1400" b="1" i="0" dirty="0">
                <a:solidFill>
                  <a:srgbClr val="1A2B4A"/>
                </a:solidFill>
              </a:rPr>
              <a:t> per Codex</a:t>
            </a:r>
            <a:endParaRPr sz="1400" b="1" i="0" dirty="0">
              <a:solidFill>
                <a:srgbClr val="1A2B4A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C47F91-78C5-E515-6FFE-A9AB94F9EEB2}"/>
              </a:ext>
            </a:extLst>
          </p:cNvPr>
          <p:cNvSpPr txBox="1"/>
          <p:nvPr/>
        </p:nvSpPr>
        <p:spPr>
          <a:xfrm>
            <a:off x="598665" y="5145670"/>
            <a:ext cx="7823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compute constraints, experiments use Qwen2.5-14B. Model generalization is left for future work, as our intervention mechanism operates on behavioral patterns (answer changes, support dynamics) rather than model-specific features.</a:t>
            </a:r>
          </a:p>
          <a:p>
            <a:endParaRPr lang="en-US" dirty="0"/>
          </a:p>
          <a:p>
            <a:r>
              <a:rPr lang="en-US" dirty="0"/>
              <a:t>Future work: Run same experiments using GPT-4, Llama, Gemini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1535</Words>
  <Application>Microsoft Office PowerPoint</Application>
  <PresentationFormat>On-screen Show (4:3)</PresentationFormat>
  <Paragraphs>230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Zeng, Angie</cp:lastModifiedBy>
  <cp:revision>17</cp:revision>
  <dcterms:created xsi:type="dcterms:W3CDTF">2013-01-27T09:14:16Z</dcterms:created>
  <dcterms:modified xsi:type="dcterms:W3CDTF">2026-07-24T03:28:03Z</dcterms:modified>
  <cp:category/>
</cp:coreProperties>
</file>