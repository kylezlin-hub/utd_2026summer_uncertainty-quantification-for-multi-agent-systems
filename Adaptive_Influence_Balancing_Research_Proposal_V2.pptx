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70" r:id="rId12"/>
    <p:sldId id="275" r:id="rId13"/>
    <p:sldId id="277" r:id="rId14"/>
    <p:sldId id="286" r:id="rId15"/>
    <p:sldId id="287" r:id="rId16"/>
    <p:sldId id="280" r:id="rId17"/>
    <p:sldId id="282" r:id="rId18"/>
    <p:sldId id="284" r:id="rId19"/>
    <p:sldId id="285" r:id="rId20"/>
    <p:sldId id="266" r:id="rId21"/>
    <p:sldId id="268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154" y="3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Adaptive Influence Balancing for Multi-Agent LLM Debates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899004" cy="1752600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Extending Process-Based Diagnostics into Debate Control</a:t>
            </a:r>
          </a:p>
          <a:p>
            <a:r>
              <a:rPr lang="en-US" dirty="0"/>
              <a:t>Kyle Lin - </a:t>
            </a:r>
            <a:r>
              <a:rPr dirty="0"/>
              <a:t>Summer Research Proposal – 2026</a:t>
            </a:r>
          </a:p>
          <a:p>
            <a:r>
              <a:rPr dirty="0"/>
              <a:t>Advisor: Prof. </a:t>
            </a:r>
            <a:r>
              <a:rPr lang="en-US" dirty="0"/>
              <a:t>Feng </a:t>
            </a:r>
            <a:r>
              <a:rPr dirty="0"/>
              <a:t>Chen</a:t>
            </a:r>
            <a:r>
              <a:rPr lang="en-US" dirty="0"/>
              <a:t> </a:t>
            </a:r>
          </a:p>
          <a:p>
            <a:r>
              <a:rPr lang="en-US" dirty="0"/>
              <a:t>Mentor: Tianhao Wang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Multi-agent debate is becoming a core AI paradigm</a:t>
            </a:r>
            <a:endParaRPr lang="en-US" dirty="0"/>
          </a:p>
          <a:p>
            <a:endParaRPr dirty="0"/>
          </a:p>
          <a:p>
            <a:r>
              <a:rPr dirty="0"/>
              <a:t>Applications: reasoning, planning, code generation, governance</a:t>
            </a:r>
            <a:endParaRPr lang="en-US" dirty="0"/>
          </a:p>
          <a:p>
            <a:endParaRPr dirty="0"/>
          </a:p>
          <a:p>
            <a:r>
              <a:rPr dirty="0"/>
              <a:t>Question: </a:t>
            </a:r>
            <a:endParaRPr lang="en-US" dirty="0"/>
          </a:p>
          <a:p>
            <a:pPr lvl="1"/>
            <a:r>
              <a:rPr sz="2900" dirty="0"/>
              <a:t>Does more discussion always lead to better answers?</a:t>
            </a:r>
            <a:endParaRPr lang="en-US" sz="2900" dirty="0"/>
          </a:p>
          <a:p>
            <a:pPr lvl="1"/>
            <a:r>
              <a:rPr lang="en-US" sz="2900" dirty="0"/>
              <a:t>How do we prevent potentially correct reasoning trajectories from being eliminated before they are fully explored?</a:t>
            </a:r>
          </a:p>
          <a:p>
            <a:pPr lvl="1"/>
            <a:r>
              <a:rPr lang="en-US" sz="2900" dirty="0"/>
              <a:t>Can adaptive influence balancing improve debate quality?</a:t>
            </a:r>
          </a:p>
          <a:p>
            <a:pPr lvl="1"/>
            <a:r>
              <a:rPr lang="en-US" sz="2900" dirty="0"/>
              <a:t>Can minority viewpoints be preserved long enough to improve final decisions?</a:t>
            </a:r>
          </a:p>
          <a:p>
            <a:pPr lvl="1"/>
            <a:r>
              <a:rPr lang="en-US" sz="2900" dirty="0"/>
              <a:t>Can process interventions improve reliability and calibration?</a:t>
            </a:r>
            <a:endParaRPr sz="2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ICML 2026 Paper: Key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Consensus is not enough</a:t>
            </a:r>
          </a:p>
          <a:p>
            <a:r>
              <a:rPr dirty="0"/>
              <a:t>Process metrics</a:t>
            </a:r>
            <a:r>
              <a:rPr lang="en-US" dirty="0"/>
              <a:t> framework</a:t>
            </a:r>
            <a:r>
              <a:rPr dirty="0"/>
              <a:t>: Engagement, Responsiveness, Balance, Influence Asymmetry</a:t>
            </a:r>
          </a:p>
          <a:p>
            <a:r>
              <a:rPr dirty="0"/>
              <a:t>Consensus ≠ Correctness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Existing work measures debate quality</a:t>
            </a:r>
          </a:p>
          <a:p>
            <a:r>
              <a:rPr dirty="0"/>
              <a:t>My extension: Observe → Measure → Control → Improve</a:t>
            </a:r>
          </a:p>
          <a:p>
            <a:r>
              <a:rPr b="1" dirty="0"/>
              <a:t>Can diagnostics</a:t>
            </a:r>
            <a:r>
              <a:rPr lang="en-US" b="1" dirty="0"/>
              <a:t> (process metrics)</a:t>
            </a:r>
            <a:r>
              <a:rPr b="1" dirty="0"/>
              <a:t> become feedback signals?</a:t>
            </a:r>
            <a:endParaRPr lang="en-US" b="1" dirty="0"/>
          </a:p>
          <a:p>
            <a:pPr lvl="1"/>
            <a:r>
              <a:rPr lang="en-US" dirty="0"/>
              <a:t>Try: 1. Adaptive influence re-balancing; 2. Reasoning diversity preservation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Debate failures occur when influence concentrates too early</a:t>
            </a:r>
          </a:p>
          <a:p>
            <a:r>
              <a:rPr dirty="0"/>
              <a:t>Consequences: groupthink, minority suppression, false consensus</a:t>
            </a:r>
          </a:p>
          <a:p>
            <a:r>
              <a:rPr dirty="0"/>
              <a:t>Adaptive balancing can improve reliability</a:t>
            </a:r>
            <a:endParaRPr lang="en-US" dirty="0"/>
          </a:p>
          <a:p>
            <a:r>
              <a:rPr lang="en-US" dirty="0"/>
              <a:t>Reasoning diversity preservation can prevent potentially correct reasoning trajectories from being eliminated too early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Compute process metrics every round</a:t>
            </a:r>
          </a:p>
          <a:p>
            <a:r>
              <a:rPr dirty="0"/>
              <a:t>Detect excessive influence asymmetry</a:t>
            </a:r>
          </a:p>
          <a:p>
            <a:r>
              <a:rPr dirty="0"/>
              <a:t>Trigger interventions dynamically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876" y="2140342"/>
            <a:ext cx="8229600" cy="1143000"/>
          </a:xfrm>
        </p:spPr>
        <p:txBody>
          <a:bodyPr/>
          <a:lstStyle/>
          <a:p>
            <a:r>
              <a:rPr dirty="0"/>
              <a:t>Experimental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41EC4-888C-46C3-693B-9A71CCF8A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1266-5BC9-043F-8968-3D440597E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Experiment</a:t>
            </a:r>
            <a:r>
              <a:rPr dirty="0"/>
              <a:t> 1: </a:t>
            </a:r>
            <a:r>
              <a:rPr lang="en-US" dirty="0"/>
              <a:t>Baseline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AC7C8-7425-1B2F-EBD8-3DC876A23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Original paper setup</a:t>
            </a:r>
          </a:p>
          <a:p>
            <a:r>
              <a:rPr lang="en-US" dirty="0"/>
              <a:t>Fixed debate protocol</a:t>
            </a:r>
          </a:p>
          <a:p>
            <a:r>
              <a:rPr lang="en-US" dirty="0"/>
              <a:t>No intervention</a:t>
            </a:r>
          </a:p>
          <a:p>
            <a:r>
              <a:rPr lang="en-US" dirty="0"/>
              <a:t>Reference point for comparison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3705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Experiment 2: </a:t>
            </a:r>
            <a:r>
              <a:rPr dirty="0"/>
              <a:t>Loser</a:t>
            </a:r>
            <a:r>
              <a:rPr lang="en-US" dirty="0"/>
              <a:t>-More-Resistance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When an agent consistently loses influence:</a:t>
            </a:r>
          </a:p>
          <a:p>
            <a:r>
              <a:rPr dirty="0"/>
              <a:t>Increase </a:t>
            </a:r>
            <a:r>
              <a:rPr lang="en-US" dirty="0"/>
              <a:t>loser</a:t>
            </a:r>
            <a:r>
              <a:rPr dirty="0"/>
              <a:t> resistance</a:t>
            </a:r>
          </a:p>
          <a:p>
            <a:r>
              <a:rPr dirty="0"/>
              <a:t>Reduce susceptibility to dominant opinions</a:t>
            </a:r>
          </a:p>
          <a:p>
            <a:r>
              <a:rPr dirty="0"/>
              <a:t>Prevent premature convergence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Goal: Prevent early domination.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3: Minority Protection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80856" cy="504252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dirty="0"/>
              <a:t>For each round, use agents’ influence scores to determine Minority/Dominant agents</a:t>
            </a:r>
          </a:p>
          <a:p>
            <a:pPr marL="0" indent="0">
              <a:buNone/>
            </a:pPr>
            <a:r>
              <a:rPr lang="en-US" sz="2000" dirty="0" err="1"/>
              <a:t>dominant_agent</a:t>
            </a:r>
            <a:r>
              <a:rPr lang="en-US" sz="2000" dirty="0"/>
              <a:t> = argmax(influence)</a:t>
            </a:r>
          </a:p>
          <a:p>
            <a:pPr marL="0" indent="0">
              <a:buNone/>
            </a:pPr>
            <a:r>
              <a:rPr lang="en-US" sz="2000" dirty="0" err="1"/>
              <a:t>minority_agents</a:t>
            </a:r>
            <a:r>
              <a:rPr lang="en-US" sz="2000" dirty="0"/>
              <a:t> = influence &lt; threshold</a:t>
            </a:r>
          </a:p>
          <a:p>
            <a:pPr marL="0" indent="0">
              <a:buNone/>
            </a:pPr>
            <a:r>
              <a:rPr lang="en-US" dirty="0"/>
              <a:t>Minority agents receive:</a:t>
            </a:r>
          </a:p>
          <a:p>
            <a:r>
              <a:rPr lang="en-US" dirty="0"/>
              <a:t>Additional reasoning budget</a:t>
            </a:r>
          </a:p>
          <a:p>
            <a:r>
              <a:rPr lang="en-US" dirty="0"/>
              <a:t>Extra evidence generation</a:t>
            </a:r>
          </a:p>
          <a:p>
            <a:r>
              <a:rPr lang="en-US" dirty="0"/>
              <a:t>Additional speaking opportunities</a:t>
            </a:r>
          </a:p>
          <a:p>
            <a:pPr marL="0" indent="0">
              <a:buNone/>
            </a:pPr>
            <a:r>
              <a:rPr lang="en-US" dirty="0"/>
              <a:t>Potential </a:t>
            </a:r>
            <a:r>
              <a:rPr lang="en-US" b="1" dirty="0"/>
              <a:t>Influence Cap </a:t>
            </a:r>
            <a:r>
              <a:rPr lang="en-US" dirty="0"/>
              <a:t>to avoid SUPER agent. Intervention: No single agent can exceed a maximum influence share, to prevent runaway dominance.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Goal: Keep alternative hypotheses alive longer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BF005-140E-33A5-10AD-DF15416EF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53BDE-95E5-38CC-398C-D4416EDDD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1625"/>
            <a:ext cx="8229600" cy="922692"/>
          </a:xfrm>
        </p:spPr>
        <p:txBody>
          <a:bodyPr/>
          <a:lstStyle/>
          <a:p>
            <a:r>
              <a:rPr lang="en-US" dirty="0"/>
              <a:t>Experiment 4: Devil's Advocate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AB862-3280-3D3E-1C59-E86D115C8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9" y="1074317"/>
            <a:ext cx="8979981" cy="5519204"/>
          </a:xfrm>
        </p:spPr>
        <p:txBody>
          <a:bodyPr>
            <a:normAutofit fontScale="70000" lnSpcReduction="20000"/>
          </a:bodyPr>
          <a:lstStyle/>
          <a:p>
            <a:r>
              <a:rPr lang="en-US" sz="3100" dirty="0"/>
              <a:t>Dominant agents must challenge their own position </a:t>
            </a:r>
          </a:p>
          <a:p>
            <a:pPr lvl="1"/>
            <a:r>
              <a:rPr lang="en-US" sz="2000" dirty="0"/>
              <a:t>Majority agent must argue against itself</a:t>
            </a:r>
          </a:p>
          <a:p>
            <a:r>
              <a:rPr lang="en-US" dirty="0"/>
              <a:t>Generate counterarguments to encourage exploration of alternatives</a:t>
            </a:r>
          </a:p>
          <a:p>
            <a:r>
              <a:rPr lang="en-US" dirty="0"/>
              <a:t>If diversity drops below threshold:  Automatically introduce: "Generate an alternative explanation.“ or "Identify a hidden assumption.“</a:t>
            </a:r>
          </a:p>
          <a:p>
            <a:r>
              <a:rPr lang="en-US" b="1" dirty="0"/>
              <a:t>Resurrection Protocol</a:t>
            </a:r>
            <a:r>
              <a:rPr lang="en-US" dirty="0"/>
              <a:t>: Retrieve discarded arguments to break dominance</a:t>
            </a:r>
          </a:p>
          <a:p>
            <a:pPr marL="400050" lvl="1" indent="0">
              <a:buNone/>
            </a:pPr>
            <a:r>
              <a:rPr lang="en-US" sz="2000" dirty="0"/>
              <a:t>Prompt: "Select one previously rejected argument and re-evaluate it."</a:t>
            </a:r>
          </a:p>
          <a:p>
            <a:pPr marL="400050" lvl="1" indent="0">
              <a:buNone/>
            </a:pPr>
            <a:r>
              <a:rPr lang="en-US" sz="2000" dirty="0"/>
              <a:t>Example:</a:t>
            </a:r>
          </a:p>
          <a:p>
            <a:pPr lvl="1"/>
            <a:r>
              <a:rPr lang="en-US" sz="2000" dirty="0"/>
              <a:t>Round 1:</a:t>
            </a:r>
            <a:br>
              <a:rPr lang="en-US" sz="2000" dirty="0"/>
            </a:br>
            <a:r>
              <a:rPr lang="en-US" sz="2000" dirty="0"/>
              <a:t>Argument B rejected</a:t>
            </a:r>
          </a:p>
          <a:p>
            <a:pPr lvl="1"/>
            <a:r>
              <a:rPr lang="en-US" sz="2000" dirty="0"/>
              <a:t>Round 5:</a:t>
            </a:r>
            <a:br>
              <a:rPr lang="en-US" sz="2000" dirty="0"/>
            </a:br>
            <a:r>
              <a:rPr lang="en-US" sz="2000" dirty="0"/>
              <a:t>Argument B revisited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Goal: Stress-test dominant reasoning, reduce overconfidence and groupthink. Recover exploration when debate becomes too homogeneous.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288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74087-FD2F-68C9-FB79-F87E94BAC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98892-EA35-D365-1903-1561D49E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329" y="274638"/>
            <a:ext cx="8750356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Experiment 5: Uncertainty-Aware Debate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7FCC0-CCAD-6665-FFEB-1F14B4F61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721" y="1562270"/>
            <a:ext cx="8979981" cy="4563893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9600" dirty="0"/>
              <a:t>Agents report </a:t>
            </a:r>
            <a:r>
              <a:rPr lang="en-US" sz="8000" dirty="0"/>
              <a:t>Answer Confidence Reasoning</a:t>
            </a:r>
          </a:p>
          <a:p>
            <a:r>
              <a:rPr lang="en-US" sz="9600" dirty="0"/>
              <a:t>If: </a:t>
            </a:r>
            <a:r>
              <a:rPr lang="en-US" sz="8000" dirty="0"/>
              <a:t>High Confidence + Strong Consensus, </a:t>
            </a:r>
            <a:r>
              <a:rPr lang="en-US" sz="9600" dirty="0"/>
              <a:t>No intervention.</a:t>
            </a:r>
          </a:p>
          <a:p>
            <a:r>
              <a:rPr lang="en-US" sz="9600" dirty="0"/>
              <a:t>If: </a:t>
            </a:r>
            <a:r>
              <a:rPr lang="en-US" sz="8000" dirty="0"/>
              <a:t>Low Confidence + Strong Consensus, </a:t>
            </a:r>
            <a:r>
              <a:rPr lang="en-US" sz="9600" dirty="0"/>
              <a:t>Trigger debate extension!</a:t>
            </a:r>
          </a:p>
          <a:p>
            <a:pPr marL="0" indent="0">
              <a:buNone/>
            </a:pPr>
            <a:br>
              <a:rPr lang="en-US" sz="9600" dirty="0"/>
            </a:br>
            <a:endParaRPr lang="en-US" sz="9600" dirty="0"/>
          </a:p>
          <a:p>
            <a:pPr marL="0" indent="0">
              <a:buNone/>
            </a:pPr>
            <a:r>
              <a:rPr lang="en-US" sz="9600" b="1" dirty="0"/>
              <a:t>Motivation:  </a:t>
            </a:r>
            <a:r>
              <a:rPr lang="en-US" sz="9600" dirty="0"/>
              <a:t>False consensus often emerges when nobody is truly confident.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585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59E4C-8020-1134-6916-B629ABE35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Research Framework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7610795-A5DD-E743-F30D-F968B99005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7693091"/>
              </p:ext>
            </p:extLst>
          </p:nvPr>
        </p:nvGraphicFramePr>
        <p:xfrm>
          <a:off x="457200" y="3238273"/>
          <a:ext cx="8229600" cy="21945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75514074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213766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417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Influence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Loser-More-Resistance, Influence Cap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0722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Diversity Preservation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Minority Protection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297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Diversity Preservation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Diversity Trigger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039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Hypothesis Preservation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Resurrection Protocol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648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Robustness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Devil's Advocate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6084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A2B3127-57A1-9D14-B28D-A63841B0A817}"/>
              </a:ext>
            </a:extLst>
          </p:cNvPr>
          <p:cNvSpPr txBox="1"/>
          <p:nvPr/>
        </p:nvSpPr>
        <p:spPr>
          <a:xfrm>
            <a:off x="399793" y="1130485"/>
            <a:ext cx="816604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Research Story : </a:t>
            </a:r>
            <a:r>
              <a:rPr lang="en-US" dirty="0"/>
              <a:t>“Adaptive Influence Balancing &amp; Reasoning Diversity Preservation in Multi-Agent LLM Debates </a:t>
            </a:r>
            <a:r>
              <a:rPr lang="en-US" b="1" dirty="0"/>
              <a:t>“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Central hypothesis</a:t>
            </a:r>
            <a:r>
              <a:rPr lang="en-US" dirty="0"/>
              <a:t>:  Debate failures occur because influence concentrates too early and potentially correct reasoning trajectories are eliminated before sufficient exploration occurs.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Interventions:</a:t>
            </a:r>
          </a:p>
        </p:txBody>
      </p:sp>
    </p:spTree>
    <p:extLst>
      <p:ext uri="{BB962C8B-B14F-4D97-AF65-F5344CB8AC3E}">
        <p14:creationId xmlns:p14="http://schemas.microsoft.com/office/powerpoint/2010/main" val="18856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1247A-2E00-DAE0-2D26-490DE13AC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A3B46-E8E9-D7D3-8BC3-931EC21EC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876" y="2140342"/>
            <a:ext cx="8229600" cy="1143000"/>
          </a:xfrm>
        </p:spPr>
        <p:txBody>
          <a:bodyPr/>
          <a:lstStyle/>
          <a:p>
            <a:r>
              <a:rPr lang="en-US" dirty="0"/>
              <a:t>Evaluation Plan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4146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6B0A7-85B2-870B-DFA8-1FFC0365A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601C9-924F-BADE-4D04-1DAE05896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9470"/>
          </a:xfrm>
        </p:spPr>
        <p:txBody>
          <a:bodyPr>
            <a:normAutofit fontScale="90000"/>
          </a:bodyPr>
          <a:lstStyle/>
          <a:p>
            <a:r>
              <a:rPr dirty="0"/>
              <a:t>Evaluation Plan</a:t>
            </a:r>
            <a:r>
              <a:rPr lang="en-US" dirty="0"/>
              <a:t> – part 1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B5F271-1F17-CE05-5D58-FFD5E182DD57}"/>
              </a:ext>
            </a:extLst>
          </p:cNvPr>
          <p:cNvSpPr txBox="1"/>
          <p:nvPr/>
        </p:nvSpPr>
        <p:spPr>
          <a:xfrm>
            <a:off x="362889" y="984108"/>
            <a:ext cx="82295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Evaluation Level 1: </a:t>
            </a:r>
            <a:r>
              <a:rPr lang="en-US" b="1" dirty="0">
                <a:solidFill>
                  <a:srgbClr val="FF0000"/>
                </a:solidFill>
              </a:rPr>
              <a:t>Accuracy</a:t>
            </a:r>
            <a:endParaRPr lang="en-US" sz="1200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Accuracy</a:t>
            </a:r>
          </a:p>
          <a:p>
            <a:r>
              <a:rPr lang="en-US" dirty="0"/>
              <a:t>Measure: # of correct answers / total # of questions</a:t>
            </a:r>
          </a:p>
          <a:p>
            <a:r>
              <a:rPr lang="en-US" dirty="0"/>
              <a:t>Question: Do the debate interventions we introduce improve the overall quality of the debate?</a:t>
            </a:r>
          </a:p>
          <a:p>
            <a:endParaRPr lang="en-US" b="1" dirty="0"/>
          </a:p>
          <a:p>
            <a:r>
              <a:rPr lang="en-US" b="1" dirty="0"/>
              <a:t>Example</a:t>
            </a:r>
          </a:p>
          <a:p>
            <a:r>
              <a:rPr lang="en-US" dirty="0"/>
              <a:t>Baseline</a:t>
            </a:r>
          </a:p>
          <a:p>
            <a:r>
              <a:rPr lang="en-US" dirty="0"/>
              <a:t># of final answer is correct = 40</a:t>
            </a:r>
          </a:p>
          <a:p>
            <a:r>
              <a:rPr lang="en-US" dirty="0"/>
              <a:t># of total questions = 50</a:t>
            </a:r>
            <a:br>
              <a:rPr lang="en-US" dirty="0"/>
            </a:br>
            <a:r>
              <a:rPr lang="en-US" dirty="0"/>
              <a:t>Accuracy = 80%</a:t>
            </a:r>
          </a:p>
          <a:p>
            <a:endParaRPr lang="en-US" dirty="0"/>
          </a:p>
          <a:p>
            <a:r>
              <a:rPr lang="en-US" dirty="0"/>
              <a:t>I hope that at least one of the interventions we introduce will improve accuracy.</a:t>
            </a:r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902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B8C8E-357A-0C85-30A0-17D619F50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8A532-C261-9E8C-6136-B91F94160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9470"/>
          </a:xfrm>
        </p:spPr>
        <p:txBody>
          <a:bodyPr>
            <a:normAutofit fontScale="90000"/>
          </a:bodyPr>
          <a:lstStyle/>
          <a:p>
            <a:r>
              <a:rPr dirty="0"/>
              <a:t>Evaluation Plan</a:t>
            </a:r>
            <a:r>
              <a:rPr lang="en-US" dirty="0"/>
              <a:t> – part 2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CA8792-437F-DCF9-C705-F952FA7C08D0}"/>
              </a:ext>
            </a:extLst>
          </p:cNvPr>
          <p:cNvSpPr txBox="1"/>
          <p:nvPr/>
        </p:nvSpPr>
        <p:spPr>
          <a:xfrm>
            <a:off x="362889" y="984108"/>
            <a:ext cx="822959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Evaluation Level 2: </a:t>
            </a:r>
            <a:r>
              <a:rPr lang="en-US" b="1" dirty="0">
                <a:solidFill>
                  <a:srgbClr val="FF0000"/>
                </a:solidFill>
              </a:rPr>
              <a:t>Consensus Reliability </a:t>
            </a:r>
            <a:r>
              <a:rPr lang="en-US" sz="1200" dirty="0">
                <a:solidFill>
                  <a:srgbClr val="FF0000"/>
                </a:solidFill>
              </a:rPr>
              <a:t>This is where we make the difference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Consensus Reliability</a:t>
            </a:r>
          </a:p>
          <a:p>
            <a:r>
              <a:rPr lang="en-US" dirty="0"/>
              <a:t>Measure: Prob(correct | consensus)</a:t>
            </a:r>
          </a:p>
          <a:p>
            <a:r>
              <a:rPr lang="en-US" dirty="0"/>
              <a:t>Question: When agents agree, how often are they actually right?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Baseline</a:t>
            </a:r>
          </a:p>
          <a:p>
            <a:r>
              <a:rPr lang="en-US" dirty="0"/>
              <a:t>Consensus reached = 90%</a:t>
            </a:r>
            <a:br>
              <a:rPr lang="en-US" dirty="0"/>
            </a:br>
            <a:r>
              <a:rPr lang="en-US" dirty="0"/>
              <a:t>Correct = 70%</a:t>
            </a:r>
          </a:p>
          <a:p>
            <a:r>
              <a:rPr lang="en-US" dirty="0"/>
              <a:t>Reliability: 0.70 / 0.90 = 78%</a:t>
            </a:r>
          </a:p>
          <a:p>
            <a:r>
              <a:rPr lang="en-US" dirty="0">
                <a:solidFill>
                  <a:srgbClr val="FF0000"/>
                </a:solidFill>
              </a:rPr>
              <a:t>We expect the improved adaptive protocol should increase this.</a:t>
            </a:r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528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6640-5793-FA0F-6A90-C0F5A7E0B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3FE52-FC42-A3DE-7849-CE681524E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9470"/>
          </a:xfrm>
        </p:spPr>
        <p:txBody>
          <a:bodyPr>
            <a:normAutofit fontScale="90000"/>
          </a:bodyPr>
          <a:lstStyle/>
          <a:p>
            <a:r>
              <a:rPr dirty="0"/>
              <a:t>Evaluation Plan</a:t>
            </a:r>
            <a:r>
              <a:rPr lang="en-US" dirty="0"/>
              <a:t> – part 3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2E7F2E-FDFC-8274-6505-F924B02BECB3}"/>
              </a:ext>
            </a:extLst>
          </p:cNvPr>
          <p:cNvSpPr txBox="1"/>
          <p:nvPr/>
        </p:nvSpPr>
        <p:spPr>
          <a:xfrm>
            <a:off x="362889" y="984108"/>
            <a:ext cx="822959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Evaluation Level 3: Early-Elimination analysis   </a:t>
            </a:r>
            <a:r>
              <a:rPr lang="en-US" dirty="0"/>
              <a:t>(I want to directly test my hypothesis)</a:t>
            </a:r>
          </a:p>
          <a:p>
            <a:br>
              <a:rPr lang="en-US" dirty="0"/>
            </a:br>
            <a:r>
              <a:rPr lang="en-US" dirty="0"/>
              <a:t>For every debate each round, </a:t>
            </a:r>
            <a:r>
              <a:rPr lang="en-US" b="1" dirty="0"/>
              <a:t>Identify: Correct Hypothesis</a:t>
            </a:r>
          </a:p>
          <a:p>
            <a:r>
              <a:rPr lang="en-US" dirty="0"/>
              <a:t>When was it first proposed?</a:t>
            </a:r>
          </a:p>
          <a:p>
            <a:r>
              <a:rPr lang="en-US" dirty="0"/>
              <a:t>When was it abandoned?</a:t>
            </a:r>
          </a:p>
          <a:p>
            <a:r>
              <a:rPr lang="en-US" dirty="0"/>
              <a:t>Did it later become the final answer?</a:t>
            </a:r>
          </a:p>
          <a:p>
            <a:br>
              <a:rPr lang="en-US" dirty="0"/>
            </a:br>
            <a:r>
              <a:rPr lang="en-US" b="1" dirty="0"/>
              <a:t>New metric: </a:t>
            </a:r>
            <a:r>
              <a:rPr lang="en-US" b="1" dirty="0">
                <a:solidFill>
                  <a:srgbClr val="FF0000"/>
                </a:solidFill>
              </a:rPr>
              <a:t>Premature Elimination Rate (PER)</a:t>
            </a:r>
          </a:p>
          <a:p>
            <a:r>
              <a:rPr lang="en-US" dirty="0"/>
              <a:t>Definition:</a:t>
            </a:r>
          </a:p>
          <a:p>
            <a:r>
              <a:rPr lang="en-US" dirty="0"/>
              <a:t>Correct hypotheses discarded before final rounds/ All correct hypotheses proposed</a:t>
            </a:r>
          </a:p>
          <a:p>
            <a:br>
              <a:rPr lang="en-US" dirty="0"/>
            </a:br>
            <a:r>
              <a:rPr lang="en-US" b="1" dirty="0"/>
              <a:t>Example: </a:t>
            </a:r>
            <a:r>
              <a:rPr lang="en-US" dirty="0"/>
              <a:t>100 debates, Correct answer proposed early:</a:t>
            </a:r>
          </a:p>
          <a:p>
            <a:r>
              <a:rPr lang="en-US" dirty="0"/>
              <a:t>70 times</a:t>
            </a:r>
          </a:p>
          <a:p>
            <a:r>
              <a:rPr lang="en-US" dirty="0"/>
              <a:t>Discarded early:</a:t>
            </a:r>
          </a:p>
          <a:p>
            <a:r>
              <a:rPr lang="en-US" dirty="0"/>
              <a:t>28 times</a:t>
            </a:r>
          </a:p>
          <a:p>
            <a:r>
              <a:rPr lang="en-US" dirty="0"/>
              <a:t>PER: 28 / 70 = 40%</a:t>
            </a:r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743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D3EFA-355C-9D38-3384-A980E170E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C96F6-199E-8C20-6CE2-7E76EFB54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9470"/>
          </a:xfrm>
        </p:spPr>
        <p:txBody>
          <a:bodyPr>
            <a:normAutofit fontScale="90000"/>
          </a:bodyPr>
          <a:lstStyle/>
          <a:p>
            <a:r>
              <a:rPr lang="en-US" dirty="0"/>
              <a:t>Final </a:t>
            </a:r>
            <a:r>
              <a:rPr dirty="0"/>
              <a:t>Evaluation </a:t>
            </a:r>
            <a:r>
              <a:rPr lang="en-US" dirty="0"/>
              <a:t>Study 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1F4021-277A-B0A8-27CC-A1FCA2BFC708}"/>
              </a:ext>
            </a:extLst>
          </p:cNvPr>
          <p:cNvSpPr txBox="1"/>
          <p:nvPr/>
        </p:nvSpPr>
        <p:spPr>
          <a:xfrm>
            <a:off x="482827" y="1091038"/>
            <a:ext cx="81783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Question:  Which intervention contributes most?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B59FB7-E986-0E34-FBFD-F1600D974CC7}"/>
              </a:ext>
            </a:extLst>
          </p:cNvPr>
          <p:cNvSpPr txBox="1"/>
          <p:nvPr/>
        </p:nvSpPr>
        <p:spPr>
          <a:xfrm>
            <a:off x="457200" y="5040335"/>
            <a:ext cx="84940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Rather than measuring only final accuracy, I also want to measure whether the debate preserves and eventually recovers correct reasoning trajectories that would otherwise be eliminated too early.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D9E629-E594-F95D-3990-42A15090E5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180777"/>
              </p:ext>
            </p:extLst>
          </p:nvPr>
        </p:nvGraphicFramePr>
        <p:xfrm>
          <a:off x="596900" y="2209800"/>
          <a:ext cx="6775706" cy="2438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7462">
                  <a:extLst>
                    <a:ext uri="{9D8B030D-6E8A-4147-A177-3AD203B41FA5}">
                      <a16:colId xmlns:a16="http://schemas.microsoft.com/office/drawing/2014/main" val="1202882619"/>
                    </a:ext>
                  </a:extLst>
                </a:gridCol>
                <a:gridCol w="2808522">
                  <a:extLst>
                    <a:ext uri="{9D8B030D-6E8A-4147-A177-3AD203B41FA5}">
                      <a16:colId xmlns:a16="http://schemas.microsoft.com/office/drawing/2014/main" val="267782549"/>
                    </a:ext>
                  </a:extLst>
                </a:gridCol>
                <a:gridCol w="709378">
                  <a:extLst>
                    <a:ext uri="{9D8B030D-6E8A-4147-A177-3AD203B41FA5}">
                      <a16:colId xmlns:a16="http://schemas.microsoft.com/office/drawing/2014/main" val="2530118331"/>
                    </a:ext>
                  </a:extLst>
                </a:gridCol>
                <a:gridCol w="1211124">
                  <a:extLst>
                    <a:ext uri="{9D8B030D-6E8A-4147-A177-3AD203B41FA5}">
                      <a16:colId xmlns:a16="http://schemas.microsoft.com/office/drawing/2014/main" val="828745171"/>
                    </a:ext>
                  </a:extLst>
                </a:gridCol>
                <a:gridCol w="109220">
                  <a:extLst>
                    <a:ext uri="{9D8B030D-6E8A-4147-A177-3AD203B41FA5}">
                      <a16:colId xmlns:a16="http://schemas.microsoft.com/office/drawing/2014/main" val="12231101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Setting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10" marR="3810" marT="381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Consensus Reliability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PER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Accuracy 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 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10" marR="3810" marT="3810" marB="0" anchor="ctr"/>
                </a:tc>
                <a:extLst>
                  <a:ext uri="{0D108BD9-81ED-4DB2-BD59-A6C34878D82A}">
                    <a16:rowId xmlns:a16="http://schemas.microsoft.com/office/drawing/2014/main" val="313336595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Baseline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10" marR="3810" marT="381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134760972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Penalty-to-Loser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10" marR="3810" marT="381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072569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Minority Protection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10" marR="3810" marT="381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20382589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Delayed Consensus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10" marR="3810" marT="381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11055825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Devil's Advocate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10" marR="3810" marT="381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15096943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Resurrection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10" marR="3810" marT="381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81874119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Full System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10" marR="3810" marT="381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119120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13572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76F91-05ED-D5E3-3C1C-7C608522D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C4678-C3AC-EEC4-EC70-34ACEC209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9470"/>
          </a:xfrm>
        </p:spPr>
        <p:txBody>
          <a:bodyPr>
            <a:normAutofit fontScale="90000"/>
          </a:bodyPr>
          <a:lstStyle/>
          <a:p>
            <a:r>
              <a:rPr lang="en-US" dirty="0"/>
              <a:t>Important figure to include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860F0F-2E98-957D-182D-A62A9C8D7C1F}"/>
              </a:ext>
            </a:extLst>
          </p:cNvPr>
          <p:cNvSpPr txBox="1"/>
          <p:nvPr/>
        </p:nvSpPr>
        <p:spPr>
          <a:xfrm>
            <a:off x="582264" y="1121846"/>
            <a:ext cx="751612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Correct Hypothesis Survival Probability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1.0 |\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| \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0.8 |  \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|   \   Adaptive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0.6 |    \____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|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0.4 |________ Baseline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|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0.2 |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+------------------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Debate Round</a:t>
            </a:r>
          </a:p>
          <a:p>
            <a:r>
              <a:rPr lang="en-US" dirty="0"/>
              <a:t>Interpretation:</a:t>
            </a:r>
          </a:p>
          <a:p>
            <a:r>
              <a:rPr lang="en-US" dirty="0"/>
              <a:t>Under baseline debates, correct reasoning paths disappear quickly.</a:t>
            </a:r>
          </a:p>
          <a:p>
            <a:r>
              <a:rPr lang="en-US" dirty="0"/>
              <a:t>Under adaptive influence balancing system, correct reasoning survives longer and is more likely to become the final answer.</a:t>
            </a:r>
          </a:p>
          <a:p>
            <a:r>
              <a:rPr lang="en-US" dirty="0"/>
              <a:t>This figure would directly support our central claim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005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Adaptive control of debates</a:t>
            </a:r>
          </a:p>
          <a:p>
            <a:r>
              <a:rPr dirty="0"/>
              <a:t>Influence balancing for reliability</a:t>
            </a:r>
          </a:p>
          <a:p>
            <a:r>
              <a:rPr dirty="0"/>
              <a:t>Process-aware uncertainty estimation</a:t>
            </a:r>
            <a:endParaRPr lang="en-US" dirty="0"/>
          </a:p>
          <a:p>
            <a:r>
              <a:rPr lang="en-US" dirty="0"/>
              <a:t>Higher final-answer reliability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This Matters for Reliability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Most work studies model confidence</a:t>
            </a:r>
          </a:p>
          <a:p>
            <a:r>
              <a:rPr dirty="0"/>
              <a:t>This project studies </a:t>
            </a:r>
            <a:r>
              <a:rPr lang="en-US" dirty="0"/>
              <a:t>social </a:t>
            </a:r>
            <a:r>
              <a:rPr dirty="0"/>
              <a:t>uncertainty</a:t>
            </a:r>
          </a:p>
          <a:p>
            <a:r>
              <a:rPr dirty="0"/>
              <a:t>Reliable collective intelligence requires healthy deliberation dynamics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998</Words>
  <Application>Microsoft Office PowerPoint</Application>
  <PresentationFormat>On-screen Show (4:3)</PresentationFormat>
  <Paragraphs>167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 Narrow</vt:lpstr>
      <vt:lpstr>Arial</vt:lpstr>
      <vt:lpstr>Calibri</vt:lpstr>
      <vt:lpstr>Courier New</vt:lpstr>
      <vt:lpstr>Office Theme</vt:lpstr>
      <vt:lpstr>Adaptive Influence Balancing for Multi-Agent LLM Debates</vt:lpstr>
      <vt:lpstr>Motivation</vt:lpstr>
      <vt:lpstr>ICML 2026 Paper: Key Insight</vt:lpstr>
      <vt:lpstr>Research Gap</vt:lpstr>
      <vt:lpstr>Hypothesis</vt:lpstr>
      <vt:lpstr>Proposed Framework</vt:lpstr>
      <vt:lpstr>Experimental Design</vt:lpstr>
      <vt:lpstr>Experiment 1: Baseline</vt:lpstr>
      <vt:lpstr>Experiment 2: Loser-More-Resistance</vt:lpstr>
      <vt:lpstr>Experiment 3: Minority Protection</vt:lpstr>
      <vt:lpstr>Experiment 4: Devil's Advocate</vt:lpstr>
      <vt:lpstr>Experiment 5: Uncertainty-Aware Debate </vt:lpstr>
      <vt:lpstr>Research Framework </vt:lpstr>
      <vt:lpstr>Evaluation Plan</vt:lpstr>
      <vt:lpstr>Evaluation Plan – part 1</vt:lpstr>
      <vt:lpstr>Evaluation Plan – part 2</vt:lpstr>
      <vt:lpstr>Evaluation Plan – part 3</vt:lpstr>
      <vt:lpstr>Final Evaluation Study </vt:lpstr>
      <vt:lpstr>Important figure to include</vt:lpstr>
      <vt:lpstr>Expected Contributions</vt:lpstr>
      <vt:lpstr>Why This Matters for Reliability Research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Zeng, Angie</dc:creator>
  <cp:keywords/>
  <dc:description>generated using python-pptx</dc:description>
  <cp:lastModifiedBy>Zeng, Angie</cp:lastModifiedBy>
  <cp:revision>66</cp:revision>
  <dcterms:created xsi:type="dcterms:W3CDTF">2013-01-27T09:14:16Z</dcterms:created>
  <dcterms:modified xsi:type="dcterms:W3CDTF">2026-06-22T16:10:25Z</dcterms:modified>
  <cp:category/>
</cp:coreProperties>
</file>