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64" r:id="rId7"/>
    <p:sldId id="266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36" y="3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929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 dirty="0">
                <a:solidFill>
                  <a:srgbClr val="C9D1E6"/>
                </a:solidFill>
                <a:latin typeface="Calibri"/>
              </a:rPr>
              <a:t>Debate as Diagnosis: Inferring Knowledge and Reasoning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 dirty="0">
                <a:solidFill>
                  <a:srgbClr val="C9D1E6"/>
                </a:solidFill>
                <a:latin typeface="Calibri"/>
              </a:rPr>
              <a:t>Limitations from Same-Model Multi-Agent </a:t>
            </a:r>
            <a:r>
              <a:rPr lang="en-US" sz="2400" b="0" i="0" dirty="0">
                <a:solidFill>
                  <a:srgbClr val="C9D1E6"/>
                </a:solidFill>
                <a:latin typeface="Calibri"/>
              </a:rPr>
              <a:t>Debate </a:t>
            </a:r>
            <a:r>
              <a:rPr sz="2400" b="0" i="0" dirty="0">
                <a:solidFill>
                  <a:srgbClr val="C9D1E6"/>
                </a:solidFill>
                <a:latin typeface="Calibri"/>
              </a:rPr>
              <a:t>Dynamics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6213E"/>
                </a:solidFill>
                <a:latin typeface="Calibri"/>
              </a:rPr>
              <a:t>How the idea evolved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280160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66160" cy="457200"/>
          </a:xfrm>
          <a:prstGeom prst="rect">
            <a:avLst/>
          </a:prstGeom>
          <a:solidFill>
            <a:srgbClr val="E7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5506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 · 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67128"/>
            <a:ext cx="3236976" cy="2845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 dirty="0">
                <a:solidFill>
                  <a:srgbClr val="16213E"/>
                </a:solidFill>
                <a:latin typeface="Calibri"/>
              </a:rPr>
              <a:t>Goal: reproduce the ICML paper's headline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“process diagnostics have a causal link to correctness” (ρ≈0.69–0.76).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endParaRPr sz="1400" b="0" dirty="0">
              <a:solidFill>
                <a:srgbClr val="5B617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 dirty="0">
                <a:solidFill>
                  <a:srgbClr val="16213E"/>
                </a:solidFill>
                <a:latin typeface="Calibri"/>
              </a:rPr>
              <a:t>On accessible hardware (Qwen-14B, MMLU-Pro</a:t>
            </a:r>
            <a:r>
              <a:rPr lang="en-US" sz="1400" b="1" dirty="0">
                <a:solidFill>
                  <a:srgbClr val="16213E"/>
                </a:solidFill>
                <a:latin typeface="Calibri"/>
              </a:rPr>
              <a:t>, GPQA</a:t>
            </a:r>
            <a:r>
              <a:rPr sz="1400" b="1" dirty="0">
                <a:solidFill>
                  <a:srgbClr val="16213E"/>
                </a:solidFill>
                <a:latin typeface="Calibri"/>
              </a:rPr>
              <a:t>):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E71D36"/>
                </a:solidFill>
                <a:latin typeface="Calibri"/>
              </a:rPr>
              <a:t>the link vanishes and inverts — composite ρ≈−0.05 (</a:t>
            </a:r>
            <a:r>
              <a:rPr sz="1400" b="0" dirty="0" err="1">
                <a:solidFill>
                  <a:srgbClr val="E71D36"/>
                </a:solidFill>
                <a:latin typeface="Calibri"/>
              </a:rPr>
              <a:t>n.s</a:t>
            </a:r>
            <a:r>
              <a:rPr sz="1400" b="0" dirty="0">
                <a:solidFill>
                  <a:srgbClr val="E71D36"/>
                </a:solidFill>
                <a:latin typeface="Calibri"/>
              </a:rPr>
              <a:t>.);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E71D36"/>
                </a:solidFill>
                <a:latin typeface="Calibri"/>
              </a:rPr>
              <a:t>engagement ρ=−0.177, p=0.012 (paper: positive).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3566160" cy="4572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65506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 · Diagnose the break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167127"/>
            <a:ext cx="3355848" cy="4591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400" b="1" dirty="0">
                <a:solidFill>
                  <a:srgbClr val="16213E"/>
                </a:solidFill>
                <a:latin typeface="Calibri"/>
              </a:rPr>
              <a:t>Tried different dataset, different model, 14B, 7B, different personas, different temperature settings, etc.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endParaRPr lang="en-US" sz="1400" b="1" dirty="0">
              <a:solidFill>
                <a:srgbClr val="16213E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400" b="1" dirty="0">
                <a:solidFill>
                  <a:srgbClr val="16213E"/>
                </a:solidFill>
                <a:latin typeface="Calibri"/>
              </a:rPr>
              <a:t>Findings: </a:t>
            </a:r>
            <a:r>
              <a:rPr sz="1400" b="1" dirty="0">
                <a:solidFill>
                  <a:srgbClr val="16213E"/>
                </a:solidFill>
                <a:latin typeface="Calibri"/>
              </a:rPr>
              <a:t>The validity is not universal — it is conditional: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• model scale / competence (14B vs 72B)</a:t>
            </a:r>
            <a:r>
              <a:rPr lang="en-US" sz="1400" b="0" dirty="0">
                <a:solidFill>
                  <a:srgbClr val="5B6170"/>
                </a:solidFill>
                <a:latin typeface="Calibri"/>
              </a:rPr>
              <a:t>, this might be the biggest gap</a:t>
            </a:r>
            <a:endParaRPr sz="1400" b="0" dirty="0">
              <a:solidFill>
                <a:srgbClr val="5B617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• debate protocol (</a:t>
            </a:r>
            <a:r>
              <a:rPr lang="en-US" sz="1400" b="0" dirty="0">
                <a:solidFill>
                  <a:srgbClr val="5B6170"/>
                </a:solidFill>
                <a:latin typeface="Calibri"/>
              </a:rPr>
              <a:t>multi model/multi agent vs same model/multi agent, persona specific</a:t>
            </a:r>
            <a:r>
              <a:rPr sz="1400" b="0" dirty="0">
                <a:solidFill>
                  <a:srgbClr val="5B6170"/>
                </a:solidFill>
                <a:latin typeface="Calibri"/>
              </a:rPr>
              <a:t>)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• question difficulty</a:t>
            </a:r>
            <a:r>
              <a:rPr lang="en-US" sz="1400" dirty="0">
                <a:solidFill>
                  <a:srgbClr val="5B6170"/>
                </a:solidFill>
              </a:rPr>
              <a:t> (MMLU   vs GPQA)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endParaRPr sz="1400" b="0" dirty="0">
              <a:solidFill>
                <a:srgbClr val="5B617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latin typeface="Calibri"/>
              </a:rPr>
              <a:t>—</a:t>
            </a:r>
            <a:r>
              <a:rPr lang="en-US" sz="1400" b="0" dirty="0">
                <a:latin typeface="Calibri"/>
              </a:rPr>
              <a:t>Most debates didn’t improve correctness from round 1. 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400" dirty="0">
                <a:solidFill>
                  <a:srgbClr val="FF9F1C"/>
                </a:solidFill>
                <a:latin typeface="Calibri"/>
              </a:rPr>
              <a:t>-- </a:t>
            </a:r>
            <a:r>
              <a:rPr lang="en-US" sz="1400" dirty="0"/>
              <a:t>Knowledge-limited vs. reasoning-limited debates yield completely different process metric distributions</a:t>
            </a:r>
            <a:endParaRPr sz="1400" b="0" dirty="0">
              <a:solidFill>
                <a:srgbClr val="FF9F1C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356616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65506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 · Reframe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67128"/>
            <a:ext cx="3236976" cy="399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400" b="1" dirty="0">
                <a:solidFill>
                  <a:srgbClr val="16213E"/>
                </a:solidFill>
                <a:latin typeface="Calibri"/>
              </a:rPr>
              <a:t>Tried 3 different 14B model debate- crushed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400" b="1" dirty="0">
                <a:solidFill>
                  <a:srgbClr val="16213E"/>
                </a:solidFill>
                <a:latin typeface="Calibri"/>
              </a:rPr>
              <a:t>Tried 72B same model debate – crushed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endParaRPr lang="en-US" sz="1400" b="1" dirty="0">
              <a:solidFill>
                <a:srgbClr val="16213E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 dirty="0">
                <a:solidFill>
                  <a:srgbClr val="16213E"/>
                </a:solidFill>
                <a:latin typeface="Calibri"/>
              </a:rPr>
              <a:t>Hardware </a:t>
            </a:r>
            <a:r>
              <a:rPr lang="en-US" sz="1400" b="1" dirty="0">
                <a:solidFill>
                  <a:srgbClr val="16213E"/>
                </a:solidFill>
                <a:latin typeface="Calibri"/>
              </a:rPr>
              <a:t>constraint </a:t>
            </a:r>
            <a:r>
              <a:rPr sz="1400" b="1" dirty="0">
                <a:solidFill>
                  <a:srgbClr val="16213E"/>
                </a:solidFill>
                <a:latin typeface="Calibri"/>
              </a:rPr>
              <a:t>forces same-model debate. Turn that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constraint into the instrument: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endParaRPr sz="1400" b="0" dirty="0">
              <a:solidFill>
                <a:srgbClr val="5B617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 dirty="0">
                <a:solidFill>
                  <a:srgbClr val="16213E"/>
                </a:solidFill>
                <a:latin typeface="Calibri"/>
              </a:rPr>
              <a:t>Debate = a microscope that separates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2A9D8F"/>
                </a:solidFill>
                <a:latin typeface="Calibri"/>
              </a:rPr>
              <a:t>knowledge limits (shared, un-repairable) from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2A9D8F"/>
                </a:solidFill>
                <a:latin typeface="Calibri"/>
              </a:rPr>
              <a:t>reasoning limits (stochastic, partly repairable).</a:t>
            </a:r>
            <a:endParaRPr lang="en-US" sz="1400" b="1" dirty="0">
              <a:solidFill>
                <a:srgbClr val="2A9D8F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400" b="1" dirty="0">
                <a:solidFill>
                  <a:srgbClr val="2A9D8F"/>
                </a:solidFill>
                <a:latin typeface="Calibri"/>
              </a:rPr>
              <a:t>P</a:t>
            </a:r>
            <a:r>
              <a:rPr sz="1400" b="1" dirty="0">
                <a:solidFill>
                  <a:srgbClr val="2A9D8F"/>
                </a:solidFill>
                <a:latin typeface="Calibri"/>
              </a:rPr>
              <a:t>ilot: recovery 63% vs 13% by failure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170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B6170"/>
                </a:solidFill>
                <a:latin typeface="Calibri"/>
              </a:rPr>
              <a:t>Debate as Diagnosis — idea evolution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566928"/>
            <a:ext cx="11064240" cy="557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16213E"/>
                </a:solidFill>
                <a:latin typeface="Calibri"/>
              </a:rPr>
              <a:t>Why it breaks: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280160" cy="381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67004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670048" cy="4572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416" y="1609344"/>
            <a:ext cx="2395728" cy="644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Dataset</a:t>
            </a:r>
            <a:r>
              <a:rPr lang="en-US" sz="1500" b="1" dirty="0">
                <a:solidFill>
                  <a:srgbClr val="FFFFFF"/>
                </a:solidFill>
              </a:rPr>
              <a:t> Difficulty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2121408"/>
            <a:ext cx="2340864" cy="3132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16213E"/>
                </a:solidFill>
                <a:latin typeface="Calibri"/>
              </a:rPr>
              <a:t>MMLU</a:t>
            </a:r>
            <a:r>
              <a:rPr lang="en-US" sz="1400" b="0" dirty="0">
                <a:solidFill>
                  <a:srgbClr val="16213E"/>
                </a:solidFill>
                <a:latin typeface="Calibri"/>
              </a:rPr>
              <a:t> </a:t>
            </a:r>
            <a:r>
              <a:rPr sz="1400" b="0" dirty="0">
                <a:solidFill>
                  <a:srgbClr val="16213E"/>
                </a:solidFill>
                <a:latin typeface="Calibri"/>
              </a:rPr>
              <a:t>vs </a:t>
            </a:r>
            <a:r>
              <a:rPr lang="en-US" sz="1400" b="0" dirty="0">
                <a:solidFill>
                  <a:srgbClr val="16213E"/>
                </a:solidFill>
                <a:latin typeface="Calibri"/>
              </a:rPr>
              <a:t>MMLU-PRO &amp; </a:t>
            </a:r>
            <a:r>
              <a:rPr sz="1400" b="0" dirty="0">
                <a:solidFill>
                  <a:srgbClr val="16213E"/>
                </a:solidFill>
                <a:latin typeface="Calibri"/>
              </a:rPr>
              <a:t>GPQA behave differently.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GPQA sits near chance → metrics carry no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correctness signal at all.</a:t>
            </a:r>
            <a:endParaRPr lang="en-US" sz="1400" b="0" dirty="0">
              <a:solidFill>
                <a:srgbClr val="5B617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400" dirty="0">
                <a:solidFill>
                  <a:srgbClr val="16213E"/>
                </a:solidFill>
              </a:rPr>
              <a:t>Process signal is meaningful only where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400" dirty="0">
                <a:solidFill>
                  <a:srgbClr val="5B6170"/>
                </a:solidFill>
              </a:rPr>
              <a:t>questions are tractable for the agents;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400" dirty="0">
                <a:solidFill>
                  <a:srgbClr val="5B6170"/>
                </a:solidFill>
              </a:rPr>
              <a:t>beyond competence, churn = confusion.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endParaRPr sz="1400" b="0" dirty="0">
              <a:solidFill>
                <a:srgbClr val="5B6170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64992" y="1554480"/>
            <a:ext cx="267004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4992" y="1554480"/>
            <a:ext cx="2670048" cy="4572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1609344"/>
            <a:ext cx="2395728" cy="3248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FFFFFF"/>
                </a:solidFill>
                <a:highlight>
                  <a:srgbClr val="FF0000"/>
                </a:highlight>
                <a:latin typeface="Calibri"/>
              </a:rPr>
              <a:t>Model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121408"/>
            <a:ext cx="2340864" cy="1322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16213E"/>
                </a:solidFill>
                <a:latin typeface="Calibri"/>
              </a:rPr>
              <a:t>Paper used GPT-4o / Gemini / Qwen-72B.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At 14B the deliberation is weaker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and the link degrades / flips.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554480"/>
            <a:ext cx="267004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344" y="1554480"/>
            <a:ext cx="2670048" cy="4572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1609344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Debate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121408"/>
            <a:ext cx="2340864" cy="750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 dirty="0">
                <a:solidFill>
                  <a:srgbClr val="5B6170"/>
                </a:solidFill>
                <a:latin typeface="Calibri"/>
              </a:rPr>
              <a:t>Protocol changes the metric.</a:t>
            </a:r>
            <a:r>
              <a:rPr lang="en-US" sz="1400" b="0" dirty="0">
                <a:solidFill>
                  <a:srgbClr val="5B6170"/>
                </a:solidFill>
                <a:latin typeface="Calibri"/>
              </a:rPr>
              <a:t> Persona changes the metric dynamics as well</a:t>
            </a:r>
            <a:endParaRPr sz="1400" b="0" dirty="0">
              <a:solidFill>
                <a:srgbClr val="5B617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9848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170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B6170"/>
                </a:solidFill>
                <a:latin typeface="Calibri"/>
              </a:rPr>
              <a:t>Debate as Diagnosis — idea evolution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566928"/>
            <a:ext cx="11064240" cy="557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16213E"/>
                </a:solidFill>
                <a:latin typeface="Calibri"/>
              </a:rPr>
              <a:t>Diversity fixes the process; </a:t>
            </a:r>
            <a:r>
              <a:rPr lang="en-US" sz="3000" b="1" i="0" dirty="0">
                <a:solidFill>
                  <a:srgbClr val="16213E"/>
                </a:solidFill>
                <a:latin typeface="Calibri"/>
              </a:rPr>
              <a:t>Model </a:t>
            </a:r>
            <a:r>
              <a:rPr sz="3000" b="1" i="0" dirty="0">
                <a:solidFill>
                  <a:srgbClr val="16213E"/>
                </a:solidFill>
                <a:latin typeface="Calibri"/>
              </a:rPr>
              <a:t>competence sets its direction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434228"/>
              </p:ext>
            </p:extLst>
          </p:nvPr>
        </p:nvGraphicFramePr>
        <p:xfrm>
          <a:off x="548640" y="1600200"/>
          <a:ext cx="11091672" cy="181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Debate regime</a:t>
                      </a:r>
                    </a:p>
                  </a:txBody>
                  <a:tcPr marT="25400" marB="2540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Round-1 consensus</a:t>
                      </a:r>
                    </a:p>
                  </a:txBody>
                  <a:tcPr marT="25400" marB="2540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Deliberation</a:t>
                      </a:r>
                    </a:p>
                  </a:txBody>
                  <a:tcPr marT="25400" marB="2540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avg process → acc</a:t>
                      </a:r>
                    </a:p>
                  </a:txBody>
                  <a:tcPr marT="25400" marB="2540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T="25400" marB="25400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6213E"/>
                          </a:solidFill>
                          <a:latin typeface="Calibri"/>
                        </a:rPr>
                        <a:t>Same-model </a:t>
                      </a:r>
                      <a:r>
                        <a:rPr lang="en-US" sz="1300" b="0" dirty="0">
                          <a:solidFill>
                            <a:srgbClr val="16213E"/>
                          </a:solidFill>
                          <a:latin typeface="Calibri"/>
                        </a:rPr>
                        <a:t>debate</a:t>
                      </a:r>
                      <a:endParaRPr sz="1300" b="0" dirty="0">
                        <a:solidFill>
                          <a:srgbClr val="16213E"/>
                        </a:solidFill>
                        <a:latin typeface="Calibri"/>
                      </a:endParaRP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0.7 – 0.9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near-zero engagement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Calibri"/>
                        </a:rPr>
                        <a:t>ρ ≈ 0  (n.s.)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nothing to measure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6213E"/>
                          </a:solidFill>
                          <a:latin typeface="Calibri"/>
                        </a:rPr>
                        <a:t>Diverse but weak (</a:t>
                      </a:r>
                      <a:r>
                        <a:rPr lang="en-US" sz="1300" b="0" dirty="0">
                          <a:solidFill>
                            <a:srgbClr val="16213E"/>
                          </a:solidFill>
                          <a:latin typeface="Calibri"/>
                        </a:rPr>
                        <a:t>3B &amp; 7B due to hardware constrain)</a:t>
                      </a:r>
                      <a:endParaRPr sz="1300" b="0" dirty="0">
                        <a:solidFill>
                          <a:srgbClr val="16213E"/>
                        </a:solidFill>
                        <a:latin typeface="Calibri"/>
                      </a:endParaRP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3–4× higher (real debate)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Calibri"/>
                        </a:rPr>
                        <a:t>+0.16*  (eng/resp inverted)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churn = confusion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Strong model (14B faithful)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Calibri"/>
                        </a:rPr>
                        <a:t>+0.23*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paper's positive direction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5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Paper (GPT-4o / 72B, diverse)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213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Calibri"/>
                        </a:rPr>
                        <a:t>+0.69 – +0.76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6213E"/>
                          </a:solidFill>
                          <a:latin typeface="Calibri"/>
                        </a:rPr>
                        <a:t>the published regime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77639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213E"/>
                </a:solidFill>
                <a:latin typeface="Calibri"/>
              </a:rPr>
              <a:t>Two knobs, not one. </a:t>
            </a:r>
            <a:r>
              <a:rPr sz="1800" b="0" i="0">
                <a:solidFill>
                  <a:srgbClr val="16213E"/>
                </a:solidFill>
                <a:latin typeface="Calibri"/>
              </a:rPr>
              <a:t>Model diversity is necessary for genuine deliberation dynamics; model competence determines whether that deliberation points toward truth.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solidFill>
            <a:srgbClr val="E7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901184"/>
            <a:ext cx="10817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Implication for the paper's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13248"/>
            <a:ext cx="1076248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lang="en-US" sz="1500" dirty="0">
                <a:solidFill>
                  <a:srgbClr val="16213E"/>
                </a:solidFill>
              </a:rPr>
              <a:t>It is a regime-dependent correlation. </a:t>
            </a:r>
            <a:r>
              <a:rPr sz="1500" b="0" dirty="0">
                <a:solidFill>
                  <a:srgbClr val="16213E"/>
                </a:solidFill>
                <a:latin typeface="Calibri"/>
              </a:rPr>
              <a:t>The strong positive ρ requires diverse AND strong models (the paper's setup). Remove either — as any GPU-limited lab must — and the link is weak, null, or inverted. So it does not generalize across models, protocols, or difficulty levels.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170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B6170"/>
                </a:solidFill>
                <a:latin typeface="Calibri"/>
              </a:rPr>
              <a:t>Debate as Diagnosis — idea evolution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16213E"/>
                </a:solidFill>
                <a:latin typeface="Calibri"/>
              </a:rPr>
              <a:t>Turn the constraint into the instrument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28016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035040" cy="3903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dirty="0">
                <a:solidFill>
                  <a:srgbClr val="16213E"/>
                </a:solidFill>
                <a:latin typeface="Calibri"/>
              </a:rPr>
              <a:t>●  Hardware reality: </a:t>
            </a:r>
            <a:r>
              <a:rPr lang="en-US" sz="1700" b="1" dirty="0">
                <a:solidFill>
                  <a:srgbClr val="16213E"/>
                </a:solidFill>
                <a:latin typeface="Calibri"/>
              </a:rPr>
              <a:t>Tried 14B multi model multi agent debate , crushed multi times. 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dirty="0">
                <a:solidFill>
                  <a:srgbClr val="16213E"/>
                </a:solidFill>
                <a:latin typeface="Calibri"/>
              </a:rPr>
              <a:t>●  Instead of fighting the constraint, make it the design: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dirty="0">
                <a:solidFill>
                  <a:srgbClr val="2A9D8F"/>
                </a:solidFill>
                <a:latin typeface="Calibri"/>
              </a:rPr>
              <a:t>    –  study SAME-MODEL 3-agent debate as a measurement instrument.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dirty="0">
                <a:solidFill>
                  <a:srgbClr val="16213E"/>
                </a:solidFill>
                <a:latin typeface="Calibri"/>
              </a:rPr>
              <a:t>●  The earlier “failures” become the signal: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dirty="0">
                <a:solidFill>
                  <a:srgbClr val="5B6170"/>
                </a:solidFill>
                <a:latin typeface="Calibri"/>
              </a:rPr>
              <a:t>    –  unanimous-wrong = a shared knowledge blind spot;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dirty="0">
                <a:solidFill>
                  <a:srgbClr val="5B6170"/>
                </a:solidFill>
                <a:latin typeface="Calibri"/>
              </a:rPr>
              <a:t>    –  high engagement/churn → wrong = reasoning instability, not quality.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dirty="0">
                <a:solidFill>
                  <a:srgbClr val="16213E"/>
                </a:solidFill>
                <a:latin typeface="Calibri"/>
              </a:rPr>
              <a:t>●  New framing: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dirty="0">
                <a:solidFill>
                  <a:srgbClr val="2A9D8F"/>
                </a:solidFill>
                <a:latin typeface="Calibri"/>
              </a:rPr>
              <a:t>    –  Debate as an inference-time microscope — diagnosis, not an accuracy booster.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554480"/>
            <a:ext cx="4709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03720" y="1554480"/>
            <a:ext cx="4709160" cy="4572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1609344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8312" y="2121408"/>
            <a:ext cx="437997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16213E"/>
                </a:solidFill>
                <a:latin typeface="Calibri"/>
              </a:rPr>
              <a:t>Can same-model multi-agent debate quantify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0">
                <a:solidFill>
                  <a:srgbClr val="5B6170"/>
                </a:solidFill>
                <a:latin typeface="Calibri"/>
              </a:rPr>
              <a:t>and SEPARATE two failure modes — knowledge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0">
                <a:solidFill>
                  <a:srgbClr val="5B6170"/>
                </a:solidFill>
                <a:latin typeface="Calibri"/>
              </a:rPr>
              <a:t>vs reasoning — better than single-shot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0">
                <a:solidFill>
                  <a:srgbClr val="5B6170"/>
                </a:solidFill>
                <a:latin typeface="Calibri"/>
              </a:rPr>
              <a:t>estimation?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3794760"/>
            <a:ext cx="4709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03720" y="3794760"/>
            <a:ext cx="470916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0" y="3849624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Central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4361688"/>
            <a:ext cx="437997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1" dirty="0">
                <a:solidFill>
                  <a:srgbClr val="16213E"/>
                </a:solidFill>
                <a:latin typeface="Calibri"/>
              </a:rPr>
              <a:t>Debate repairs STOCHASTIC reasoning errors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0" dirty="0">
                <a:solidFill>
                  <a:srgbClr val="5B6170"/>
                </a:solidFill>
                <a:latin typeface="Calibri"/>
              </a:rPr>
              <a:t>(idiosyncratic per clone) but not SHARED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0" dirty="0">
                <a:solidFill>
                  <a:srgbClr val="5B6170"/>
                </a:solidFill>
                <a:latin typeface="Calibri"/>
              </a:rPr>
              <a:t>knowledge gaps (systematic across clones).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1" dirty="0">
                <a:solidFill>
                  <a:srgbClr val="16213E"/>
                </a:solidFill>
                <a:latin typeface="Calibri"/>
              </a:rPr>
              <a:t>So the dynamics reveal which limitation binds.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1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6213E"/>
                </a:solidFill>
                <a:latin typeface="Calibri"/>
              </a:rPr>
              <a:t>Knowledge vs reasoning: mechanism → measurement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E7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Knowledge-limited (shared)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21408"/>
            <a:ext cx="515721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16213E"/>
                </a:solidFill>
                <a:latin typeface="Calibri"/>
              </a:rPr>
              <a:t>Same weights → same missing fact in every clone.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0">
                <a:solidFill>
                  <a:srgbClr val="5B6170"/>
                </a:solidFill>
                <a:latin typeface="Calibri"/>
              </a:rPr>
              <a:t>Failure is systematic and correlated.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E71D36"/>
                </a:solidFill>
                <a:latin typeface="Calibri"/>
              </a:rPr>
              <a:t>→ debate CANNOT repair it: agents agree on the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0">
                <a:solidFill>
                  <a:srgbClr val="5B6170"/>
                </a:solidFill>
                <a:latin typeface="Calibri"/>
              </a:rPr>
              <a:t>   wrong answer; correct option never appears.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46811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468112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609344"/>
            <a:ext cx="5193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Reasoning-limited (stochastic)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121408"/>
            <a:ext cx="513892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16213E"/>
                </a:solidFill>
                <a:latin typeface="Calibri"/>
              </a:rPr>
              <a:t>Temperature → different chains → different slips.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0">
                <a:solidFill>
                  <a:srgbClr val="5B6170"/>
                </a:solidFill>
                <a:latin typeface="Calibri"/>
              </a:rPr>
              <a:t>Failure is idiosyncratic across clones.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→ debate CAN partially repair it: some clone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500" b="0">
                <a:solidFill>
                  <a:srgbClr val="5B6170"/>
                </a:solidFill>
                <a:latin typeface="Calibri"/>
              </a:rPr>
              <a:t>   reaches the correct answer; it can win.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91672" cy="1828800"/>
          </a:xfrm>
          <a:prstGeom prst="rect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6213E"/>
                </a:solidFill>
                <a:latin typeface="Calibri"/>
              </a:rPr>
              <a:t>Operationalization (round-level labels).  </a:t>
            </a:r>
            <a:r>
              <a:rPr sz="1500" b="0" i="0">
                <a:solidFill>
                  <a:srgbClr val="16213E"/>
                </a:solidFill>
                <a:latin typeface="Calibri"/>
              </a:rPr>
              <a:t>Each debate logs per round: </a:t>
            </a:r>
            <a:r>
              <a:rPr sz="1500" b="1" i="0">
                <a:solidFill>
                  <a:srgbClr val="2EC4B6"/>
                </a:solidFill>
                <a:latin typeface="Calibri"/>
              </a:rPr>
              <a:t>n_correct_agents</a:t>
            </a:r>
            <a:r>
              <a:rPr sz="1500" b="0" i="0">
                <a:solidFill>
                  <a:srgbClr val="16213E"/>
                </a:solidFill>
                <a:latin typeface="Calibri"/>
              </a:rPr>
              <a:t>  and  </a:t>
            </a:r>
            <a:r>
              <a:rPr sz="1500" b="1" i="0">
                <a:solidFill>
                  <a:srgbClr val="2EC4B6"/>
                </a:solidFill>
                <a:latin typeface="Calibri"/>
              </a:rPr>
              <a:t>correct_in_round_pool</a:t>
            </a:r>
            <a:r>
              <a:rPr sz="1500" b="0" i="0">
                <a:solidFill>
                  <a:srgbClr val="16213E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6213E"/>
                </a:solidFill>
                <a:latin typeface="Calibri"/>
              </a:rPr>
              <a:t>•  knowledge-limited  =  correct_in_round_pool == 0 for every round  (debate cannot create the answer).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6213E"/>
                </a:solidFill>
                <a:latin typeface="Calibri"/>
              </a:rPr>
              <a:t>•  reasoning-limited  =  correct answer present in some round, but not the final majority vote.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170"/>
                </a:solidFill>
                <a:latin typeface="Calibri"/>
              </a:rPr>
              <a:t>Ground truth via a double-intervention 2×2: +Knowledge (inject gold facts) × +Reasoning (supply a CoT scaffold). Whichever fixes it names the binding constraint.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170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B6170"/>
                </a:solidFill>
                <a:latin typeface="Calibri"/>
              </a:rPr>
              <a:t>Debate as Diagnosis — idea evolution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6213E"/>
                </a:solidFill>
                <a:latin typeface="Calibri"/>
              </a:rPr>
              <a:t>Dynamics separate the modes where confidence can't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749808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Feature (initially wrong)</a:t>
                      </a:r>
                    </a:p>
                  </a:txBody>
                  <a:tcPr marT="25400" marB="2540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Knowledge</a:t>
                      </a:r>
                    </a:p>
                  </a:txBody>
                  <a:tcPr marT="25400" marB="2540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Reasoning</a:t>
                      </a:r>
                    </a:p>
                  </a:txBody>
                  <a:tcPr marT="25400" marB="2540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MWU p</a:t>
                      </a:r>
                    </a:p>
                  </a:txBody>
                  <a:tcPr marT="25400" marB="25400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Mean initial confidence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0.799 / 0.827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0.765 / 0.809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A9D8F"/>
                          </a:solidFill>
                          <a:latin typeface="Calibri"/>
                        </a:rPr>
                        <a:t>0.30 / 0.06 (n.s.)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Answer switches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0.78 / 0.33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4.72 / 5.04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A9D8F"/>
                          </a:solidFill>
                          <a:latin typeface="Calibri"/>
                        </a:rPr>
                        <a:t>1e-39 / 3e-32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Oscillation (A→B→A)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0.18 / 0.13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1.96 / 2.48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A9D8F"/>
                          </a:solidFill>
                          <a:latin typeface="Calibri"/>
                        </a:rPr>
                        <a:t>9e-22 / 5e-21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528"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16213E"/>
                          </a:solidFill>
                          <a:latin typeface="Calibri"/>
                        </a:rPr>
                        <a:t>Rounds to consensus τ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1.0 / 1.0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13E"/>
                          </a:solidFill>
                          <a:latin typeface="Calibri"/>
                        </a:rPr>
                        <a:t>3.4 / 3.6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dirty="0">
                          <a:solidFill>
                            <a:srgbClr val="2A9D8F"/>
                          </a:solidFill>
                          <a:latin typeface="Calibri"/>
                        </a:rPr>
                        <a:t>2e-68 / 1e-40</a:t>
                      </a:r>
                    </a:p>
                  </a:txBody>
                  <a:tcPr marT="12700" marB="12700">
                    <a:solidFill>
                      <a:srgbClr val="EF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2900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6213E"/>
                </a:solidFill>
                <a:latin typeface="Calibri"/>
              </a:rPr>
              <a:t>Confidence is flat across modes (p n.s.); the process dynamics split them at p ≈ 1e-20 to 1e-68. That gap is the value-add of debate over single-shot.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170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B6170"/>
                </a:solidFill>
                <a:latin typeface="Calibri"/>
              </a:rPr>
              <a:t>Debate as Diagnosis — idea evolution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6213E"/>
                </a:solidFill>
                <a:latin typeface="Calibri"/>
              </a:rPr>
              <a:t>Current work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844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84448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3310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Running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21408"/>
            <a:ext cx="3255264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>
                <a:solidFill>
                  <a:srgbClr val="16213E"/>
                </a:solidFill>
                <a:latin typeface="Calibri"/>
              </a:rPr>
              <a:t>Same-model NEUTRAL 3-agent debate,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300 questions (MMLU / MMLU-Pro / GPQA),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5 rounds, majority vote, no judge.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endParaRPr sz="1400" b="0">
              <a:solidFill>
                <a:srgbClr val="5B617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>
                <a:solidFill>
                  <a:srgbClr val="16213E"/>
                </a:solidFill>
                <a:latin typeface="Calibri"/>
              </a:rPr>
              <a:t>Logs every round: answer, confidence,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Changed?, Reason-for-change taxonomy,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and KKK / CKK / CCK / CCC change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844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84448" cy="4572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609344"/>
            <a:ext cx="3310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Next: causal ground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121408"/>
            <a:ext cx="3255264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>
                <a:solidFill>
                  <a:srgbClr val="16213E"/>
                </a:solidFill>
                <a:latin typeface="Calibri"/>
              </a:rPr>
              <a:t>Double-intervention 2×2 on the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correct-absent subset (132 qs):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+gold facts × +reasoning scaffold.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endParaRPr sz="1400" b="0">
              <a:solidFill>
                <a:srgbClr val="5B617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>
                <a:solidFill>
                  <a:srgbClr val="16213E"/>
                </a:solidFill>
                <a:latin typeface="Calibri"/>
              </a:rPr>
              <a:t>Turns proxy labels into causal labels;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re-runs the debate-vs-sampling gate.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5844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584448" cy="4572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609344"/>
            <a:ext cx="3310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Ablations — by spec, by difficulty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121408"/>
            <a:ext cx="3255264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>
                <a:solidFill>
                  <a:srgbClr val="16213E"/>
                </a:solidFill>
                <a:latin typeface="Calibri"/>
              </a:rPr>
              <a:t>Roles (Proposer/Skeptic/Arbiter) vs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neutral symmetric.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Difficulty strata × dataset.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endParaRPr sz="1400" b="0">
              <a:solidFill>
                <a:srgbClr val="5B617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1">
                <a:solidFill>
                  <a:srgbClr val="16213E"/>
                </a:solidFill>
                <a:latin typeface="Calibri"/>
              </a:rPr>
              <a:t>Show explicitly how process-metric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distributions shift with spec and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170"/>
                </a:solidFill>
                <a:latin typeface="Calibri"/>
              </a:rPr>
              <a:t>difficulty — the paper's blind spot.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1091672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32180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Contribution: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re-cast a fragile correctness-correlation as a robust, generalizing diagnosis of WHY a model fails — knowledge vs reasoning — from same-model debate dynamics.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19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170"/>
                </a:solidFill>
                <a:latin typeface="Calibri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B6170"/>
                </a:solidFill>
                <a:latin typeface="Calibri"/>
              </a:rPr>
              <a:t>Debate as Diagnosis — idea evolution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solidFill>
            <a:schemeClr val="tx1"/>
          </a:solidFill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881360" cy="250248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0" dirty="0">
                <a:solidFill>
                  <a:srgbClr val="FFFFFF"/>
                </a:solidFill>
                <a:latin typeface="Calibri"/>
              </a:rPr>
              <a:t>▸  That link is regime-dependent: it needs diverse AND strong models, tractable questions, and a genuinely adversarial protocol. It is dataset-, protocol- and difficulty-specific.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0" dirty="0">
                <a:solidFill>
                  <a:srgbClr val="FFFFFF"/>
                </a:solidFill>
                <a:latin typeface="Calibri"/>
              </a:rPr>
              <a:t>▸  Process-metric distributions shift systematically with difficulty and debate spec — the averaged ρ hides sign flips across regimes.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 dirty="0">
                <a:solidFill>
                  <a:srgbClr val="2EC4B6"/>
                </a:solidFill>
                <a:latin typeface="Calibri"/>
              </a:rPr>
              <a:t>▸  Reframe: same-model debate as an inference-time microscope. It separates shared knowledge gaps (un-repairable) from stochastic reasoning slips (repairable).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endParaRPr sz="1700" b="0" dirty="0">
              <a:solidFill>
                <a:srgbClr val="FF9F1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EA290-E7A8-CA61-60E6-AE04FC0C8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1460"/>
            <a:ext cx="12192000" cy="441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6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1229</Words>
  <Application>Microsoft Office PowerPoint</Application>
  <PresentationFormat>Widescreen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Zeng, Angie</cp:lastModifiedBy>
  <cp:revision>4</cp:revision>
  <dcterms:created xsi:type="dcterms:W3CDTF">2013-01-27T09:14:16Z</dcterms:created>
  <dcterms:modified xsi:type="dcterms:W3CDTF">2026-07-31T02:45:50Z</dcterms:modified>
  <cp:category/>
</cp:coreProperties>
</file>