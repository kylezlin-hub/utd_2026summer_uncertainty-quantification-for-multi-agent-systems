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9" r:id="rId9"/>
    <p:sldId id="263" r:id="rId10"/>
    <p:sldId id="264" r:id="rId11"/>
    <p:sldId id="270" r:id="rId12"/>
    <p:sldId id="275" r:id="rId13"/>
    <p:sldId id="277" r:id="rId14"/>
    <p:sldId id="286" r:id="rId15"/>
    <p:sldId id="287" r:id="rId16"/>
    <p:sldId id="280" r:id="rId17"/>
    <p:sldId id="282" r:id="rId18"/>
    <p:sldId id="284" r:id="rId19"/>
    <p:sldId id="285" r:id="rId20"/>
    <p:sldId id="266" r:id="rId21"/>
    <p:sldId id="268" r:id="rId22"/>
    <p:sldId id="291" r:id="rId23"/>
    <p:sldId id="293" r:id="rId24"/>
    <p:sldId id="294" r:id="rId25"/>
    <p:sldId id="298" r:id="rId26"/>
    <p:sldId id="299" r:id="rId27"/>
    <p:sldId id="295" r:id="rId28"/>
    <p:sldId id="296" r:id="rId29"/>
    <p:sldId id="297" r:id="rId30"/>
    <p:sldId id="302" r:id="rId31"/>
    <p:sldId id="303" r:id="rId32"/>
    <p:sldId id="304" r:id="rId33"/>
    <p:sldId id="305" r:id="rId34"/>
    <p:sldId id="300" r:id="rId35"/>
    <p:sldId id="301" r:id="rId36"/>
    <p:sldId id="292" r:id="rId37"/>
    <p:sldId id="288" r:id="rId38"/>
    <p:sldId id="289" r:id="rId39"/>
    <p:sldId id="290"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44EDF5-39BD-4571-A191-B9ABB9C6EC3B}" type="datetimeFigureOut">
              <a:rPr lang="en-US" smtClean="0"/>
              <a:t>7/10/2026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73AA0-BAB9-40D3-8292-45553CD55C18}" type="slidenum">
              <a:rPr lang="en-US" smtClean="0"/>
              <a:t>‹#›</a:t>
            </a:fld>
            <a:endParaRPr lang="en-US"/>
          </a:p>
        </p:txBody>
      </p:sp>
    </p:spTree>
    <p:extLst>
      <p:ext uri="{BB962C8B-B14F-4D97-AF65-F5344CB8AC3E}">
        <p14:creationId xmlns:p14="http://schemas.microsoft.com/office/powerpoint/2010/main" val="1030325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9B34-F067-803B-4C74-B6F31C20C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B467B-E371-3B98-B09E-8A063F28F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8DB20-6D2F-6418-85DD-ACC5546688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AAD6C3-9A56-68EA-6A8A-6666BFC037F4}"/>
              </a:ext>
            </a:extLst>
          </p:cNvPr>
          <p:cNvSpPr>
            <a:spLocks noGrp="1"/>
          </p:cNvSpPr>
          <p:nvPr>
            <p:ph type="sldNum" sz="quarter" idx="5"/>
          </p:nvPr>
        </p:nvSpPr>
        <p:spPr/>
        <p:txBody>
          <a:bodyPr/>
          <a:lstStyle/>
          <a:p>
            <a:fld id="{CEA73AA0-BAB9-40D3-8292-45553CD55C18}" type="slidenum">
              <a:rPr lang="en-US" smtClean="0"/>
              <a:t>23</a:t>
            </a:fld>
            <a:endParaRPr lang="en-US"/>
          </a:p>
        </p:txBody>
      </p:sp>
    </p:spTree>
    <p:extLst>
      <p:ext uri="{BB962C8B-B14F-4D97-AF65-F5344CB8AC3E}">
        <p14:creationId xmlns:p14="http://schemas.microsoft.com/office/powerpoint/2010/main" val="471003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24BCD-5DF4-4568-1708-C78612B96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467FD-FB48-D7F5-E1D9-8D31FA405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089AB-1595-4064-7D69-860CE55932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63927B-EEE8-EA57-28FB-74CD991DE021}"/>
              </a:ext>
            </a:extLst>
          </p:cNvPr>
          <p:cNvSpPr>
            <a:spLocks noGrp="1"/>
          </p:cNvSpPr>
          <p:nvPr>
            <p:ph type="sldNum" sz="quarter" idx="5"/>
          </p:nvPr>
        </p:nvSpPr>
        <p:spPr/>
        <p:txBody>
          <a:bodyPr/>
          <a:lstStyle/>
          <a:p>
            <a:fld id="{CEA73AA0-BAB9-40D3-8292-45553CD55C18}" type="slidenum">
              <a:rPr lang="en-US" smtClean="0"/>
              <a:t>24</a:t>
            </a:fld>
            <a:endParaRPr lang="en-US"/>
          </a:p>
        </p:txBody>
      </p:sp>
    </p:spTree>
    <p:extLst>
      <p:ext uri="{BB962C8B-B14F-4D97-AF65-F5344CB8AC3E}">
        <p14:creationId xmlns:p14="http://schemas.microsoft.com/office/powerpoint/2010/main" val="2480332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EDF0-9A1B-C50D-2018-62AE5F20E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A2453-5262-E09E-0F35-6B7728859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4F66C-8467-61AA-A4AF-828EB4B25D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105E58-B20C-FC48-081D-4BBE4585FA49}"/>
              </a:ext>
            </a:extLst>
          </p:cNvPr>
          <p:cNvSpPr>
            <a:spLocks noGrp="1"/>
          </p:cNvSpPr>
          <p:nvPr>
            <p:ph type="sldNum" sz="quarter" idx="5"/>
          </p:nvPr>
        </p:nvSpPr>
        <p:spPr/>
        <p:txBody>
          <a:bodyPr/>
          <a:lstStyle/>
          <a:p>
            <a:fld id="{CEA73AA0-BAB9-40D3-8292-45553CD55C18}" type="slidenum">
              <a:rPr lang="en-US" smtClean="0"/>
              <a:t>25</a:t>
            </a:fld>
            <a:endParaRPr lang="en-US"/>
          </a:p>
        </p:txBody>
      </p:sp>
    </p:spTree>
    <p:extLst>
      <p:ext uri="{BB962C8B-B14F-4D97-AF65-F5344CB8AC3E}">
        <p14:creationId xmlns:p14="http://schemas.microsoft.com/office/powerpoint/2010/main" val="1454098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64E67-7EC4-296C-2CA3-BE97189EB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96419-B9EF-1E1C-5228-2A5268FC23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D29B1-A203-8ECE-7373-690F1DBED1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071662-24E3-0377-7994-CC794184C337}"/>
              </a:ext>
            </a:extLst>
          </p:cNvPr>
          <p:cNvSpPr>
            <a:spLocks noGrp="1"/>
          </p:cNvSpPr>
          <p:nvPr>
            <p:ph type="sldNum" sz="quarter" idx="5"/>
          </p:nvPr>
        </p:nvSpPr>
        <p:spPr/>
        <p:txBody>
          <a:bodyPr/>
          <a:lstStyle/>
          <a:p>
            <a:fld id="{CEA73AA0-BAB9-40D3-8292-45553CD55C18}" type="slidenum">
              <a:rPr lang="en-US" smtClean="0"/>
              <a:t>26</a:t>
            </a:fld>
            <a:endParaRPr lang="en-US"/>
          </a:p>
        </p:txBody>
      </p:sp>
    </p:spTree>
    <p:extLst>
      <p:ext uri="{BB962C8B-B14F-4D97-AF65-F5344CB8AC3E}">
        <p14:creationId xmlns:p14="http://schemas.microsoft.com/office/powerpoint/2010/main" val="4037317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170FD-C716-CD80-1C82-8B509DF59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3A41F-56FB-0015-FBDF-99E573891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8FE67-CFCA-0EA6-F0CE-9A6305B2FD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94030E-4CCC-896F-4A8D-0CA029C66B16}"/>
              </a:ext>
            </a:extLst>
          </p:cNvPr>
          <p:cNvSpPr>
            <a:spLocks noGrp="1"/>
          </p:cNvSpPr>
          <p:nvPr>
            <p:ph type="sldNum" sz="quarter" idx="5"/>
          </p:nvPr>
        </p:nvSpPr>
        <p:spPr/>
        <p:txBody>
          <a:bodyPr/>
          <a:lstStyle/>
          <a:p>
            <a:fld id="{CEA73AA0-BAB9-40D3-8292-45553CD55C18}" type="slidenum">
              <a:rPr lang="en-US" smtClean="0"/>
              <a:t>27</a:t>
            </a:fld>
            <a:endParaRPr lang="en-US"/>
          </a:p>
        </p:txBody>
      </p:sp>
    </p:spTree>
    <p:extLst>
      <p:ext uri="{BB962C8B-B14F-4D97-AF65-F5344CB8AC3E}">
        <p14:creationId xmlns:p14="http://schemas.microsoft.com/office/powerpoint/2010/main" val="3129268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EB90-D57E-C6AA-6C6F-8F5EF9A7D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3B720-59C5-36E4-C33B-28E42BB65E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AE7B5-B5C5-E49C-0FAF-74805A3393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3BD2D1-4B32-A88A-28B0-74CF35140264}"/>
              </a:ext>
            </a:extLst>
          </p:cNvPr>
          <p:cNvSpPr>
            <a:spLocks noGrp="1"/>
          </p:cNvSpPr>
          <p:nvPr>
            <p:ph type="sldNum" sz="quarter" idx="5"/>
          </p:nvPr>
        </p:nvSpPr>
        <p:spPr/>
        <p:txBody>
          <a:bodyPr/>
          <a:lstStyle/>
          <a:p>
            <a:fld id="{CEA73AA0-BAB9-40D3-8292-45553CD55C18}" type="slidenum">
              <a:rPr lang="en-US" smtClean="0"/>
              <a:t>28</a:t>
            </a:fld>
            <a:endParaRPr lang="en-US"/>
          </a:p>
        </p:txBody>
      </p:sp>
    </p:spTree>
    <p:extLst>
      <p:ext uri="{BB962C8B-B14F-4D97-AF65-F5344CB8AC3E}">
        <p14:creationId xmlns:p14="http://schemas.microsoft.com/office/powerpoint/2010/main" val="2744191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35A55-47C6-E072-9819-2574BCFEC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732D3-421B-0380-1B6F-80E8B3174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34682F-AF27-4403-C84E-24F7DF1606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C5DCB6-03AA-8096-888D-46771FE97B31}"/>
              </a:ext>
            </a:extLst>
          </p:cNvPr>
          <p:cNvSpPr>
            <a:spLocks noGrp="1"/>
          </p:cNvSpPr>
          <p:nvPr>
            <p:ph type="sldNum" sz="quarter" idx="5"/>
          </p:nvPr>
        </p:nvSpPr>
        <p:spPr/>
        <p:txBody>
          <a:bodyPr/>
          <a:lstStyle/>
          <a:p>
            <a:fld id="{CEA73AA0-BAB9-40D3-8292-45553CD55C18}" type="slidenum">
              <a:rPr lang="en-US" smtClean="0"/>
              <a:t>30</a:t>
            </a:fld>
            <a:endParaRPr lang="en-US"/>
          </a:p>
        </p:txBody>
      </p:sp>
    </p:spTree>
    <p:extLst>
      <p:ext uri="{BB962C8B-B14F-4D97-AF65-F5344CB8AC3E}">
        <p14:creationId xmlns:p14="http://schemas.microsoft.com/office/powerpoint/2010/main" val="315269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0A57-4275-0809-FEB0-26AC24A2A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CD638-1F19-71B1-89AB-00063B474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3F274-8EDB-F176-2B4F-3AB1D4AB77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58CAE7-3151-C3C6-517E-DAEC25951D6E}"/>
              </a:ext>
            </a:extLst>
          </p:cNvPr>
          <p:cNvSpPr>
            <a:spLocks noGrp="1"/>
          </p:cNvSpPr>
          <p:nvPr>
            <p:ph type="sldNum" sz="quarter" idx="5"/>
          </p:nvPr>
        </p:nvSpPr>
        <p:spPr/>
        <p:txBody>
          <a:bodyPr/>
          <a:lstStyle/>
          <a:p>
            <a:fld id="{CEA73AA0-BAB9-40D3-8292-45553CD55C18}" type="slidenum">
              <a:rPr lang="en-US" smtClean="0"/>
              <a:t>31</a:t>
            </a:fld>
            <a:endParaRPr lang="en-US"/>
          </a:p>
        </p:txBody>
      </p:sp>
    </p:spTree>
    <p:extLst>
      <p:ext uri="{BB962C8B-B14F-4D97-AF65-F5344CB8AC3E}">
        <p14:creationId xmlns:p14="http://schemas.microsoft.com/office/powerpoint/2010/main" val="3706838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0FD5C-9BE8-64FC-BD6C-33606355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09E25-C9C0-E9F1-7CE9-43939F94C5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08D4C-F43A-115F-1F1D-D2DFF80DB2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6B34CE-7FF5-107B-51E0-583D9FC520DC}"/>
              </a:ext>
            </a:extLst>
          </p:cNvPr>
          <p:cNvSpPr>
            <a:spLocks noGrp="1"/>
          </p:cNvSpPr>
          <p:nvPr>
            <p:ph type="sldNum" sz="quarter" idx="5"/>
          </p:nvPr>
        </p:nvSpPr>
        <p:spPr/>
        <p:txBody>
          <a:bodyPr/>
          <a:lstStyle/>
          <a:p>
            <a:fld id="{CEA73AA0-BAB9-40D3-8292-45553CD55C18}" type="slidenum">
              <a:rPr lang="en-US" smtClean="0"/>
              <a:t>32</a:t>
            </a:fld>
            <a:endParaRPr lang="en-US"/>
          </a:p>
        </p:txBody>
      </p:sp>
    </p:spTree>
    <p:extLst>
      <p:ext uri="{BB962C8B-B14F-4D97-AF65-F5344CB8AC3E}">
        <p14:creationId xmlns:p14="http://schemas.microsoft.com/office/powerpoint/2010/main" val="962853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5366E-8E25-923F-6D57-623647D53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B95B9-F6E0-5E35-8F37-0BAA0E1CB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EB03E-4FED-E6FB-8EEE-82C3D508E4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1D4EF1-8C43-4787-3884-ACE4B5006A92}"/>
              </a:ext>
            </a:extLst>
          </p:cNvPr>
          <p:cNvSpPr>
            <a:spLocks noGrp="1"/>
          </p:cNvSpPr>
          <p:nvPr>
            <p:ph type="sldNum" sz="quarter" idx="5"/>
          </p:nvPr>
        </p:nvSpPr>
        <p:spPr/>
        <p:txBody>
          <a:bodyPr/>
          <a:lstStyle/>
          <a:p>
            <a:fld id="{CEA73AA0-BAB9-40D3-8292-45553CD55C18}" type="slidenum">
              <a:rPr lang="en-US" smtClean="0"/>
              <a:t>33</a:t>
            </a:fld>
            <a:endParaRPr lang="en-US"/>
          </a:p>
        </p:txBody>
      </p:sp>
    </p:spTree>
    <p:extLst>
      <p:ext uri="{BB962C8B-B14F-4D97-AF65-F5344CB8AC3E}">
        <p14:creationId xmlns:p14="http://schemas.microsoft.com/office/powerpoint/2010/main" val="690145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7C899-E3B8-FAAD-BB65-0CEA33E51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B2D43-434D-397C-070E-65AAB181B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85BF09-1B4C-A812-A27D-B7A5B2884B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16CF8F-EC40-1A03-F351-47A2924488D2}"/>
              </a:ext>
            </a:extLst>
          </p:cNvPr>
          <p:cNvSpPr>
            <a:spLocks noGrp="1"/>
          </p:cNvSpPr>
          <p:nvPr>
            <p:ph type="sldNum" sz="quarter" idx="5"/>
          </p:nvPr>
        </p:nvSpPr>
        <p:spPr/>
        <p:txBody>
          <a:bodyPr/>
          <a:lstStyle/>
          <a:p>
            <a:fld id="{CEA73AA0-BAB9-40D3-8292-45553CD55C18}" type="slidenum">
              <a:rPr lang="en-US" smtClean="0"/>
              <a:t>34</a:t>
            </a:fld>
            <a:endParaRPr lang="en-US"/>
          </a:p>
        </p:txBody>
      </p:sp>
    </p:spTree>
    <p:extLst>
      <p:ext uri="{BB962C8B-B14F-4D97-AF65-F5344CB8AC3E}">
        <p14:creationId xmlns:p14="http://schemas.microsoft.com/office/powerpoint/2010/main" val="2620417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174D-F3E9-AB62-5BE7-C1A0EF164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C09DB-5AAC-CD69-5774-092769579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A6E45-0E23-D02E-AE3E-61E1E262C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2507EE-E77B-0870-986E-2EC3379891EF}"/>
              </a:ext>
            </a:extLst>
          </p:cNvPr>
          <p:cNvSpPr>
            <a:spLocks noGrp="1"/>
          </p:cNvSpPr>
          <p:nvPr>
            <p:ph type="sldNum" sz="quarter" idx="5"/>
          </p:nvPr>
        </p:nvSpPr>
        <p:spPr/>
        <p:txBody>
          <a:bodyPr/>
          <a:lstStyle/>
          <a:p>
            <a:fld id="{CEA73AA0-BAB9-40D3-8292-45553CD55C18}" type="slidenum">
              <a:rPr lang="en-US" smtClean="0"/>
              <a:t>35</a:t>
            </a:fld>
            <a:endParaRPr lang="en-US"/>
          </a:p>
        </p:txBody>
      </p:sp>
    </p:spTree>
    <p:extLst>
      <p:ext uri="{BB962C8B-B14F-4D97-AF65-F5344CB8AC3E}">
        <p14:creationId xmlns:p14="http://schemas.microsoft.com/office/powerpoint/2010/main" val="686819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A73AA0-BAB9-40D3-8292-45553CD55C18}" type="slidenum">
              <a:rPr lang="en-US" smtClean="0"/>
              <a:t>37</a:t>
            </a:fld>
            <a:endParaRPr lang="en-US"/>
          </a:p>
        </p:txBody>
      </p:sp>
    </p:spTree>
    <p:extLst>
      <p:ext uri="{BB962C8B-B14F-4D97-AF65-F5344CB8AC3E}">
        <p14:creationId xmlns:p14="http://schemas.microsoft.com/office/powerpoint/2010/main" val="3183518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Adaptive Influence Balancing for Multi-Agent LLM Debates</a:t>
            </a:r>
          </a:p>
        </p:txBody>
      </p:sp>
      <p:sp>
        <p:nvSpPr>
          <p:cNvPr id="3" name="Subtitle 2"/>
          <p:cNvSpPr>
            <a:spLocks noGrp="1"/>
          </p:cNvSpPr>
          <p:nvPr>
            <p:ph type="subTitle" idx="1"/>
          </p:nvPr>
        </p:nvSpPr>
        <p:spPr>
          <a:xfrm>
            <a:off x="1371600" y="3886200"/>
            <a:ext cx="6899004" cy="1752600"/>
          </a:xfrm>
        </p:spPr>
        <p:txBody>
          <a:bodyPr>
            <a:normAutofit fontScale="70000" lnSpcReduction="20000"/>
          </a:bodyPr>
          <a:lstStyle/>
          <a:p>
            <a:r>
              <a:rPr dirty="0"/>
              <a:t>Extending Process-Based Diagnostics into Debate Control</a:t>
            </a:r>
          </a:p>
          <a:p>
            <a:r>
              <a:rPr lang="en-US" dirty="0"/>
              <a:t>Kyle Lin - </a:t>
            </a:r>
            <a:r>
              <a:rPr dirty="0"/>
              <a:t>Summer Research Proposal – 2026</a:t>
            </a:r>
          </a:p>
          <a:p>
            <a:r>
              <a:rPr dirty="0"/>
              <a:t>Advisor: Prof. </a:t>
            </a:r>
            <a:r>
              <a:rPr lang="en-US" dirty="0"/>
              <a:t>Feng </a:t>
            </a:r>
            <a:r>
              <a:rPr dirty="0"/>
              <a:t>Chen</a:t>
            </a:r>
            <a:r>
              <a:rPr lang="en-US" dirty="0"/>
              <a:t> </a:t>
            </a:r>
          </a:p>
          <a:p>
            <a:r>
              <a:rPr lang="en-US" dirty="0"/>
              <a:t>Mentor: Tianhao Wang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Motivation</a:t>
            </a:r>
          </a:p>
        </p:txBody>
      </p:sp>
      <p:sp>
        <p:nvSpPr>
          <p:cNvPr id="3" name="Content Placeholder 2"/>
          <p:cNvSpPr>
            <a:spLocks noGrp="1"/>
          </p:cNvSpPr>
          <p:nvPr>
            <p:ph idx="1"/>
          </p:nvPr>
        </p:nvSpPr>
        <p:spPr/>
        <p:txBody>
          <a:bodyPr>
            <a:normAutofit fontScale="77500" lnSpcReduction="20000"/>
          </a:bodyPr>
          <a:lstStyle/>
          <a:p>
            <a:r>
              <a:rPr dirty="0"/>
              <a:t>Multi-agent debate is becoming a core AI paradigm</a:t>
            </a:r>
            <a:endParaRPr lang="en-US" dirty="0"/>
          </a:p>
          <a:p>
            <a:endParaRPr dirty="0"/>
          </a:p>
          <a:p>
            <a:r>
              <a:rPr dirty="0"/>
              <a:t>Applications: reasoning, planning, code generation, governance</a:t>
            </a:r>
            <a:endParaRPr lang="en-US" dirty="0"/>
          </a:p>
          <a:p>
            <a:endParaRPr dirty="0"/>
          </a:p>
          <a:p>
            <a:r>
              <a:rPr dirty="0"/>
              <a:t>Question: </a:t>
            </a:r>
            <a:endParaRPr lang="en-US" dirty="0"/>
          </a:p>
          <a:p>
            <a:pPr lvl="1"/>
            <a:r>
              <a:rPr sz="2900" dirty="0"/>
              <a:t>Does more discussion always lead to better answers?</a:t>
            </a:r>
            <a:endParaRPr lang="en-US" sz="2900" dirty="0"/>
          </a:p>
          <a:p>
            <a:pPr lvl="1"/>
            <a:r>
              <a:rPr lang="en-US" sz="2900" dirty="0"/>
              <a:t>How do we prevent potentially correct reasoning trajectories from being eliminated before they are fully explored?</a:t>
            </a:r>
          </a:p>
          <a:p>
            <a:pPr lvl="1"/>
            <a:r>
              <a:rPr lang="en-US" sz="2900" dirty="0"/>
              <a:t>Can adaptive influence balancing improve debate quality?</a:t>
            </a:r>
          </a:p>
          <a:p>
            <a:pPr lvl="1"/>
            <a:r>
              <a:rPr lang="en-US" sz="2900" dirty="0"/>
              <a:t>Can minority viewpoints be preserved long enough to improve final decisions?</a:t>
            </a:r>
          </a:p>
          <a:p>
            <a:pPr lvl="1"/>
            <a:r>
              <a:rPr lang="en-US" sz="2900" dirty="0"/>
              <a:t>Can process interventions improve reliability and calibration?</a:t>
            </a:r>
            <a:endParaRPr sz="2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ICML 2026 Paper: Key Insight</a:t>
            </a:r>
          </a:p>
        </p:txBody>
      </p:sp>
      <p:sp>
        <p:nvSpPr>
          <p:cNvPr id="3" name="Content Placeholder 2"/>
          <p:cNvSpPr>
            <a:spLocks noGrp="1"/>
          </p:cNvSpPr>
          <p:nvPr>
            <p:ph idx="1"/>
          </p:nvPr>
        </p:nvSpPr>
        <p:spPr/>
        <p:txBody>
          <a:bodyPr/>
          <a:lstStyle/>
          <a:p>
            <a:r>
              <a:rPr dirty="0"/>
              <a:t>Consensus is not enough</a:t>
            </a:r>
          </a:p>
          <a:p>
            <a:r>
              <a:rPr dirty="0"/>
              <a:t>Process metrics</a:t>
            </a:r>
            <a:r>
              <a:rPr lang="en-US" dirty="0"/>
              <a:t> framework</a:t>
            </a:r>
            <a:r>
              <a:rPr dirty="0"/>
              <a:t>: Engagement, Responsiveness, Balance, Influence Asymmetry</a:t>
            </a:r>
          </a:p>
          <a:p>
            <a:r>
              <a:rPr dirty="0"/>
              <a:t>Consensus ≠ Correctness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Gap</a:t>
            </a:r>
          </a:p>
        </p:txBody>
      </p:sp>
      <p:sp>
        <p:nvSpPr>
          <p:cNvPr id="3" name="Content Placeholder 2"/>
          <p:cNvSpPr>
            <a:spLocks noGrp="1"/>
          </p:cNvSpPr>
          <p:nvPr>
            <p:ph idx="1"/>
          </p:nvPr>
        </p:nvSpPr>
        <p:spPr/>
        <p:txBody>
          <a:bodyPr/>
          <a:lstStyle/>
          <a:p>
            <a:r>
              <a:rPr dirty="0"/>
              <a:t>Existing work measures debate quality</a:t>
            </a:r>
          </a:p>
          <a:p>
            <a:r>
              <a:rPr dirty="0"/>
              <a:t>My extension: Observe → Measure → Control → Improve</a:t>
            </a:r>
          </a:p>
          <a:p>
            <a:r>
              <a:rPr b="1" dirty="0"/>
              <a:t>Can diagnostics</a:t>
            </a:r>
            <a:r>
              <a:rPr lang="en-US" b="1" dirty="0"/>
              <a:t> (process metrics)</a:t>
            </a:r>
            <a:r>
              <a:rPr b="1" dirty="0"/>
              <a:t> become feedback signals?</a:t>
            </a:r>
            <a:endParaRPr lang="en-US" b="1" dirty="0"/>
          </a:p>
          <a:p>
            <a:pPr lvl="1"/>
            <a:r>
              <a:rPr lang="en-US" dirty="0"/>
              <a:t>Try: 1. Adaptive influence re-balancing; 2. Reasoning diversity preservation</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Hypothesis</a:t>
            </a:r>
          </a:p>
        </p:txBody>
      </p:sp>
      <p:sp>
        <p:nvSpPr>
          <p:cNvPr id="3" name="Content Placeholder 2"/>
          <p:cNvSpPr>
            <a:spLocks noGrp="1"/>
          </p:cNvSpPr>
          <p:nvPr>
            <p:ph idx="1"/>
          </p:nvPr>
        </p:nvSpPr>
        <p:spPr/>
        <p:txBody>
          <a:bodyPr/>
          <a:lstStyle/>
          <a:p>
            <a:r>
              <a:rPr dirty="0"/>
              <a:t>Debate failures occur when influence concentrates too early</a:t>
            </a:r>
          </a:p>
          <a:p>
            <a:r>
              <a:rPr dirty="0"/>
              <a:t>Consequences: groupthink, minority suppression, false consensus</a:t>
            </a:r>
          </a:p>
          <a:p>
            <a:r>
              <a:rPr dirty="0"/>
              <a:t>Adaptive balancing can improve reliability</a:t>
            </a:r>
            <a:endParaRPr lang="en-US" dirty="0"/>
          </a:p>
          <a:p>
            <a:r>
              <a:rPr lang="en-US" dirty="0"/>
              <a:t>Reasoning diversity preservation can prevent potentially correct reasoning trajectories from being eliminated too early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Framework</a:t>
            </a:r>
          </a:p>
        </p:txBody>
      </p:sp>
      <p:sp>
        <p:nvSpPr>
          <p:cNvPr id="3" name="Content Placeholder 2"/>
          <p:cNvSpPr>
            <a:spLocks noGrp="1"/>
          </p:cNvSpPr>
          <p:nvPr>
            <p:ph idx="1"/>
          </p:nvPr>
        </p:nvSpPr>
        <p:spPr/>
        <p:txBody>
          <a:bodyPr/>
          <a:lstStyle/>
          <a:p>
            <a:r>
              <a:rPr dirty="0"/>
              <a:t>Compute process metrics every round</a:t>
            </a:r>
          </a:p>
          <a:p>
            <a:r>
              <a:rPr dirty="0"/>
              <a:t>Detect excessive influence asymmetry</a:t>
            </a:r>
          </a:p>
          <a:p>
            <a:r>
              <a:rPr dirty="0"/>
              <a:t>Trigger interventions dynamically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76" y="2140342"/>
            <a:ext cx="8229600" cy="1143000"/>
          </a:xfrm>
        </p:spPr>
        <p:txBody>
          <a:bodyPr/>
          <a:lstStyle/>
          <a:p>
            <a:r>
              <a:rPr dirty="0"/>
              <a:t>Experimental 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41EC4-888C-46C3-693B-9A71CCF8A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01266-5BC9-043F-8968-3D440597E68C}"/>
              </a:ext>
            </a:extLst>
          </p:cNvPr>
          <p:cNvSpPr>
            <a:spLocks noGrp="1"/>
          </p:cNvSpPr>
          <p:nvPr>
            <p:ph type="title"/>
          </p:nvPr>
        </p:nvSpPr>
        <p:spPr/>
        <p:txBody>
          <a:bodyPr>
            <a:normAutofit/>
          </a:bodyPr>
          <a:lstStyle/>
          <a:p>
            <a:r>
              <a:rPr lang="en-US" dirty="0"/>
              <a:t>Experiment</a:t>
            </a:r>
            <a:r>
              <a:rPr dirty="0"/>
              <a:t> 1: </a:t>
            </a:r>
            <a:r>
              <a:rPr lang="en-US" dirty="0"/>
              <a:t>Baseline</a:t>
            </a:r>
            <a:endParaRPr dirty="0"/>
          </a:p>
        </p:txBody>
      </p:sp>
      <p:sp>
        <p:nvSpPr>
          <p:cNvPr id="3" name="Content Placeholder 2">
            <a:extLst>
              <a:ext uri="{FF2B5EF4-FFF2-40B4-BE49-F238E27FC236}">
                <a16:creationId xmlns:a16="http://schemas.microsoft.com/office/drawing/2014/main" id="{8DEAC7C8-7425-1B2F-EBD8-3DC876A23C76}"/>
              </a:ext>
            </a:extLst>
          </p:cNvPr>
          <p:cNvSpPr>
            <a:spLocks noGrp="1"/>
          </p:cNvSpPr>
          <p:nvPr>
            <p:ph idx="1"/>
          </p:nvPr>
        </p:nvSpPr>
        <p:spPr/>
        <p:txBody>
          <a:bodyPr/>
          <a:lstStyle/>
          <a:p>
            <a:r>
              <a:rPr lang="en-US" dirty="0"/>
              <a:t>Original paper setup</a:t>
            </a:r>
          </a:p>
          <a:p>
            <a:r>
              <a:rPr lang="en-US" dirty="0"/>
              <a:t>Fixed debate protocol</a:t>
            </a:r>
          </a:p>
          <a:p>
            <a:r>
              <a:rPr lang="en-US" dirty="0"/>
              <a:t>No intervention</a:t>
            </a:r>
          </a:p>
          <a:p>
            <a:r>
              <a:rPr lang="en-US" dirty="0"/>
              <a:t>Reference point for comparison</a:t>
            </a:r>
            <a:endParaRPr dirty="0"/>
          </a:p>
        </p:txBody>
      </p:sp>
    </p:spTree>
    <p:extLst>
      <p:ext uri="{BB962C8B-B14F-4D97-AF65-F5344CB8AC3E}">
        <p14:creationId xmlns:p14="http://schemas.microsoft.com/office/powerpoint/2010/main" val="1983705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Experiment 2: </a:t>
            </a:r>
            <a:r>
              <a:rPr dirty="0"/>
              <a:t>Loser</a:t>
            </a:r>
            <a:r>
              <a:rPr lang="en-US" dirty="0"/>
              <a:t>-More-Resistance</a:t>
            </a:r>
            <a:endParaRPr dirty="0"/>
          </a:p>
        </p:txBody>
      </p:sp>
      <p:sp>
        <p:nvSpPr>
          <p:cNvPr id="3" name="Content Placeholder 2"/>
          <p:cNvSpPr>
            <a:spLocks noGrp="1"/>
          </p:cNvSpPr>
          <p:nvPr>
            <p:ph idx="1"/>
          </p:nvPr>
        </p:nvSpPr>
        <p:spPr/>
        <p:txBody>
          <a:bodyPr>
            <a:normAutofit/>
          </a:bodyPr>
          <a:lstStyle/>
          <a:p>
            <a:pPr marL="0" indent="0">
              <a:buNone/>
            </a:pPr>
            <a:r>
              <a:rPr lang="en-US" dirty="0"/>
              <a:t>When an agent consistently loses influence:</a:t>
            </a:r>
          </a:p>
          <a:p>
            <a:r>
              <a:rPr dirty="0"/>
              <a:t>Increase </a:t>
            </a:r>
            <a:r>
              <a:rPr lang="en-US" dirty="0"/>
              <a:t>loser</a:t>
            </a:r>
            <a:r>
              <a:rPr dirty="0"/>
              <a:t> resistance</a:t>
            </a:r>
          </a:p>
          <a:p>
            <a:r>
              <a:rPr dirty="0"/>
              <a:t>Reduce susceptibility to dominant opinions</a:t>
            </a:r>
          </a:p>
          <a:p>
            <a:r>
              <a:rPr dirty="0"/>
              <a:t>Prevent premature convergence</a:t>
            </a:r>
            <a:endParaRPr lang="en-US" dirty="0"/>
          </a:p>
          <a:p>
            <a:pPr marL="0" indent="0">
              <a:buNone/>
            </a:pPr>
            <a:endParaRPr lang="en-US" dirty="0"/>
          </a:p>
          <a:p>
            <a:pPr marL="0" indent="0">
              <a:buNone/>
            </a:pPr>
            <a:r>
              <a:rPr lang="en-US" dirty="0"/>
              <a:t>Goal: Prevent early domination.</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 3: Minority Protection</a:t>
            </a:r>
            <a:endParaRPr dirty="0"/>
          </a:p>
        </p:txBody>
      </p:sp>
      <p:sp>
        <p:nvSpPr>
          <p:cNvPr id="3" name="Content Placeholder 2"/>
          <p:cNvSpPr>
            <a:spLocks noGrp="1"/>
          </p:cNvSpPr>
          <p:nvPr>
            <p:ph idx="1"/>
          </p:nvPr>
        </p:nvSpPr>
        <p:spPr>
          <a:xfrm>
            <a:off x="457200" y="1600200"/>
            <a:ext cx="8280856" cy="5042526"/>
          </a:xfrm>
        </p:spPr>
        <p:txBody>
          <a:bodyPr>
            <a:normAutofit fontScale="85000" lnSpcReduction="10000"/>
          </a:bodyPr>
          <a:lstStyle/>
          <a:p>
            <a:pPr marL="0" indent="0">
              <a:buNone/>
            </a:pPr>
            <a:r>
              <a:rPr lang="en-US" sz="2000" dirty="0"/>
              <a:t>For each round, use agents’ influence scores to determine Minority/Dominant agents</a:t>
            </a:r>
          </a:p>
          <a:p>
            <a:pPr marL="0" indent="0">
              <a:buNone/>
            </a:pPr>
            <a:r>
              <a:rPr lang="en-US" sz="2000" dirty="0" err="1"/>
              <a:t>dominant_agent</a:t>
            </a:r>
            <a:r>
              <a:rPr lang="en-US" sz="2000" dirty="0"/>
              <a:t> = argmax(influence)</a:t>
            </a:r>
          </a:p>
          <a:p>
            <a:pPr marL="0" indent="0">
              <a:buNone/>
            </a:pPr>
            <a:r>
              <a:rPr lang="en-US" sz="2000" dirty="0" err="1"/>
              <a:t>minority_agents</a:t>
            </a:r>
            <a:r>
              <a:rPr lang="en-US" sz="2000" dirty="0"/>
              <a:t> = influence &lt; threshold</a:t>
            </a:r>
          </a:p>
          <a:p>
            <a:pPr marL="0" indent="0">
              <a:buNone/>
            </a:pPr>
            <a:r>
              <a:rPr lang="en-US" dirty="0"/>
              <a:t>Minority agents receive:</a:t>
            </a:r>
          </a:p>
          <a:p>
            <a:r>
              <a:rPr lang="en-US" dirty="0"/>
              <a:t>Additional reasoning budget</a:t>
            </a:r>
          </a:p>
          <a:p>
            <a:r>
              <a:rPr lang="en-US" dirty="0"/>
              <a:t>Extra evidence generation</a:t>
            </a:r>
          </a:p>
          <a:p>
            <a:r>
              <a:rPr lang="en-US" dirty="0"/>
              <a:t>Additional speaking opportunities</a:t>
            </a:r>
          </a:p>
          <a:p>
            <a:pPr marL="0" indent="0">
              <a:buNone/>
            </a:pPr>
            <a:r>
              <a:rPr lang="en-US" dirty="0"/>
              <a:t>Potential </a:t>
            </a:r>
            <a:r>
              <a:rPr lang="en-US" b="1" dirty="0"/>
              <a:t>Influence Cap </a:t>
            </a:r>
            <a:r>
              <a:rPr lang="en-US" dirty="0"/>
              <a:t>to avoid SUPER agent. Intervention: No single agent can exceed a maximum influence share, to prevent runaway dominance.</a:t>
            </a:r>
          </a:p>
          <a:p>
            <a:pPr marL="0" indent="0">
              <a:buNone/>
            </a:pPr>
            <a:endParaRPr lang="en-US" dirty="0"/>
          </a:p>
          <a:p>
            <a:pPr marL="0" indent="0">
              <a:buNone/>
            </a:pPr>
            <a:r>
              <a:rPr lang="en-US" dirty="0"/>
              <a:t>Goal: Keep alternative hypotheses alive longer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F005-140E-33A5-10AD-DF15416EF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53BDE-95E5-38CC-398C-D4416EDDD2DF}"/>
              </a:ext>
            </a:extLst>
          </p:cNvPr>
          <p:cNvSpPr>
            <a:spLocks noGrp="1"/>
          </p:cNvSpPr>
          <p:nvPr>
            <p:ph type="title"/>
          </p:nvPr>
        </p:nvSpPr>
        <p:spPr>
          <a:xfrm>
            <a:off x="457200" y="151625"/>
            <a:ext cx="8229600" cy="922692"/>
          </a:xfrm>
        </p:spPr>
        <p:txBody>
          <a:bodyPr/>
          <a:lstStyle/>
          <a:p>
            <a:r>
              <a:rPr lang="en-US" dirty="0"/>
              <a:t>Experiment 4: Devil's Advocate</a:t>
            </a:r>
            <a:endParaRPr dirty="0"/>
          </a:p>
        </p:txBody>
      </p:sp>
      <p:sp>
        <p:nvSpPr>
          <p:cNvPr id="3" name="Content Placeholder 2">
            <a:extLst>
              <a:ext uri="{FF2B5EF4-FFF2-40B4-BE49-F238E27FC236}">
                <a16:creationId xmlns:a16="http://schemas.microsoft.com/office/drawing/2014/main" id="{38BAB862-3280-3D3E-1C59-E86D115C8E25}"/>
              </a:ext>
            </a:extLst>
          </p:cNvPr>
          <p:cNvSpPr>
            <a:spLocks noGrp="1"/>
          </p:cNvSpPr>
          <p:nvPr>
            <p:ph idx="1"/>
          </p:nvPr>
        </p:nvSpPr>
        <p:spPr>
          <a:xfrm>
            <a:off x="164019" y="1074317"/>
            <a:ext cx="8979981" cy="5519204"/>
          </a:xfrm>
        </p:spPr>
        <p:txBody>
          <a:bodyPr>
            <a:normAutofit fontScale="70000" lnSpcReduction="20000"/>
          </a:bodyPr>
          <a:lstStyle/>
          <a:p>
            <a:r>
              <a:rPr lang="en-US" sz="3100" dirty="0"/>
              <a:t>Dominant agents must challenge their own position </a:t>
            </a:r>
          </a:p>
          <a:p>
            <a:pPr lvl="1"/>
            <a:r>
              <a:rPr lang="en-US" sz="2000" dirty="0"/>
              <a:t>Majority agent must argue against itself</a:t>
            </a:r>
          </a:p>
          <a:p>
            <a:r>
              <a:rPr lang="en-US" dirty="0"/>
              <a:t>Generate counterarguments to encourage exploration of alternatives</a:t>
            </a:r>
          </a:p>
          <a:p>
            <a:r>
              <a:rPr lang="en-US" dirty="0"/>
              <a:t>If diversity drops below threshold:  Automatically introduce: "Generate an alternative explanation.“ or "Identify a hidden assumption.“</a:t>
            </a:r>
          </a:p>
          <a:p>
            <a:r>
              <a:rPr lang="en-US" b="1" dirty="0"/>
              <a:t>Resurrection Protocol</a:t>
            </a:r>
            <a:r>
              <a:rPr lang="en-US" dirty="0"/>
              <a:t>: Retrieve discarded arguments to break dominance</a:t>
            </a:r>
          </a:p>
          <a:p>
            <a:pPr marL="400050" lvl="1" indent="0">
              <a:buNone/>
            </a:pPr>
            <a:r>
              <a:rPr lang="en-US" sz="2000" dirty="0"/>
              <a:t>Prompt: "Select one previously rejected argument and re-evaluate it."</a:t>
            </a:r>
          </a:p>
          <a:p>
            <a:pPr marL="400050" lvl="1" indent="0">
              <a:buNone/>
            </a:pPr>
            <a:r>
              <a:rPr lang="en-US" sz="2000" dirty="0"/>
              <a:t>Example:</a:t>
            </a:r>
          </a:p>
          <a:p>
            <a:pPr lvl="1"/>
            <a:r>
              <a:rPr lang="en-US" sz="2000" dirty="0"/>
              <a:t>Round 1:</a:t>
            </a:r>
            <a:br>
              <a:rPr lang="en-US" sz="2000" dirty="0"/>
            </a:br>
            <a:r>
              <a:rPr lang="en-US" sz="2000" dirty="0"/>
              <a:t>Argument B rejected</a:t>
            </a:r>
          </a:p>
          <a:p>
            <a:pPr lvl="1"/>
            <a:r>
              <a:rPr lang="en-US" sz="2000" dirty="0"/>
              <a:t>Round 5:</a:t>
            </a:r>
            <a:br>
              <a:rPr lang="en-US" sz="2000" dirty="0"/>
            </a:br>
            <a:r>
              <a:rPr lang="en-US" sz="2000" dirty="0"/>
              <a:t>Argument B revisited</a:t>
            </a:r>
          </a:p>
          <a:p>
            <a:pPr marL="0" indent="0">
              <a:buNone/>
            </a:pPr>
            <a:endParaRPr lang="en-US" dirty="0"/>
          </a:p>
          <a:p>
            <a:pPr marL="0" indent="0">
              <a:buNone/>
            </a:pPr>
            <a:endParaRPr lang="en-US" dirty="0"/>
          </a:p>
          <a:p>
            <a:pPr marL="0" indent="0">
              <a:buNone/>
            </a:pPr>
            <a:r>
              <a:rPr lang="en-US" dirty="0"/>
              <a:t>Goal: Stress-test dominant reasoning, reduce overconfidence and groupthink. Recover exploration when debate becomes too homogeneous.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71288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74087-FD2F-68C9-FB79-F87E94BAC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98892-EA35-D365-1903-1561D49E1F1F}"/>
              </a:ext>
            </a:extLst>
          </p:cNvPr>
          <p:cNvSpPr>
            <a:spLocks noGrp="1"/>
          </p:cNvSpPr>
          <p:nvPr>
            <p:ph type="title"/>
          </p:nvPr>
        </p:nvSpPr>
        <p:spPr>
          <a:xfrm>
            <a:off x="258329" y="274638"/>
            <a:ext cx="8750356" cy="1143000"/>
          </a:xfrm>
        </p:spPr>
        <p:txBody>
          <a:bodyPr>
            <a:normAutofit fontScale="90000"/>
          </a:bodyPr>
          <a:lstStyle/>
          <a:p>
            <a:r>
              <a:rPr lang="en-US" dirty="0"/>
              <a:t>Experiment 5: Uncertainty-Aware Debate</a:t>
            </a:r>
            <a:br>
              <a:rPr lang="en-US" dirty="0"/>
            </a:br>
            <a:endParaRPr dirty="0"/>
          </a:p>
        </p:txBody>
      </p:sp>
      <p:sp>
        <p:nvSpPr>
          <p:cNvPr id="3" name="Content Placeholder 2">
            <a:extLst>
              <a:ext uri="{FF2B5EF4-FFF2-40B4-BE49-F238E27FC236}">
                <a16:creationId xmlns:a16="http://schemas.microsoft.com/office/drawing/2014/main" id="{D897FCC0-CCAD-6665-FFEB-1F14B4F612E1}"/>
              </a:ext>
            </a:extLst>
          </p:cNvPr>
          <p:cNvSpPr>
            <a:spLocks noGrp="1"/>
          </p:cNvSpPr>
          <p:nvPr>
            <p:ph idx="1"/>
          </p:nvPr>
        </p:nvSpPr>
        <p:spPr>
          <a:xfrm>
            <a:off x="192721" y="1562270"/>
            <a:ext cx="8979981" cy="4563893"/>
          </a:xfrm>
        </p:spPr>
        <p:txBody>
          <a:bodyPr>
            <a:normAutofit fontScale="25000" lnSpcReduction="20000"/>
          </a:bodyPr>
          <a:lstStyle/>
          <a:p>
            <a:pPr marL="0" indent="0">
              <a:buNone/>
            </a:pPr>
            <a:r>
              <a:rPr lang="en-US" sz="9600" dirty="0"/>
              <a:t>Agents report </a:t>
            </a:r>
            <a:r>
              <a:rPr lang="en-US" sz="8000" dirty="0"/>
              <a:t>Answer Confidence Reasoning</a:t>
            </a:r>
          </a:p>
          <a:p>
            <a:r>
              <a:rPr lang="en-US" sz="9600" dirty="0"/>
              <a:t>If: </a:t>
            </a:r>
            <a:r>
              <a:rPr lang="en-US" sz="8000" dirty="0"/>
              <a:t>High Confidence + Strong Consensus, </a:t>
            </a:r>
            <a:r>
              <a:rPr lang="en-US" sz="9600" dirty="0"/>
              <a:t>No intervention.</a:t>
            </a:r>
          </a:p>
          <a:p>
            <a:r>
              <a:rPr lang="en-US" sz="9600" dirty="0"/>
              <a:t>If: </a:t>
            </a:r>
            <a:r>
              <a:rPr lang="en-US" sz="8000" dirty="0"/>
              <a:t>Low Confidence + Strong Consensus, </a:t>
            </a:r>
            <a:r>
              <a:rPr lang="en-US" sz="9600" dirty="0"/>
              <a:t>Trigger debate extension! </a:t>
            </a:r>
          </a:p>
          <a:p>
            <a:r>
              <a:rPr lang="en-US" sz="9600" dirty="0"/>
              <a:t>Debate extension would include all interventions noted in Experiment #2, 3 &amp; 4</a:t>
            </a:r>
          </a:p>
          <a:p>
            <a:pPr marL="0" indent="0">
              <a:buNone/>
            </a:pPr>
            <a:br>
              <a:rPr lang="en-US" sz="9600" dirty="0"/>
            </a:br>
            <a:endParaRPr lang="en-US" sz="9600" dirty="0"/>
          </a:p>
          <a:p>
            <a:pPr marL="0" indent="0">
              <a:buNone/>
            </a:pPr>
            <a:r>
              <a:rPr lang="en-US" sz="9600" b="1" dirty="0"/>
              <a:t>Motivation:  </a:t>
            </a:r>
            <a:r>
              <a:rPr lang="en-US" sz="9600" dirty="0"/>
              <a:t>False consensus often emerges when nobody is truly confident.</a:t>
            </a:r>
          </a:p>
          <a:p>
            <a:pPr marL="0" indent="0">
              <a:buNone/>
            </a:pPr>
            <a:br>
              <a:rPr lang="en-US" dirty="0"/>
            </a:br>
            <a:endParaRPr lang="en-US" dirty="0"/>
          </a:p>
          <a:p>
            <a:pPr marL="0" indent="0">
              <a:buNone/>
            </a:pPr>
            <a:endParaRPr lang="en-US" dirty="0"/>
          </a:p>
        </p:txBody>
      </p:sp>
    </p:spTree>
    <p:extLst>
      <p:ext uri="{BB962C8B-B14F-4D97-AF65-F5344CB8AC3E}">
        <p14:creationId xmlns:p14="http://schemas.microsoft.com/office/powerpoint/2010/main" val="3860585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59E4C-8020-1134-6916-B629ABE35235}"/>
              </a:ext>
            </a:extLst>
          </p:cNvPr>
          <p:cNvSpPr>
            <a:spLocks noGrp="1"/>
          </p:cNvSpPr>
          <p:nvPr>
            <p:ph type="title"/>
          </p:nvPr>
        </p:nvSpPr>
        <p:spPr/>
        <p:txBody>
          <a:bodyPr>
            <a:normAutofit/>
          </a:bodyPr>
          <a:lstStyle/>
          <a:p>
            <a:r>
              <a:rPr lang="en-US" sz="3200" dirty="0"/>
              <a:t>Research Framework </a:t>
            </a:r>
          </a:p>
        </p:txBody>
      </p:sp>
      <p:graphicFrame>
        <p:nvGraphicFramePr>
          <p:cNvPr id="4" name="Content Placeholder 3">
            <a:extLst>
              <a:ext uri="{FF2B5EF4-FFF2-40B4-BE49-F238E27FC236}">
                <a16:creationId xmlns:a16="http://schemas.microsoft.com/office/drawing/2014/main" id="{47610795-A5DD-E743-F30D-F968B99005D4}"/>
              </a:ext>
            </a:extLst>
          </p:cNvPr>
          <p:cNvGraphicFramePr>
            <a:graphicFrameLocks noGrp="1"/>
          </p:cNvGraphicFramePr>
          <p:nvPr>
            <p:ph idx="1"/>
            <p:extLst>
              <p:ext uri="{D42A27DB-BD31-4B8C-83A1-F6EECF244321}">
                <p14:modId xmlns:p14="http://schemas.microsoft.com/office/powerpoint/2010/main" val="3595607768"/>
              </p:ext>
            </p:extLst>
          </p:nvPr>
        </p:nvGraphicFramePr>
        <p:xfrm>
          <a:off x="457200" y="3238273"/>
          <a:ext cx="8229600" cy="2194560"/>
        </p:xfrm>
        <a:graphic>
          <a:graphicData uri="http://schemas.openxmlformats.org/drawingml/2006/table">
            <a:tbl>
              <a:tblPr/>
              <a:tblGrid>
                <a:gridCol w="4114800">
                  <a:extLst>
                    <a:ext uri="{9D8B030D-6E8A-4147-A177-3AD203B41FA5}">
                      <a16:colId xmlns:a16="http://schemas.microsoft.com/office/drawing/2014/main" val="2755140741"/>
                    </a:ext>
                  </a:extLst>
                </a:gridCol>
                <a:gridCol w="4114800">
                  <a:extLst>
                    <a:ext uri="{9D8B030D-6E8A-4147-A177-3AD203B41FA5}">
                      <a16:colId xmlns:a16="http://schemas.microsoft.com/office/drawing/2014/main" val="2213766115"/>
                    </a:ext>
                  </a:extLst>
                </a:gridCol>
              </a:tblGrid>
              <a:tr h="0">
                <a:tc>
                  <a:txBody>
                    <a:bodyPr/>
                    <a:lstStyle/>
                    <a:p>
                      <a:pPr>
                        <a:buNone/>
                      </a:pPr>
                      <a:r>
                        <a:rPr lang="en-US" dirty="0"/>
                        <a:t>Category</a:t>
                      </a:r>
                    </a:p>
                  </a:txBody>
                  <a:tcPr anchor="ctr">
                    <a:lnL>
                      <a:noFill/>
                    </a:lnL>
                    <a:lnR>
                      <a:noFill/>
                    </a:lnR>
                    <a:lnT>
                      <a:noFill/>
                    </a:lnT>
                    <a:lnB>
                      <a:noFill/>
                    </a:lnB>
                    <a:noFill/>
                  </a:tcPr>
                </a:tc>
                <a:tc>
                  <a:txBody>
                    <a:bodyPr/>
                    <a:lstStyle/>
                    <a:p>
                      <a:pPr>
                        <a:buNone/>
                      </a:pPr>
                      <a:r>
                        <a:rPr lang="en-US"/>
                        <a:t>Method</a:t>
                      </a:r>
                    </a:p>
                  </a:txBody>
                  <a:tcPr anchor="ctr">
                    <a:lnL>
                      <a:noFill/>
                    </a:lnL>
                    <a:lnR>
                      <a:noFill/>
                    </a:lnR>
                    <a:lnT>
                      <a:noFill/>
                    </a:lnT>
                    <a:lnB>
                      <a:noFill/>
                    </a:lnB>
                    <a:noFill/>
                  </a:tcPr>
                </a:tc>
                <a:extLst>
                  <a:ext uri="{0D108BD9-81ED-4DB2-BD59-A6C34878D82A}">
                    <a16:rowId xmlns:a16="http://schemas.microsoft.com/office/drawing/2014/main" val="1276417839"/>
                  </a:ext>
                </a:extLst>
              </a:tr>
              <a:tr h="0">
                <a:tc>
                  <a:txBody>
                    <a:bodyPr/>
                    <a:lstStyle/>
                    <a:p>
                      <a:pPr>
                        <a:buNone/>
                      </a:pPr>
                      <a:r>
                        <a:rPr lang="en-US"/>
                        <a:t>Influence Control</a:t>
                      </a:r>
                    </a:p>
                  </a:txBody>
                  <a:tcPr anchor="ctr">
                    <a:lnL>
                      <a:noFill/>
                    </a:lnL>
                    <a:lnR>
                      <a:noFill/>
                    </a:lnR>
                    <a:lnT>
                      <a:noFill/>
                    </a:lnT>
                    <a:lnB>
                      <a:noFill/>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Loser-More-Resistance, Influence Cap</a:t>
                      </a:r>
                    </a:p>
                  </a:txBody>
                  <a:tcPr anchor="ctr">
                    <a:lnL>
                      <a:noFill/>
                    </a:lnL>
                    <a:lnR>
                      <a:noFill/>
                    </a:lnR>
                    <a:lnT>
                      <a:noFill/>
                    </a:lnT>
                    <a:lnB>
                      <a:noFill/>
                    </a:lnB>
                    <a:noFill/>
                  </a:tcPr>
                </a:tc>
                <a:extLst>
                  <a:ext uri="{0D108BD9-81ED-4DB2-BD59-A6C34878D82A}">
                    <a16:rowId xmlns:a16="http://schemas.microsoft.com/office/drawing/2014/main" val="3510722032"/>
                  </a:ext>
                </a:extLst>
              </a:tr>
              <a:tr h="0">
                <a:tc>
                  <a:txBody>
                    <a:bodyPr/>
                    <a:lstStyle/>
                    <a:p>
                      <a:pPr>
                        <a:buNone/>
                      </a:pPr>
                      <a:r>
                        <a:rPr lang="en-US" dirty="0"/>
                        <a:t>Diversity Preservation</a:t>
                      </a:r>
                    </a:p>
                  </a:txBody>
                  <a:tcPr anchor="ctr">
                    <a:lnL>
                      <a:noFill/>
                    </a:lnL>
                    <a:lnR>
                      <a:noFill/>
                    </a:lnR>
                    <a:lnT>
                      <a:noFill/>
                    </a:lnT>
                    <a:lnB>
                      <a:noFill/>
                    </a:lnB>
                    <a:noFill/>
                  </a:tcPr>
                </a:tc>
                <a:tc>
                  <a:txBody>
                    <a:bodyPr/>
                    <a:lstStyle/>
                    <a:p>
                      <a:pPr>
                        <a:buNone/>
                      </a:pPr>
                      <a:r>
                        <a:rPr lang="en-US"/>
                        <a:t>Minority Protection</a:t>
                      </a:r>
                    </a:p>
                  </a:txBody>
                  <a:tcPr anchor="ctr">
                    <a:lnL>
                      <a:noFill/>
                    </a:lnL>
                    <a:lnR>
                      <a:noFill/>
                    </a:lnR>
                    <a:lnT>
                      <a:noFill/>
                    </a:lnT>
                    <a:lnB>
                      <a:noFill/>
                    </a:lnB>
                    <a:noFill/>
                  </a:tcPr>
                </a:tc>
                <a:extLst>
                  <a:ext uri="{0D108BD9-81ED-4DB2-BD59-A6C34878D82A}">
                    <a16:rowId xmlns:a16="http://schemas.microsoft.com/office/drawing/2014/main" val="3894297343"/>
                  </a:ext>
                </a:extLst>
              </a:tr>
              <a:tr h="0">
                <a:tc>
                  <a:txBody>
                    <a:bodyPr/>
                    <a:lstStyle/>
                    <a:p>
                      <a:pPr>
                        <a:buNone/>
                      </a:pPr>
                      <a:r>
                        <a:rPr lang="en-US"/>
                        <a:t>Diversity Preservation</a:t>
                      </a:r>
                    </a:p>
                  </a:txBody>
                  <a:tcPr anchor="ctr">
                    <a:lnL>
                      <a:noFill/>
                    </a:lnL>
                    <a:lnR>
                      <a:noFill/>
                    </a:lnR>
                    <a:lnT>
                      <a:noFill/>
                    </a:lnT>
                    <a:lnB>
                      <a:noFill/>
                    </a:lnB>
                    <a:noFill/>
                  </a:tcPr>
                </a:tc>
                <a:tc>
                  <a:txBody>
                    <a:bodyPr/>
                    <a:lstStyle/>
                    <a:p>
                      <a:pPr>
                        <a:buNone/>
                      </a:pPr>
                      <a:r>
                        <a:rPr lang="en-US" dirty="0"/>
                        <a:t>Diversity Trigger</a:t>
                      </a:r>
                    </a:p>
                  </a:txBody>
                  <a:tcPr anchor="ctr">
                    <a:lnL>
                      <a:noFill/>
                    </a:lnL>
                    <a:lnR>
                      <a:noFill/>
                    </a:lnR>
                    <a:lnT>
                      <a:noFill/>
                    </a:lnT>
                    <a:lnB>
                      <a:noFill/>
                    </a:lnB>
                    <a:noFill/>
                  </a:tcPr>
                </a:tc>
                <a:extLst>
                  <a:ext uri="{0D108BD9-81ED-4DB2-BD59-A6C34878D82A}">
                    <a16:rowId xmlns:a16="http://schemas.microsoft.com/office/drawing/2014/main" val="641039606"/>
                  </a:ext>
                </a:extLst>
              </a:tr>
              <a:tr h="0">
                <a:tc>
                  <a:txBody>
                    <a:bodyPr/>
                    <a:lstStyle/>
                    <a:p>
                      <a:pPr>
                        <a:buNone/>
                      </a:pPr>
                      <a:r>
                        <a:rPr lang="en-US"/>
                        <a:t>Hypothesis Preservation</a:t>
                      </a:r>
                    </a:p>
                  </a:txBody>
                  <a:tcPr anchor="ctr">
                    <a:lnL>
                      <a:noFill/>
                    </a:lnL>
                    <a:lnR>
                      <a:noFill/>
                    </a:lnR>
                    <a:lnT>
                      <a:noFill/>
                    </a:lnT>
                    <a:lnB>
                      <a:noFill/>
                    </a:lnB>
                    <a:noFill/>
                  </a:tcPr>
                </a:tc>
                <a:tc>
                  <a:txBody>
                    <a:bodyPr/>
                    <a:lstStyle/>
                    <a:p>
                      <a:pPr>
                        <a:buNone/>
                      </a:pPr>
                      <a:r>
                        <a:rPr lang="en-US" dirty="0"/>
                        <a:t>Resurrection Protocol</a:t>
                      </a:r>
                    </a:p>
                  </a:txBody>
                  <a:tcPr anchor="ctr">
                    <a:lnL>
                      <a:noFill/>
                    </a:lnL>
                    <a:lnR>
                      <a:noFill/>
                    </a:lnR>
                    <a:lnT>
                      <a:noFill/>
                    </a:lnT>
                    <a:lnB>
                      <a:noFill/>
                    </a:lnB>
                    <a:noFill/>
                  </a:tcPr>
                </a:tc>
                <a:extLst>
                  <a:ext uri="{0D108BD9-81ED-4DB2-BD59-A6C34878D82A}">
                    <a16:rowId xmlns:a16="http://schemas.microsoft.com/office/drawing/2014/main" val="2977648868"/>
                  </a:ext>
                </a:extLst>
              </a:tr>
              <a:tr h="0">
                <a:tc>
                  <a:txBody>
                    <a:bodyPr/>
                    <a:lstStyle/>
                    <a:p>
                      <a:pPr>
                        <a:buNone/>
                      </a:pPr>
                      <a:r>
                        <a:rPr lang="en-US" dirty="0"/>
                        <a:t>Robustness Testing</a:t>
                      </a:r>
                    </a:p>
                  </a:txBody>
                  <a:tcPr anchor="ctr">
                    <a:lnL>
                      <a:noFill/>
                    </a:lnL>
                    <a:lnR>
                      <a:noFill/>
                    </a:lnR>
                    <a:lnT>
                      <a:noFill/>
                    </a:lnT>
                    <a:lnB>
                      <a:noFill/>
                    </a:lnB>
                    <a:noFill/>
                  </a:tcPr>
                </a:tc>
                <a:tc>
                  <a:txBody>
                    <a:bodyPr/>
                    <a:lstStyle/>
                    <a:p>
                      <a:pPr>
                        <a:buNone/>
                      </a:pPr>
                      <a:r>
                        <a:rPr lang="en-US" dirty="0"/>
                        <a:t>Devil's Advocate</a:t>
                      </a:r>
                    </a:p>
                  </a:txBody>
                  <a:tcPr anchor="ctr">
                    <a:lnL>
                      <a:noFill/>
                    </a:lnL>
                    <a:lnR>
                      <a:noFill/>
                    </a:lnR>
                    <a:lnT>
                      <a:noFill/>
                    </a:lnT>
                    <a:lnB>
                      <a:noFill/>
                    </a:lnB>
                    <a:noFill/>
                  </a:tcPr>
                </a:tc>
                <a:extLst>
                  <a:ext uri="{0D108BD9-81ED-4DB2-BD59-A6C34878D82A}">
                    <a16:rowId xmlns:a16="http://schemas.microsoft.com/office/drawing/2014/main" val="3117608402"/>
                  </a:ext>
                </a:extLst>
              </a:tr>
            </a:tbl>
          </a:graphicData>
        </a:graphic>
      </p:graphicFrame>
      <p:sp>
        <p:nvSpPr>
          <p:cNvPr id="6" name="TextBox 5">
            <a:extLst>
              <a:ext uri="{FF2B5EF4-FFF2-40B4-BE49-F238E27FC236}">
                <a16:creationId xmlns:a16="http://schemas.microsoft.com/office/drawing/2014/main" id="{3A2B3127-57A1-9D14-B28D-A63841B0A817}"/>
              </a:ext>
            </a:extLst>
          </p:cNvPr>
          <p:cNvSpPr txBox="1"/>
          <p:nvPr/>
        </p:nvSpPr>
        <p:spPr>
          <a:xfrm>
            <a:off x="399793" y="1130485"/>
            <a:ext cx="8166043" cy="2308324"/>
          </a:xfrm>
          <a:prstGeom prst="rect">
            <a:avLst/>
          </a:prstGeom>
          <a:noFill/>
        </p:spPr>
        <p:txBody>
          <a:bodyPr wrap="square">
            <a:spAutoFit/>
          </a:bodyPr>
          <a:lstStyle/>
          <a:p>
            <a:pPr>
              <a:buNone/>
            </a:pPr>
            <a:r>
              <a:rPr lang="en-US" b="1" dirty="0"/>
              <a:t>Research Story : </a:t>
            </a:r>
            <a:r>
              <a:rPr lang="en-US" dirty="0"/>
              <a:t>“Adaptive Influence Balancing &amp; Reasoning Diversity Preservation in Multi-Agent LLM Debates </a:t>
            </a:r>
            <a:r>
              <a:rPr lang="en-US" b="1" dirty="0"/>
              <a:t>“</a:t>
            </a:r>
            <a:endParaRPr lang="en-US" dirty="0"/>
          </a:p>
          <a:p>
            <a:pPr>
              <a:buNone/>
            </a:pPr>
            <a:endParaRPr lang="en-US" dirty="0"/>
          </a:p>
          <a:p>
            <a:pPr>
              <a:buNone/>
            </a:pPr>
            <a:r>
              <a:rPr lang="en-US" b="1" dirty="0"/>
              <a:t>Central hypothesis</a:t>
            </a:r>
            <a:r>
              <a:rPr lang="en-US" dirty="0"/>
              <a:t>:  Debate failures occur because influence concentrates too early and potentially correct reasoning trajectories are eliminated before sufficient exploration occurs.</a:t>
            </a:r>
          </a:p>
          <a:p>
            <a:pPr>
              <a:buNone/>
            </a:pPr>
            <a:endParaRPr lang="en-US" dirty="0"/>
          </a:p>
          <a:p>
            <a:pPr>
              <a:buNone/>
            </a:pPr>
            <a:r>
              <a:rPr lang="en-US" b="1" dirty="0"/>
              <a:t>Interventions:</a:t>
            </a:r>
          </a:p>
        </p:txBody>
      </p:sp>
    </p:spTree>
    <p:extLst>
      <p:ext uri="{BB962C8B-B14F-4D97-AF65-F5344CB8AC3E}">
        <p14:creationId xmlns:p14="http://schemas.microsoft.com/office/powerpoint/2010/main" val="18856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247A-2E00-DAE0-2D26-490DE13AC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A3B46-E8E9-D7D3-8BC3-931EC21ECCF7}"/>
              </a:ext>
            </a:extLst>
          </p:cNvPr>
          <p:cNvSpPr>
            <a:spLocks noGrp="1"/>
          </p:cNvSpPr>
          <p:nvPr>
            <p:ph type="title"/>
          </p:nvPr>
        </p:nvSpPr>
        <p:spPr>
          <a:xfrm>
            <a:off x="239876" y="2140342"/>
            <a:ext cx="8229600" cy="1143000"/>
          </a:xfrm>
        </p:spPr>
        <p:txBody>
          <a:bodyPr/>
          <a:lstStyle/>
          <a:p>
            <a:r>
              <a:rPr lang="en-US" dirty="0"/>
              <a:t>Evaluation Plan</a:t>
            </a:r>
            <a:endParaRPr dirty="0"/>
          </a:p>
        </p:txBody>
      </p:sp>
    </p:spTree>
    <p:extLst>
      <p:ext uri="{BB962C8B-B14F-4D97-AF65-F5344CB8AC3E}">
        <p14:creationId xmlns:p14="http://schemas.microsoft.com/office/powerpoint/2010/main" val="4274146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6B0A7-85B2-870B-DFA8-1FFC0365A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601C9-924F-BADE-4D04-1DAE0589606D}"/>
              </a:ext>
            </a:extLst>
          </p:cNvPr>
          <p:cNvSpPr>
            <a:spLocks noGrp="1"/>
          </p:cNvSpPr>
          <p:nvPr>
            <p:ph type="title"/>
          </p:nvPr>
        </p:nvSpPr>
        <p:spPr>
          <a:xfrm>
            <a:off x="457200" y="274638"/>
            <a:ext cx="8229600" cy="709470"/>
          </a:xfrm>
        </p:spPr>
        <p:txBody>
          <a:bodyPr>
            <a:normAutofit fontScale="90000"/>
          </a:bodyPr>
          <a:lstStyle/>
          <a:p>
            <a:r>
              <a:rPr dirty="0"/>
              <a:t>Evaluation Plan</a:t>
            </a:r>
            <a:r>
              <a:rPr lang="en-US" dirty="0"/>
              <a:t> – part 1</a:t>
            </a:r>
            <a:endParaRPr dirty="0"/>
          </a:p>
        </p:txBody>
      </p:sp>
      <p:sp>
        <p:nvSpPr>
          <p:cNvPr id="10" name="TextBox 9">
            <a:extLst>
              <a:ext uri="{FF2B5EF4-FFF2-40B4-BE49-F238E27FC236}">
                <a16:creationId xmlns:a16="http://schemas.microsoft.com/office/drawing/2014/main" id="{29B5F271-1F17-CE05-5D58-FFD5E182DD57}"/>
              </a:ext>
            </a:extLst>
          </p:cNvPr>
          <p:cNvSpPr txBox="1"/>
          <p:nvPr/>
        </p:nvSpPr>
        <p:spPr>
          <a:xfrm>
            <a:off x="362889" y="984108"/>
            <a:ext cx="8229599" cy="4524315"/>
          </a:xfrm>
          <a:prstGeom prst="rect">
            <a:avLst/>
          </a:prstGeom>
          <a:noFill/>
        </p:spPr>
        <p:txBody>
          <a:bodyPr wrap="square">
            <a:spAutoFit/>
          </a:bodyPr>
          <a:lstStyle/>
          <a:p>
            <a:r>
              <a:rPr lang="en-US" b="1" dirty="0"/>
              <a:t>Evaluation Level 1: </a:t>
            </a:r>
            <a:r>
              <a:rPr lang="en-US" b="1" dirty="0">
                <a:solidFill>
                  <a:srgbClr val="FF0000"/>
                </a:solidFill>
              </a:rPr>
              <a:t>Accuracy</a:t>
            </a:r>
            <a:endParaRPr lang="en-US" sz="1200" dirty="0">
              <a:solidFill>
                <a:srgbClr val="FF0000"/>
              </a:solidFill>
            </a:endParaRPr>
          </a:p>
          <a:p>
            <a:endParaRPr lang="en-US" b="1" dirty="0">
              <a:solidFill>
                <a:srgbClr val="FF0000"/>
              </a:solidFill>
            </a:endParaRPr>
          </a:p>
          <a:p>
            <a:r>
              <a:rPr lang="en-US" b="1" dirty="0">
                <a:solidFill>
                  <a:srgbClr val="FF0000"/>
                </a:solidFill>
              </a:rPr>
              <a:t>Accuracy</a:t>
            </a:r>
          </a:p>
          <a:p>
            <a:r>
              <a:rPr lang="en-US" dirty="0"/>
              <a:t>Measure: # of correct answers / total # of questions</a:t>
            </a:r>
          </a:p>
          <a:p>
            <a:r>
              <a:rPr lang="en-US" dirty="0"/>
              <a:t>Question: Do the debate interventions we introduce improve the overall quality of the debate?</a:t>
            </a:r>
          </a:p>
          <a:p>
            <a:endParaRPr lang="en-US" b="1" dirty="0"/>
          </a:p>
          <a:p>
            <a:r>
              <a:rPr lang="en-US" b="1" dirty="0"/>
              <a:t>Example</a:t>
            </a:r>
          </a:p>
          <a:p>
            <a:r>
              <a:rPr lang="en-US" dirty="0"/>
              <a:t>Baseline</a:t>
            </a:r>
          </a:p>
          <a:p>
            <a:r>
              <a:rPr lang="en-US" dirty="0"/>
              <a:t># of final answer is correct = 40</a:t>
            </a:r>
          </a:p>
          <a:p>
            <a:r>
              <a:rPr lang="en-US" dirty="0"/>
              <a:t># of total questions = 50</a:t>
            </a:r>
            <a:br>
              <a:rPr lang="en-US" dirty="0"/>
            </a:br>
            <a:r>
              <a:rPr lang="en-US" dirty="0"/>
              <a:t>Accuracy = 80%</a:t>
            </a:r>
          </a:p>
          <a:p>
            <a:endParaRPr lang="en-US" dirty="0"/>
          </a:p>
          <a:p>
            <a:r>
              <a:rPr lang="en-US" dirty="0"/>
              <a:t>I hope that at least one of the interventions we introduce will improve accuracy.</a:t>
            </a:r>
          </a:p>
          <a:p>
            <a:endParaRPr lang="en-US" dirty="0"/>
          </a:p>
          <a:p>
            <a:endParaRPr lang="en-US" dirty="0">
              <a:solidFill>
                <a:srgbClr val="FF0000"/>
              </a:solidFill>
            </a:endParaRPr>
          </a:p>
        </p:txBody>
      </p:sp>
    </p:spTree>
    <p:extLst>
      <p:ext uri="{BB962C8B-B14F-4D97-AF65-F5344CB8AC3E}">
        <p14:creationId xmlns:p14="http://schemas.microsoft.com/office/powerpoint/2010/main" val="2068902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B8C8E-357A-0C85-30A0-17D619F50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8A532-C261-9E8C-6136-B91F941607A4}"/>
              </a:ext>
            </a:extLst>
          </p:cNvPr>
          <p:cNvSpPr>
            <a:spLocks noGrp="1"/>
          </p:cNvSpPr>
          <p:nvPr>
            <p:ph type="title"/>
          </p:nvPr>
        </p:nvSpPr>
        <p:spPr>
          <a:xfrm>
            <a:off x="457200" y="274638"/>
            <a:ext cx="8229600" cy="709470"/>
          </a:xfrm>
        </p:spPr>
        <p:txBody>
          <a:bodyPr>
            <a:normAutofit fontScale="90000"/>
          </a:bodyPr>
          <a:lstStyle/>
          <a:p>
            <a:r>
              <a:rPr dirty="0"/>
              <a:t>Evaluation Plan</a:t>
            </a:r>
            <a:r>
              <a:rPr lang="en-US" dirty="0"/>
              <a:t> – part 2</a:t>
            </a:r>
            <a:endParaRPr dirty="0"/>
          </a:p>
        </p:txBody>
      </p:sp>
      <p:sp>
        <p:nvSpPr>
          <p:cNvPr id="10" name="TextBox 9">
            <a:extLst>
              <a:ext uri="{FF2B5EF4-FFF2-40B4-BE49-F238E27FC236}">
                <a16:creationId xmlns:a16="http://schemas.microsoft.com/office/drawing/2014/main" id="{9ECA8792-437F-DCF9-C705-F952FA7C08D0}"/>
              </a:ext>
            </a:extLst>
          </p:cNvPr>
          <p:cNvSpPr txBox="1"/>
          <p:nvPr/>
        </p:nvSpPr>
        <p:spPr>
          <a:xfrm>
            <a:off x="362889" y="984108"/>
            <a:ext cx="8229599" cy="3970318"/>
          </a:xfrm>
          <a:prstGeom prst="rect">
            <a:avLst/>
          </a:prstGeom>
          <a:noFill/>
        </p:spPr>
        <p:txBody>
          <a:bodyPr wrap="square">
            <a:spAutoFit/>
          </a:bodyPr>
          <a:lstStyle/>
          <a:p>
            <a:r>
              <a:rPr lang="en-US" b="1" dirty="0"/>
              <a:t>Evaluation Level 2: </a:t>
            </a:r>
            <a:r>
              <a:rPr lang="en-US" b="1" dirty="0">
                <a:solidFill>
                  <a:srgbClr val="FF0000"/>
                </a:solidFill>
              </a:rPr>
              <a:t>Consensus Reliability </a:t>
            </a:r>
            <a:r>
              <a:rPr lang="en-US" sz="1200" dirty="0">
                <a:solidFill>
                  <a:srgbClr val="FF0000"/>
                </a:solidFill>
              </a:rPr>
              <a:t>This is where we make the difference</a:t>
            </a:r>
          </a:p>
          <a:p>
            <a:endParaRPr lang="en-US" b="1" dirty="0">
              <a:solidFill>
                <a:srgbClr val="FF0000"/>
              </a:solidFill>
            </a:endParaRPr>
          </a:p>
          <a:p>
            <a:r>
              <a:rPr lang="en-US" b="1" dirty="0">
                <a:solidFill>
                  <a:srgbClr val="FF0000"/>
                </a:solidFill>
              </a:rPr>
              <a:t>Consensus Reliability</a:t>
            </a:r>
          </a:p>
          <a:p>
            <a:r>
              <a:rPr lang="en-US" dirty="0"/>
              <a:t>Measure: Prob(correct | consensus)</a:t>
            </a:r>
          </a:p>
          <a:p>
            <a:r>
              <a:rPr lang="en-US" dirty="0"/>
              <a:t>Question: When agents agree, how often are they actually right?</a:t>
            </a:r>
          </a:p>
          <a:p>
            <a:r>
              <a:rPr lang="en-US" b="1" dirty="0"/>
              <a:t>Example</a:t>
            </a:r>
          </a:p>
          <a:p>
            <a:r>
              <a:rPr lang="en-US" dirty="0"/>
              <a:t>Baseline</a:t>
            </a:r>
          </a:p>
          <a:p>
            <a:r>
              <a:rPr lang="en-US" dirty="0"/>
              <a:t>Consensus reached = 90%</a:t>
            </a:r>
            <a:br>
              <a:rPr lang="en-US" dirty="0"/>
            </a:br>
            <a:r>
              <a:rPr lang="en-US" dirty="0"/>
              <a:t>Correct = 70%</a:t>
            </a:r>
          </a:p>
          <a:p>
            <a:r>
              <a:rPr lang="en-US" dirty="0"/>
              <a:t>Reliability: 0.70 / 0.90 = 78%</a:t>
            </a:r>
          </a:p>
          <a:p>
            <a:r>
              <a:rPr lang="en-US" dirty="0">
                <a:solidFill>
                  <a:srgbClr val="FF0000"/>
                </a:solidFill>
              </a:rPr>
              <a:t>We expect the improved adaptive protocol should increase this.</a:t>
            </a:r>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713528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86640-5793-FA0F-6A90-C0F5A7E0B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3FE52-FC42-A3DE-7849-CE681524EFE1}"/>
              </a:ext>
            </a:extLst>
          </p:cNvPr>
          <p:cNvSpPr>
            <a:spLocks noGrp="1"/>
          </p:cNvSpPr>
          <p:nvPr>
            <p:ph type="title"/>
          </p:nvPr>
        </p:nvSpPr>
        <p:spPr>
          <a:xfrm>
            <a:off x="457200" y="274638"/>
            <a:ext cx="8229600" cy="709470"/>
          </a:xfrm>
        </p:spPr>
        <p:txBody>
          <a:bodyPr>
            <a:normAutofit fontScale="90000"/>
          </a:bodyPr>
          <a:lstStyle/>
          <a:p>
            <a:r>
              <a:rPr dirty="0"/>
              <a:t>Evaluation Plan</a:t>
            </a:r>
            <a:r>
              <a:rPr lang="en-US" dirty="0"/>
              <a:t> – part 3</a:t>
            </a:r>
            <a:endParaRPr dirty="0"/>
          </a:p>
        </p:txBody>
      </p:sp>
      <p:sp>
        <p:nvSpPr>
          <p:cNvPr id="10" name="TextBox 9">
            <a:extLst>
              <a:ext uri="{FF2B5EF4-FFF2-40B4-BE49-F238E27FC236}">
                <a16:creationId xmlns:a16="http://schemas.microsoft.com/office/drawing/2014/main" id="{2F2E7F2E-FDFC-8274-6505-F924B02BECB3}"/>
              </a:ext>
            </a:extLst>
          </p:cNvPr>
          <p:cNvSpPr txBox="1"/>
          <p:nvPr/>
        </p:nvSpPr>
        <p:spPr>
          <a:xfrm>
            <a:off x="362889" y="984108"/>
            <a:ext cx="8229599" cy="5078313"/>
          </a:xfrm>
          <a:prstGeom prst="rect">
            <a:avLst/>
          </a:prstGeom>
          <a:noFill/>
        </p:spPr>
        <p:txBody>
          <a:bodyPr wrap="square">
            <a:spAutoFit/>
          </a:bodyPr>
          <a:lstStyle/>
          <a:p>
            <a:r>
              <a:rPr lang="en-US" b="1" dirty="0"/>
              <a:t>Evaluation Level 3: Early-Elimination analysis   </a:t>
            </a:r>
            <a:r>
              <a:rPr lang="en-US" dirty="0"/>
              <a:t>(I want to directly test my hypothesis)</a:t>
            </a:r>
          </a:p>
          <a:p>
            <a:br>
              <a:rPr lang="en-US" dirty="0"/>
            </a:br>
            <a:r>
              <a:rPr lang="en-US" dirty="0"/>
              <a:t>For every debate each round, </a:t>
            </a:r>
            <a:r>
              <a:rPr lang="en-US" b="1" dirty="0"/>
              <a:t>Identify: Correct Hypothesis</a:t>
            </a:r>
          </a:p>
          <a:p>
            <a:r>
              <a:rPr lang="en-US" dirty="0"/>
              <a:t>When was it first proposed?</a:t>
            </a:r>
          </a:p>
          <a:p>
            <a:r>
              <a:rPr lang="en-US" dirty="0"/>
              <a:t>When was it abandoned?</a:t>
            </a:r>
          </a:p>
          <a:p>
            <a:r>
              <a:rPr lang="en-US" dirty="0"/>
              <a:t>Did it later become the final answer?</a:t>
            </a:r>
          </a:p>
          <a:p>
            <a:br>
              <a:rPr lang="en-US" dirty="0"/>
            </a:br>
            <a:r>
              <a:rPr lang="en-US" b="1" dirty="0"/>
              <a:t>New metric: </a:t>
            </a:r>
            <a:r>
              <a:rPr lang="en-US" b="1" dirty="0">
                <a:solidFill>
                  <a:srgbClr val="FF0000"/>
                </a:solidFill>
              </a:rPr>
              <a:t>Premature Elimination Rate (PER)</a:t>
            </a:r>
          </a:p>
          <a:p>
            <a:r>
              <a:rPr lang="en-US" dirty="0"/>
              <a:t>Definition:</a:t>
            </a:r>
          </a:p>
          <a:p>
            <a:r>
              <a:rPr lang="en-US" dirty="0"/>
              <a:t>Correct hypotheses discarded before final rounds/ All correct hypotheses proposed</a:t>
            </a:r>
          </a:p>
          <a:p>
            <a:br>
              <a:rPr lang="en-US" dirty="0"/>
            </a:br>
            <a:r>
              <a:rPr lang="en-US" b="1" dirty="0"/>
              <a:t>Example: </a:t>
            </a:r>
            <a:r>
              <a:rPr lang="en-US" dirty="0"/>
              <a:t>100 debates, Correct answer proposed early:</a:t>
            </a:r>
          </a:p>
          <a:p>
            <a:r>
              <a:rPr lang="en-US" dirty="0"/>
              <a:t>70 times</a:t>
            </a:r>
          </a:p>
          <a:p>
            <a:r>
              <a:rPr lang="en-US" dirty="0"/>
              <a:t>Discarded early:</a:t>
            </a:r>
          </a:p>
          <a:p>
            <a:r>
              <a:rPr lang="en-US" dirty="0"/>
              <a:t>28 times</a:t>
            </a:r>
          </a:p>
          <a:p>
            <a:r>
              <a:rPr lang="en-US" dirty="0"/>
              <a:t>PER: 28 / 70 = 40%</a:t>
            </a:r>
          </a:p>
          <a:p>
            <a:endParaRPr lang="en-US" dirty="0"/>
          </a:p>
          <a:p>
            <a:endParaRPr lang="en-US" dirty="0">
              <a:solidFill>
                <a:srgbClr val="FF0000"/>
              </a:solidFill>
            </a:endParaRPr>
          </a:p>
        </p:txBody>
      </p:sp>
    </p:spTree>
    <p:extLst>
      <p:ext uri="{BB962C8B-B14F-4D97-AF65-F5344CB8AC3E}">
        <p14:creationId xmlns:p14="http://schemas.microsoft.com/office/powerpoint/2010/main" val="3518743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D3EFA-355C-9D38-3384-A980E170E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96F6-199E-8C20-6CE2-7E76EFB545CC}"/>
              </a:ext>
            </a:extLst>
          </p:cNvPr>
          <p:cNvSpPr>
            <a:spLocks noGrp="1"/>
          </p:cNvSpPr>
          <p:nvPr>
            <p:ph type="title"/>
          </p:nvPr>
        </p:nvSpPr>
        <p:spPr>
          <a:xfrm>
            <a:off x="457200" y="274638"/>
            <a:ext cx="8229600" cy="709470"/>
          </a:xfrm>
        </p:spPr>
        <p:txBody>
          <a:bodyPr>
            <a:normAutofit fontScale="90000"/>
          </a:bodyPr>
          <a:lstStyle/>
          <a:p>
            <a:r>
              <a:rPr lang="en-US" dirty="0"/>
              <a:t>Final </a:t>
            </a:r>
            <a:r>
              <a:rPr dirty="0"/>
              <a:t>Evaluation </a:t>
            </a:r>
            <a:r>
              <a:rPr lang="en-US" dirty="0"/>
              <a:t>Study </a:t>
            </a:r>
            <a:endParaRPr dirty="0"/>
          </a:p>
        </p:txBody>
      </p:sp>
      <p:sp>
        <p:nvSpPr>
          <p:cNvPr id="5" name="TextBox 4">
            <a:extLst>
              <a:ext uri="{FF2B5EF4-FFF2-40B4-BE49-F238E27FC236}">
                <a16:creationId xmlns:a16="http://schemas.microsoft.com/office/drawing/2014/main" id="{921F4021-277A-B0A8-27CC-A1FCA2BFC708}"/>
              </a:ext>
            </a:extLst>
          </p:cNvPr>
          <p:cNvSpPr txBox="1"/>
          <p:nvPr/>
        </p:nvSpPr>
        <p:spPr>
          <a:xfrm>
            <a:off x="482827" y="1091038"/>
            <a:ext cx="8178345" cy="923330"/>
          </a:xfrm>
          <a:prstGeom prst="rect">
            <a:avLst/>
          </a:prstGeom>
          <a:noFill/>
        </p:spPr>
        <p:txBody>
          <a:bodyPr wrap="square">
            <a:spAutoFit/>
          </a:bodyPr>
          <a:lstStyle/>
          <a:p>
            <a:pPr>
              <a:buNone/>
            </a:pPr>
            <a:br>
              <a:rPr lang="en-US" dirty="0"/>
            </a:br>
            <a:endParaRPr lang="en-US" dirty="0"/>
          </a:p>
          <a:p>
            <a:pPr>
              <a:buNone/>
            </a:pPr>
            <a:r>
              <a:rPr lang="en-US" dirty="0"/>
              <a:t>Question:  Which intervention contributes most?</a:t>
            </a:r>
          </a:p>
        </p:txBody>
      </p:sp>
      <p:sp>
        <p:nvSpPr>
          <p:cNvPr id="7" name="TextBox 6">
            <a:extLst>
              <a:ext uri="{FF2B5EF4-FFF2-40B4-BE49-F238E27FC236}">
                <a16:creationId xmlns:a16="http://schemas.microsoft.com/office/drawing/2014/main" id="{13B59FB7-E986-0E34-FBFD-F1600D974CC7}"/>
              </a:ext>
            </a:extLst>
          </p:cNvPr>
          <p:cNvSpPr txBox="1"/>
          <p:nvPr/>
        </p:nvSpPr>
        <p:spPr>
          <a:xfrm>
            <a:off x="457200" y="5040335"/>
            <a:ext cx="8494079" cy="923330"/>
          </a:xfrm>
          <a:prstGeom prst="rect">
            <a:avLst/>
          </a:prstGeom>
          <a:noFill/>
        </p:spPr>
        <p:txBody>
          <a:bodyPr wrap="square">
            <a:spAutoFit/>
          </a:bodyPr>
          <a:lstStyle/>
          <a:p>
            <a:r>
              <a:rPr lang="en-US" dirty="0"/>
              <a:t>Rather than measuring only final accuracy, I also want to measure whether the debate preserves and eventually recovers correct reasoning trajectories that would otherwise be eliminated too early.</a:t>
            </a:r>
          </a:p>
        </p:txBody>
      </p:sp>
      <p:graphicFrame>
        <p:nvGraphicFramePr>
          <p:cNvPr id="8" name="Table 7">
            <a:extLst>
              <a:ext uri="{FF2B5EF4-FFF2-40B4-BE49-F238E27FC236}">
                <a16:creationId xmlns:a16="http://schemas.microsoft.com/office/drawing/2014/main" id="{56D9E629-E594-F95D-3990-42A15090E5A0}"/>
              </a:ext>
            </a:extLst>
          </p:cNvPr>
          <p:cNvGraphicFramePr>
            <a:graphicFrameLocks noGrp="1"/>
          </p:cNvGraphicFramePr>
          <p:nvPr>
            <p:extLst>
              <p:ext uri="{D42A27DB-BD31-4B8C-83A1-F6EECF244321}">
                <p14:modId xmlns:p14="http://schemas.microsoft.com/office/powerpoint/2010/main" val="638180777"/>
              </p:ext>
            </p:extLst>
          </p:nvPr>
        </p:nvGraphicFramePr>
        <p:xfrm>
          <a:off x="596900" y="2209800"/>
          <a:ext cx="6775706" cy="2438400"/>
        </p:xfrm>
        <a:graphic>
          <a:graphicData uri="http://schemas.openxmlformats.org/drawingml/2006/table">
            <a:tbl>
              <a:tblPr>
                <a:tableStyleId>{5C22544A-7EE6-4342-B048-85BDC9FD1C3A}</a:tableStyleId>
              </a:tblPr>
              <a:tblGrid>
                <a:gridCol w="1937462">
                  <a:extLst>
                    <a:ext uri="{9D8B030D-6E8A-4147-A177-3AD203B41FA5}">
                      <a16:colId xmlns:a16="http://schemas.microsoft.com/office/drawing/2014/main" val="1202882619"/>
                    </a:ext>
                  </a:extLst>
                </a:gridCol>
                <a:gridCol w="2808522">
                  <a:extLst>
                    <a:ext uri="{9D8B030D-6E8A-4147-A177-3AD203B41FA5}">
                      <a16:colId xmlns:a16="http://schemas.microsoft.com/office/drawing/2014/main" val="267782549"/>
                    </a:ext>
                  </a:extLst>
                </a:gridCol>
                <a:gridCol w="709378">
                  <a:extLst>
                    <a:ext uri="{9D8B030D-6E8A-4147-A177-3AD203B41FA5}">
                      <a16:colId xmlns:a16="http://schemas.microsoft.com/office/drawing/2014/main" val="2530118331"/>
                    </a:ext>
                  </a:extLst>
                </a:gridCol>
                <a:gridCol w="1211124">
                  <a:extLst>
                    <a:ext uri="{9D8B030D-6E8A-4147-A177-3AD203B41FA5}">
                      <a16:colId xmlns:a16="http://schemas.microsoft.com/office/drawing/2014/main" val="828745171"/>
                    </a:ext>
                  </a:extLst>
                </a:gridCol>
                <a:gridCol w="109220">
                  <a:extLst>
                    <a:ext uri="{9D8B030D-6E8A-4147-A177-3AD203B41FA5}">
                      <a16:colId xmlns:a16="http://schemas.microsoft.com/office/drawing/2014/main" val="122311010"/>
                    </a:ext>
                  </a:extLst>
                </a:gridCol>
              </a:tblGrid>
              <a:tr h="304800">
                <a:tc>
                  <a:txBody>
                    <a:bodyPr/>
                    <a:lstStyle/>
                    <a:p>
                      <a:pPr algn="l" rtl="0" fontAlgn="ctr">
                        <a:buNone/>
                      </a:pPr>
                      <a:r>
                        <a:rPr lang="en-US" sz="1800" u="none" strike="noStrike">
                          <a:effectLst/>
                        </a:rPr>
                        <a:t>Setting</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rtl="0" fontAlgn="ctr">
                        <a:buNone/>
                      </a:pPr>
                      <a:r>
                        <a:rPr lang="en-US" sz="1800" u="none" strike="noStrike">
                          <a:effectLst/>
                        </a:rPr>
                        <a:t>Consensus Reliability</a:t>
                      </a:r>
                      <a:endParaRPr lang="en-US" sz="1800" b="0" i="0" u="none" strike="noStrike">
                        <a:solidFill>
                          <a:srgbClr val="000000"/>
                        </a:solidFill>
                        <a:effectLst/>
                        <a:latin typeface="Calibri" panose="020F0502020204030204" pitchFamily="34" charset="0"/>
                      </a:endParaRPr>
                    </a:p>
                  </a:txBody>
                  <a:tcPr marL="3810" marR="3810" marT="3810" marB="0" anchor="ctr"/>
                </a:tc>
                <a:tc>
                  <a:txBody>
                    <a:bodyPr/>
                    <a:lstStyle/>
                    <a:p>
                      <a:pPr algn="l" rtl="0" fontAlgn="ctr">
                        <a:buNone/>
                      </a:pPr>
                      <a:r>
                        <a:rPr lang="en-US" sz="1800" u="none" strike="noStrike">
                          <a:effectLst/>
                        </a:rPr>
                        <a:t>PER</a:t>
                      </a:r>
                      <a:endParaRPr lang="en-US" sz="1800" b="0" i="0" u="none" strike="noStrike">
                        <a:solidFill>
                          <a:srgbClr val="000000"/>
                        </a:solidFill>
                        <a:effectLst/>
                        <a:latin typeface="Calibri" panose="020F0502020204030204" pitchFamily="34" charset="0"/>
                      </a:endParaRPr>
                    </a:p>
                  </a:txBody>
                  <a:tcPr marL="3810" marR="3810" marT="3810" marB="0" anchor="ctr"/>
                </a:tc>
                <a:tc>
                  <a:txBody>
                    <a:bodyPr/>
                    <a:lstStyle/>
                    <a:p>
                      <a:pPr algn="l" rtl="0" fontAlgn="ctr">
                        <a:buNone/>
                      </a:pPr>
                      <a:r>
                        <a:rPr lang="en-US" sz="1800" b="1" u="none" strike="noStrike" dirty="0">
                          <a:solidFill>
                            <a:srgbClr val="FF0000"/>
                          </a:solidFill>
                          <a:effectLst/>
                        </a:rPr>
                        <a:t>Accuracy </a:t>
                      </a:r>
                      <a:endParaRPr lang="en-US" sz="1800" b="1" i="0" u="none" strike="noStrike" dirty="0">
                        <a:solidFill>
                          <a:srgbClr val="FF0000"/>
                        </a:solidFill>
                        <a:effectLst/>
                        <a:latin typeface="Calibri" panose="020F0502020204030204" pitchFamily="34" charset="0"/>
                      </a:endParaRPr>
                    </a:p>
                  </a:txBody>
                  <a:tcPr marL="3810" marR="3810" marT="3810" marB="0" anchor="ctr"/>
                </a:tc>
                <a:tc>
                  <a:txBody>
                    <a:bodyPr/>
                    <a:lstStyle/>
                    <a:p>
                      <a:pPr algn="l" rtl="0" fontAlgn="ctr">
                        <a:buNone/>
                      </a:pPr>
                      <a:r>
                        <a:rPr lang="en-US" sz="1800" u="none" strike="noStrike" dirty="0">
                          <a:effectLst/>
                        </a:rPr>
                        <a:t>  </a:t>
                      </a:r>
                      <a:endParaRPr lang="en-US" sz="1800" b="0" i="0" u="none" strike="noStrike" dirty="0">
                        <a:solidFill>
                          <a:srgbClr val="000000"/>
                        </a:solidFill>
                        <a:effectLst/>
                        <a:latin typeface="Calibri" panose="020F0502020204030204" pitchFamily="34" charset="0"/>
                      </a:endParaRPr>
                    </a:p>
                  </a:txBody>
                  <a:tcPr marL="80010" marR="3810" marT="3810" marB="0" anchor="ctr"/>
                </a:tc>
                <a:extLst>
                  <a:ext uri="{0D108BD9-81ED-4DB2-BD59-A6C34878D82A}">
                    <a16:rowId xmlns:a16="http://schemas.microsoft.com/office/drawing/2014/main" val="3133365951"/>
                  </a:ext>
                </a:extLst>
              </a:tr>
              <a:tr h="304800">
                <a:tc>
                  <a:txBody>
                    <a:bodyPr/>
                    <a:lstStyle/>
                    <a:p>
                      <a:pPr algn="l" rtl="0" fontAlgn="ctr">
                        <a:buNone/>
                      </a:pPr>
                      <a:r>
                        <a:rPr lang="en-US" sz="1800" u="none" strike="noStrike">
                          <a:effectLst/>
                        </a:rPr>
                        <a:t>Baseline</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rtl="0" fontAlgn="ctr">
                        <a:buNone/>
                      </a:pPr>
                      <a:endParaRPr lang="en-US" sz="1800" b="1" i="0" u="none" strike="noStrike">
                        <a:solidFill>
                          <a:srgbClr val="FF0000"/>
                        </a:solidFill>
                        <a:effectLst/>
                        <a:latin typeface="Calibri" panose="020F0502020204030204" pitchFamily="34" charset="0"/>
                      </a:endParaRPr>
                    </a:p>
                  </a:txBody>
                  <a:tcPr marL="3810" marR="3810" marT="3810" marB="0" anchor="ct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347609722"/>
                  </a:ext>
                </a:extLst>
              </a:tr>
              <a:tr h="304800">
                <a:tc>
                  <a:txBody>
                    <a:bodyPr/>
                    <a:lstStyle/>
                    <a:p>
                      <a:pPr algn="l" rtl="0" fontAlgn="ctr">
                        <a:buNone/>
                      </a:pPr>
                      <a:r>
                        <a:rPr lang="en-US" sz="1800" u="none" strike="noStrike">
                          <a:effectLst/>
                        </a:rPr>
                        <a:t>Penalty-to-Loser</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07256906"/>
                  </a:ext>
                </a:extLst>
              </a:tr>
              <a:tr h="304800">
                <a:tc>
                  <a:txBody>
                    <a:bodyPr/>
                    <a:lstStyle/>
                    <a:p>
                      <a:pPr algn="l" rtl="0" fontAlgn="ctr">
                        <a:buNone/>
                      </a:pPr>
                      <a:r>
                        <a:rPr lang="en-US" sz="1800" u="none" strike="noStrike">
                          <a:effectLst/>
                        </a:rPr>
                        <a:t>Minority Protection</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038258904"/>
                  </a:ext>
                </a:extLst>
              </a:tr>
              <a:tr h="304800">
                <a:tc>
                  <a:txBody>
                    <a:bodyPr/>
                    <a:lstStyle/>
                    <a:p>
                      <a:pPr algn="l" rtl="0" fontAlgn="ctr">
                        <a:buNone/>
                      </a:pPr>
                      <a:r>
                        <a:rPr lang="en-US" sz="1800" u="none" strike="noStrike">
                          <a:effectLst/>
                        </a:rPr>
                        <a:t>Delayed Consensus</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110558255"/>
                  </a:ext>
                </a:extLst>
              </a:tr>
              <a:tr h="304800">
                <a:tc>
                  <a:txBody>
                    <a:bodyPr/>
                    <a:lstStyle/>
                    <a:p>
                      <a:pPr algn="l" rtl="0" fontAlgn="ctr">
                        <a:buNone/>
                      </a:pPr>
                      <a:r>
                        <a:rPr lang="en-US" sz="1800" u="none" strike="noStrike">
                          <a:effectLst/>
                        </a:rPr>
                        <a:t>Devil's Advocate</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50969437"/>
                  </a:ext>
                </a:extLst>
              </a:tr>
              <a:tr h="304800">
                <a:tc>
                  <a:txBody>
                    <a:bodyPr/>
                    <a:lstStyle/>
                    <a:p>
                      <a:pPr algn="l" rtl="0" fontAlgn="ctr">
                        <a:buNone/>
                      </a:pPr>
                      <a:r>
                        <a:rPr lang="en-US" sz="1800" u="none" strike="noStrike">
                          <a:effectLst/>
                        </a:rPr>
                        <a:t>Resurrection</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818741194"/>
                  </a:ext>
                </a:extLst>
              </a:tr>
              <a:tr h="304800">
                <a:tc>
                  <a:txBody>
                    <a:bodyPr/>
                    <a:lstStyle/>
                    <a:p>
                      <a:pPr algn="l" rtl="0" fontAlgn="ctr">
                        <a:buNone/>
                      </a:pPr>
                      <a:r>
                        <a:rPr lang="en-US" sz="1800" u="none" strike="noStrike">
                          <a:effectLst/>
                        </a:rPr>
                        <a:t>Full System</a:t>
                      </a:r>
                      <a:endParaRPr lang="en-US" sz="1800" b="0" i="0" u="none" strike="noStrike">
                        <a:solidFill>
                          <a:srgbClr val="000000"/>
                        </a:solidFill>
                        <a:effectLst/>
                        <a:latin typeface="Calibri" panose="020F0502020204030204" pitchFamily="34" charset="0"/>
                      </a:endParaRPr>
                    </a:p>
                  </a:txBody>
                  <a:tcPr marL="80010" marR="3810" marT="3810" marB="0" anchor="ct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19120496"/>
                  </a:ext>
                </a:extLst>
              </a:tr>
            </a:tbl>
          </a:graphicData>
        </a:graphic>
      </p:graphicFrame>
    </p:spTree>
    <p:extLst>
      <p:ext uri="{BB962C8B-B14F-4D97-AF65-F5344CB8AC3E}">
        <p14:creationId xmlns:p14="http://schemas.microsoft.com/office/powerpoint/2010/main" val="3121357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76F91-05ED-D5E3-3C1C-7C608522D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C4678-C3AC-EEC4-EC70-34ACEC209A30}"/>
              </a:ext>
            </a:extLst>
          </p:cNvPr>
          <p:cNvSpPr>
            <a:spLocks noGrp="1"/>
          </p:cNvSpPr>
          <p:nvPr>
            <p:ph type="title"/>
          </p:nvPr>
        </p:nvSpPr>
        <p:spPr>
          <a:xfrm>
            <a:off x="457200" y="274638"/>
            <a:ext cx="8229600" cy="709470"/>
          </a:xfrm>
        </p:spPr>
        <p:txBody>
          <a:bodyPr>
            <a:normAutofit fontScale="90000"/>
          </a:bodyPr>
          <a:lstStyle/>
          <a:p>
            <a:r>
              <a:rPr lang="en-US" dirty="0"/>
              <a:t>Important figure to include</a:t>
            </a:r>
            <a:endParaRPr dirty="0"/>
          </a:p>
        </p:txBody>
      </p:sp>
      <p:sp>
        <p:nvSpPr>
          <p:cNvPr id="6" name="TextBox 5">
            <a:extLst>
              <a:ext uri="{FF2B5EF4-FFF2-40B4-BE49-F238E27FC236}">
                <a16:creationId xmlns:a16="http://schemas.microsoft.com/office/drawing/2014/main" id="{2C860F0F-2E98-957D-182D-A62A9C8D7C1F}"/>
              </a:ext>
            </a:extLst>
          </p:cNvPr>
          <p:cNvSpPr txBox="1"/>
          <p:nvPr/>
        </p:nvSpPr>
        <p:spPr>
          <a:xfrm>
            <a:off x="582264" y="1121846"/>
            <a:ext cx="7516122" cy="5078313"/>
          </a:xfrm>
          <a:prstGeom prst="rect">
            <a:avLst/>
          </a:prstGeom>
          <a:noFill/>
        </p:spPr>
        <p:txBody>
          <a:bodyPr wrap="square">
            <a:spAutoFit/>
          </a:bodyPr>
          <a:lstStyle/>
          <a:p>
            <a:pPr rtl="0">
              <a:buNone/>
            </a:pPr>
            <a:r>
              <a:rPr lang="en-US" dirty="0">
                <a:latin typeface="Courier New" panose="02070309020205020404" pitchFamily="49" charset="0"/>
              </a:rPr>
              <a:t>Correct Hypothesis Survival Probability</a:t>
            </a:r>
            <a:br>
              <a:rPr lang="en-US" dirty="0">
                <a:latin typeface="Courier New" panose="02070309020205020404" pitchFamily="49" charset="0"/>
              </a:rPr>
            </a:br>
            <a:r>
              <a:rPr lang="en-US" dirty="0">
                <a:latin typeface="Courier New" panose="02070309020205020404" pitchFamily="49" charset="0"/>
              </a:rPr>
              <a:t>1.0 |\</a:t>
            </a:r>
            <a:br>
              <a:rPr lang="en-US" dirty="0">
                <a:latin typeface="Courier New" panose="02070309020205020404" pitchFamily="49" charset="0"/>
              </a:rPr>
            </a:br>
            <a:r>
              <a:rPr lang="en-US" dirty="0">
                <a:latin typeface="Courier New" panose="02070309020205020404" pitchFamily="49" charset="0"/>
              </a:rPr>
              <a:t>    | \</a:t>
            </a:r>
            <a:br>
              <a:rPr lang="en-US" dirty="0">
                <a:latin typeface="Courier New" panose="02070309020205020404" pitchFamily="49" charset="0"/>
              </a:rPr>
            </a:br>
            <a:r>
              <a:rPr lang="en-US" dirty="0">
                <a:latin typeface="Courier New" panose="02070309020205020404" pitchFamily="49" charset="0"/>
              </a:rPr>
              <a:t>0.8 |  \</a:t>
            </a:r>
            <a:br>
              <a:rPr lang="en-US" dirty="0">
                <a:latin typeface="Courier New" panose="02070309020205020404" pitchFamily="49" charset="0"/>
              </a:rPr>
            </a:br>
            <a:r>
              <a:rPr lang="en-US" dirty="0">
                <a:latin typeface="Courier New" panose="02070309020205020404" pitchFamily="49" charset="0"/>
              </a:rPr>
              <a:t>    |   \   Adaptive</a:t>
            </a:r>
            <a:br>
              <a:rPr lang="en-US" dirty="0">
                <a:latin typeface="Courier New" panose="02070309020205020404" pitchFamily="49" charset="0"/>
              </a:rPr>
            </a:br>
            <a:r>
              <a:rPr lang="en-US" dirty="0">
                <a:latin typeface="Courier New" panose="02070309020205020404" pitchFamily="49" charset="0"/>
              </a:rPr>
              <a:t>0.6 |    \____</a:t>
            </a:r>
            <a:br>
              <a:rPr lang="en-US" dirty="0">
                <a:latin typeface="Courier New" panose="02070309020205020404" pitchFamily="49" charset="0"/>
              </a:rPr>
            </a:br>
            <a:r>
              <a:rPr lang="en-US" dirty="0">
                <a:latin typeface="Courier New" panose="02070309020205020404" pitchFamily="49" charset="0"/>
              </a:rPr>
              <a:t>    |</a:t>
            </a:r>
            <a:br>
              <a:rPr lang="en-US" dirty="0">
                <a:latin typeface="Courier New" panose="02070309020205020404" pitchFamily="49" charset="0"/>
              </a:rPr>
            </a:br>
            <a:r>
              <a:rPr lang="en-US" dirty="0">
                <a:latin typeface="Courier New" panose="02070309020205020404" pitchFamily="49" charset="0"/>
              </a:rPr>
              <a:t>0.4 |________ Baseline</a:t>
            </a:r>
            <a:br>
              <a:rPr lang="en-US" dirty="0">
                <a:latin typeface="Courier New" panose="02070309020205020404" pitchFamily="49" charset="0"/>
              </a:rPr>
            </a:br>
            <a:r>
              <a:rPr lang="en-US" dirty="0">
                <a:latin typeface="Courier New" panose="02070309020205020404" pitchFamily="49" charset="0"/>
              </a:rPr>
              <a:t>    |</a:t>
            </a:r>
            <a:br>
              <a:rPr lang="en-US" dirty="0">
                <a:latin typeface="Courier New" panose="02070309020205020404" pitchFamily="49" charset="0"/>
              </a:rPr>
            </a:br>
            <a:r>
              <a:rPr lang="en-US" dirty="0">
                <a:latin typeface="Courier New" panose="02070309020205020404" pitchFamily="49" charset="0"/>
              </a:rPr>
              <a:t>0.2 |</a:t>
            </a:r>
            <a:br>
              <a:rPr lang="en-US" dirty="0">
                <a:latin typeface="Courier New" panose="02070309020205020404" pitchFamily="49" charset="0"/>
              </a:rPr>
            </a:br>
            <a:r>
              <a:rPr lang="en-US" dirty="0">
                <a:latin typeface="Courier New" panose="02070309020205020404" pitchFamily="49" charset="0"/>
              </a:rPr>
              <a:t>    +------------------</a:t>
            </a:r>
            <a:br>
              <a:rPr lang="en-US" dirty="0">
                <a:latin typeface="Courier New" panose="02070309020205020404" pitchFamily="49" charset="0"/>
              </a:rPr>
            </a:br>
            <a:r>
              <a:rPr lang="en-US" dirty="0">
                <a:latin typeface="Courier New" panose="02070309020205020404" pitchFamily="49" charset="0"/>
              </a:rPr>
              <a:t>      Debate Round</a:t>
            </a:r>
          </a:p>
          <a:p>
            <a:r>
              <a:rPr lang="en-US" dirty="0"/>
              <a:t>Interpretation:</a:t>
            </a:r>
          </a:p>
          <a:p>
            <a:r>
              <a:rPr lang="en-US" dirty="0"/>
              <a:t>Under baseline debates, correct reasoning paths disappear quickly.</a:t>
            </a:r>
          </a:p>
          <a:p>
            <a:r>
              <a:rPr lang="en-US" dirty="0"/>
              <a:t>Under adaptive influence balancing system, correct reasoning survives longer and is more likely to become the final answer.</a:t>
            </a:r>
          </a:p>
          <a:p>
            <a:r>
              <a:rPr lang="en-US" dirty="0"/>
              <a:t>This figure would directly support our central claim</a:t>
            </a:r>
          </a:p>
          <a:p>
            <a:pPr rtl="0">
              <a:buNone/>
            </a:pPr>
            <a:endParaRPr lang="en-US" dirty="0">
              <a:latin typeface="Courier New" panose="02070309020205020404" pitchFamily="49" charset="0"/>
            </a:endParaRPr>
          </a:p>
        </p:txBody>
      </p:sp>
    </p:spTree>
    <p:extLst>
      <p:ext uri="{BB962C8B-B14F-4D97-AF65-F5344CB8AC3E}">
        <p14:creationId xmlns:p14="http://schemas.microsoft.com/office/powerpoint/2010/main" val="3176005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Contributions</a:t>
            </a:r>
          </a:p>
        </p:txBody>
      </p:sp>
      <p:sp>
        <p:nvSpPr>
          <p:cNvPr id="3" name="Content Placeholder 2"/>
          <p:cNvSpPr>
            <a:spLocks noGrp="1"/>
          </p:cNvSpPr>
          <p:nvPr>
            <p:ph idx="1"/>
          </p:nvPr>
        </p:nvSpPr>
        <p:spPr/>
        <p:txBody>
          <a:bodyPr/>
          <a:lstStyle/>
          <a:p>
            <a:r>
              <a:rPr dirty="0"/>
              <a:t>Adaptive control of debates</a:t>
            </a:r>
          </a:p>
          <a:p>
            <a:r>
              <a:rPr dirty="0"/>
              <a:t>Influence balancing for reliability</a:t>
            </a:r>
          </a:p>
          <a:p>
            <a:r>
              <a:rPr dirty="0"/>
              <a:t>Process-aware uncertainty estimation</a:t>
            </a:r>
            <a:endParaRPr lang="en-US" dirty="0"/>
          </a:p>
          <a:p>
            <a:r>
              <a:rPr lang="en-US" dirty="0"/>
              <a:t>Higher final-answer reliability</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Why This Matters for Reliability Research</a:t>
            </a:r>
          </a:p>
        </p:txBody>
      </p:sp>
      <p:sp>
        <p:nvSpPr>
          <p:cNvPr id="3" name="Content Placeholder 2"/>
          <p:cNvSpPr>
            <a:spLocks noGrp="1"/>
          </p:cNvSpPr>
          <p:nvPr>
            <p:ph idx="1"/>
          </p:nvPr>
        </p:nvSpPr>
        <p:spPr/>
        <p:txBody>
          <a:bodyPr/>
          <a:lstStyle/>
          <a:p>
            <a:r>
              <a:rPr dirty="0"/>
              <a:t>Most work studies model confidence</a:t>
            </a:r>
          </a:p>
          <a:p>
            <a:r>
              <a:rPr dirty="0"/>
              <a:t>This project studies </a:t>
            </a:r>
            <a:r>
              <a:rPr lang="en-US" dirty="0"/>
              <a:t>social </a:t>
            </a:r>
            <a:r>
              <a:rPr dirty="0"/>
              <a:t>uncertainty</a:t>
            </a:r>
          </a:p>
          <a:p>
            <a:r>
              <a:rPr dirty="0"/>
              <a:t>Reliable collective intelligence requires healthy deliberation dynamics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479EA-46F3-460E-E65A-9045AA476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92366-E94D-2D70-9F13-689641709EFE}"/>
              </a:ext>
            </a:extLst>
          </p:cNvPr>
          <p:cNvSpPr>
            <a:spLocks noGrp="1"/>
          </p:cNvSpPr>
          <p:nvPr>
            <p:ph type="title"/>
          </p:nvPr>
        </p:nvSpPr>
        <p:spPr>
          <a:xfrm>
            <a:off x="637620" y="2201849"/>
            <a:ext cx="8229600" cy="1143000"/>
          </a:xfrm>
        </p:spPr>
        <p:txBody>
          <a:bodyPr>
            <a:normAutofit/>
          </a:bodyPr>
          <a:lstStyle/>
          <a:p>
            <a:r>
              <a:rPr lang="en-US" dirty="0"/>
              <a:t>Experiment #2</a:t>
            </a:r>
            <a:endParaRPr dirty="0"/>
          </a:p>
        </p:txBody>
      </p:sp>
    </p:spTree>
    <p:extLst>
      <p:ext uri="{BB962C8B-B14F-4D97-AF65-F5344CB8AC3E}">
        <p14:creationId xmlns:p14="http://schemas.microsoft.com/office/powerpoint/2010/main" val="336006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782DD-D0BD-110F-F286-E85D75F15D2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ACC4388-D901-3241-35C3-54E420DAB632}"/>
              </a:ext>
            </a:extLst>
          </p:cNvPr>
          <p:cNvSpPr txBox="1"/>
          <p:nvPr/>
        </p:nvSpPr>
        <p:spPr>
          <a:xfrm>
            <a:off x="389543" y="1175415"/>
            <a:ext cx="8574037" cy="4801314"/>
          </a:xfrm>
          <a:prstGeom prst="rect">
            <a:avLst/>
          </a:prstGeom>
          <a:noFill/>
        </p:spPr>
        <p:txBody>
          <a:bodyPr wrap="square">
            <a:spAutoFit/>
          </a:bodyPr>
          <a:lstStyle/>
          <a:p>
            <a:pPr marL="342900" indent="-342900">
              <a:buAutoNum type="arabicPeriod"/>
            </a:pPr>
            <a:r>
              <a:rPr lang="en-US" dirty="0"/>
              <a:t>Use the exact same 200 questions from baseline case, not a fresh MMLU-Pro sample.</a:t>
            </a:r>
          </a:p>
          <a:p>
            <a:pPr marL="342900" indent="-342900">
              <a:buAutoNum type="arabicPeriod"/>
            </a:pPr>
            <a:endParaRPr lang="en-US" dirty="0"/>
          </a:p>
          <a:p>
            <a:pPr marL="342900" indent="-342900">
              <a:buAutoNum type="arabicPeriod"/>
            </a:pPr>
            <a:r>
              <a:rPr lang="en-US" dirty="0"/>
              <a:t>Keep the baseline protocol identical: 3 agents, 5 rounds, same model, same seed, same temperature/top-p, same final-answer moderator fallback.</a:t>
            </a:r>
          </a:p>
          <a:p>
            <a:pPr marL="342900" indent="-342900">
              <a:buAutoNum type="arabicPeriod"/>
            </a:pPr>
            <a:endParaRPr lang="en-US" dirty="0"/>
          </a:p>
          <a:p>
            <a:pPr marL="342900" indent="-342900">
              <a:buAutoNum type="arabicPeriod"/>
            </a:pPr>
            <a:r>
              <a:rPr lang="en-US" dirty="0"/>
              <a:t>Add agent-resistance state:</a:t>
            </a:r>
          </a:p>
          <a:p>
            <a:pPr lvl="1"/>
            <a:r>
              <a:rPr lang="en-US" dirty="0"/>
              <a:t>resistance[agent] starts at 0.0</a:t>
            </a:r>
          </a:p>
          <a:p>
            <a:pPr lvl="1"/>
            <a:r>
              <a:rPr lang="en-US" dirty="0"/>
              <a:t>alpha = 0.08;   </a:t>
            </a:r>
            <a:r>
              <a:rPr lang="en-US" dirty="0" err="1"/>
              <a:t>resistance_cap</a:t>
            </a:r>
            <a:r>
              <a:rPr lang="en-US" dirty="0"/>
              <a:t> = 0.65;  W = 2</a:t>
            </a:r>
          </a:p>
          <a:p>
            <a:pPr lvl="1"/>
            <a:r>
              <a:rPr lang="en-US" dirty="0"/>
              <a:t>loser threshold = influence/support &lt; 1.5</a:t>
            </a:r>
          </a:p>
          <a:p>
            <a:pPr lvl="1"/>
            <a:endParaRPr lang="en-US" dirty="0"/>
          </a:p>
          <a:p>
            <a:r>
              <a:rPr lang="en-US" dirty="0">
                <a:solidFill>
                  <a:srgbClr val="FF0000"/>
                </a:solidFill>
              </a:rPr>
              <a:t>4. For MMLU multiple-choice questions, adapt “influence” categorically:</a:t>
            </a:r>
          </a:p>
          <a:p>
            <a:pPr lvl="1"/>
            <a:r>
              <a:rPr lang="en-US" dirty="0">
                <a:solidFill>
                  <a:srgbClr val="FF0000"/>
                </a:solidFill>
              </a:rPr>
              <a:t>support(agent, round) = number of agents currently giving the same answer</a:t>
            </a:r>
          </a:p>
          <a:p>
            <a:pPr lvl="1"/>
            <a:r>
              <a:rPr lang="en-US" dirty="0">
                <a:solidFill>
                  <a:srgbClr val="FF0000"/>
                </a:solidFill>
              </a:rPr>
              <a:t>trend = </a:t>
            </a:r>
            <a:r>
              <a:rPr lang="en-US" dirty="0" err="1">
                <a:solidFill>
                  <a:srgbClr val="FF0000"/>
                </a:solidFill>
              </a:rPr>
              <a:t>support_t</a:t>
            </a:r>
            <a:r>
              <a:rPr lang="en-US" dirty="0">
                <a:solidFill>
                  <a:srgbClr val="FF0000"/>
                </a:solidFill>
              </a:rPr>
              <a:t> - support_(t-1)</a:t>
            </a:r>
          </a:p>
          <a:p>
            <a:pPr lvl="1"/>
            <a:r>
              <a:rPr lang="en-US" dirty="0">
                <a:solidFill>
                  <a:srgbClr val="FF0000"/>
                </a:solidFill>
              </a:rPr>
              <a:t>loser = </a:t>
            </a:r>
            <a:r>
              <a:rPr lang="en-US" dirty="0" err="1">
                <a:solidFill>
                  <a:srgbClr val="FF0000"/>
                </a:solidFill>
              </a:rPr>
              <a:t>support_t</a:t>
            </a:r>
            <a:r>
              <a:rPr lang="en-US" dirty="0">
                <a:solidFill>
                  <a:srgbClr val="FF0000"/>
                </a:solidFill>
              </a:rPr>
              <a:t> &lt; 1.5 and trend &lt; 0</a:t>
            </a:r>
          </a:p>
          <a:p>
            <a:pPr lvl="1"/>
            <a:r>
              <a:rPr lang="en-US" dirty="0">
                <a:solidFill>
                  <a:srgbClr val="FF0000"/>
                </a:solidFill>
              </a:rPr>
              <a:t>With 3 agents, this means an agent is basically isolated and becoming less supported.</a:t>
            </a:r>
          </a:p>
          <a:p>
            <a:pPr lvl="1"/>
            <a:endParaRPr lang="en-US" dirty="0"/>
          </a:p>
          <a:p>
            <a:r>
              <a:rPr lang="en-US" dirty="0"/>
              <a:t>5. When an agent is flagged as a loser:  resistance[a] = min(resistance[a] + 0.08, 0.65)</a:t>
            </a:r>
          </a:p>
        </p:txBody>
      </p:sp>
      <p:sp>
        <p:nvSpPr>
          <p:cNvPr id="12" name="Title 1">
            <a:extLst>
              <a:ext uri="{FF2B5EF4-FFF2-40B4-BE49-F238E27FC236}">
                <a16:creationId xmlns:a16="http://schemas.microsoft.com/office/drawing/2014/main" id="{AB3C286C-2C11-B2C1-D814-280AAD58EF0D}"/>
              </a:ext>
            </a:extLst>
          </p:cNvPr>
          <p:cNvSpPr>
            <a:spLocks noGrp="1"/>
          </p:cNvSpPr>
          <p:nvPr>
            <p:ph type="title"/>
          </p:nvPr>
        </p:nvSpPr>
        <p:spPr>
          <a:xfrm>
            <a:off x="457200" y="274639"/>
            <a:ext cx="8229600" cy="401936"/>
          </a:xfrm>
        </p:spPr>
        <p:txBody>
          <a:bodyPr>
            <a:normAutofit fontScale="90000"/>
          </a:bodyPr>
          <a:lstStyle/>
          <a:p>
            <a:pPr algn="l"/>
            <a:r>
              <a:rPr lang="en-US" sz="3100" dirty="0"/>
              <a:t>Experiment 2a: Loser-More-Resistance - Methodology</a:t>
            </a:r>
            <a:endParaRPr dirty="0"/>
          </a:p>
        </p:txBody>
      </p:sp>
    </p:spTree>
    <p:extLst>
      <p:ext uri="{BB962C8B-B14F-4D97-AF65-F5344CB8AC3E}">
        <p14:creationId xmlns:p14="http://schemas.microsoft.com/office/powerpoint/2010/main" val="3620045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F5727-E917-AC26-C909-85F3B8D60E4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299AC55-F4FA-8748-9C67-A2516FD208D3}"/>
              </a:ext>
            </a:extLst>
          </p:cNvPr>
          <p:cNvSpPr txBox="1"/>
          <p:nvPr/>
        </p:nvSpPr>
        <p:spPr>
          <a:xfrm>
            <a:off x="389543" y="1109427"/>
            <a:ext cx="8574037" cy="5909310"/>
          </a:xfrm>
          <a:prstGeom prst="rect">
            <a:avLst/>
          </a:prstGeom>
          <a:noFill/>
        </p:spPr>
        <p:txBody>
          <a:bodyPr wrap="square">
            <a:spAutoFit/>
          </a:bodyPr>
          <a:lstStyle/>
          <a:p>
            <a:r>
              <a:rPr lang="en-US" dirty="0">
                <a:latin typeface="Segoe WPC"/>
              </a:rPr>
              <a:t>5. </a:t>
            </a:r>
            <a:r>
              <a:rPr lang="en-US" dirty="0"/>
              <a:t>New prompt for loser: “Your current resistance level is 0.32. You appear to be losing peer support, but do not switch merely because other agents agree.  Re-evaluate your own answer from first principles. Change only if the other agents provide specific evidence that defeats your reasoning. If your original answer remains defensible, preserve it and explain why. “  </a:t>
            </a:r>
          </a:p>
          <a:p>
            <a:endParaRPr lang="en-US" dirty="0"/>
          </a:p>
          <a:p>
            <a:r>
              <a:rPr lang="en-US" dirty="0"/>
              <a:t>For unflagged agents, use the current prompt unchanged.</a:t>
            </a:r>
            <a:endParaRPr lang="en-US" dirty="0">
              <a:solidFill>
                <a:srgbClr val="CCCCCC"/>
              </a:solidFill>
              <a:latin typeface="Segoe WPC"/>
            </a:endParaRPr>
          </a:p>
          <a:p>
            <a:endParaRPr lang="en-US" dirty="0">
              <a:solidFill>
                <a:srgbClr val="CCCCCC"/>
              </a:solidFill>
              <a:latin typeface="Segoe WPC"/>
            </a:endParaRPr>
          </a:p>
          <a:p>
            <a:r>
              <a:rPr lang="en-US" dirty="0">
                <a:latin typeface="Segoe WPC"/>
              </a:rPr>
              <a:t>6. </a:t>
            </a:r>
            <a:r>
              <a:rPr lang="en-US" dirty="0"/>
              <a:t> Log the intervention state. </a:t>
            </a:r>
            <a:r>
              <a:rPr lang="en-US" dirty="0" err="1"/>
              <a:t>Logges</a:t>
            </a:r>
            <a:r>
              <a:rPr lang="en-US" dirty="0"/>
              <a:t> columns:</a:t>
            </a:r>
          </a:p>
          <a:p>
            <a:pPr lvl="1"/>
            <a:r>
              <a:rPr lang="en-US" dirty="0" err="1"/>
              <a:t>row_index</a:t>
            </a:r>
            <a:endParaRPr lang="en-US" dirty="0"/>
          </a:p>
          <a:p>
            <a:pPr lvl="1"/>
            <a:r>
              <a:rPr lang="en-US" dirty="0" err="1"/>
              <a:t>question_no</a:t>
            </a:r>
            <a:endParaRPr lang="en-US" dirty="0"/>
          </a:p>
          <a:p>
            <a:pPr lvl="1"/>
            <a:r>
              <a:rPr lang="en-US" dirty="0"/>
              <a:t>round</a:t>
            </a:r>
          </a:p>
          <a:p>
            <a:pPr lvl="1"/>
            <a:r>
              <a:rPr lang="en-US" dirty="0"/>
              <a:t>agent</a:t>
            </a:r>
          </a:p>
          <a:p>
            <a:pPr lvl="1"/>
            <a:r>
              <a:rPr lang="en-US" dirty="0"/>
              <a:t>answer</a:t>
            </a:r>
          </a:p>
          <a:p>
            <a:pPr lvl="1"/>
            <a:r>
              <a:rPr lang="en-US" dirty="0"/>
              <a:t>support</a:t>
            </a:r>
          </a:p>
          <a:p>
            <a:pPr lvl="1"/>
            <a:r>
              <a:rPr lang="en-US" dirty="0" err="1"/>
              <a:t>support_trend</a:t>
            </a:r>
            <a:endParaRPr lang="en-US" dirty="0"/>
          </a:p>
          <a:p>
            <a:pPr lvl="1"/>
            <a:r>
              <a:rPr lang="en-US" dirty="0" err="1"/>
              <a:t>loser_flag</a:t>
            </a:r>
            <a:endParaRPr lang="en-US" dirty="0"/>
          </a:p>
          <a:p>
            <a:pPr lvl="1"/>
            <a:r>
              <a:rPr lang="en-US" dirty="0" err="1"/>
              <a:t>resistance_before</a:t>
            </a:r>
            <a:endParaRPr lang="en-US" dirty="0"/>
          </a:p>
          <a:p>
            <a:pPr lvl="1"/>
            <a:r>
              <a:rPr lang="en-US" dirty="0" err="1"/>
              <a:t>resistance_after</a:t>
            </a:r>
            <a:endParaRPr lang="en-US" dirty="0"/>
          </a:p>
          <a:p>
            <a:pPr lvl="1"/>
            <a:r>
              <a:rPr lang="en-US" dirty="0" err="1"/>
              <a:t>intervention_applied</a:t>
            </a:r>
            <a:endParaRPr lang="en-US" dirty="0"/>
          </a:p>
          <a:p>
            <a:endParaRPr lang="en-US" dirty="0">
              <a:solidFill>
                <a:srgbClr val="CCCCCC"/>
              </a:solidFill>
              <a:latin typeface="Segoe WPC"/>
            </a:endParaRPr>
          </a:p>
        </p:txBody>
      </p:sp>
      <p:sp>
        <p:nvSpPr>
          <p:cNvPr id="12" name="Title 1">
            <a:extLst>
              <a:ext uri="{FF2B5EF4-FFF2-40B4-BE49-F238E27FC236}">
                <a16:creationId xmlns:a16="http://schemas.microsoft.com/office/drawing/2014/main" id="{71FDE30A-8E3B-2DFE-1B5B-7EC2A6443754}"/>
              </a:ext>
            </a:extLst>
          </p:cNvPr>
          <p:cNvSpPr>
            <a:spLocks noGrp="1"/>
          </p:cNvSpPr>
          <p:nvPr>
            <p:ph type="title"/>
          </p:nvPr>
        </p:nvSpPr>
        <p:spPr>
          <a:xfrm>
            <a:off x="457200" y="274639"/>
            <a:ext cx="8229600" cy="401936"/>
          </a:xfrm>
        </p:spPr>
        <p:txBody>
          <a:bodyPr>
            <a:normAutofit fontScale="90000"/>
          </a:bodyPr>
          <a:lstStyle/>
          <a:p>
            <a:pPr algn="l"/>
            <a:r>
              <a:rPr lang="en-US" sz="3100" dirty="0"/>
              <a:t>Experiment 2a: Loser-More-Resistance - Methodology</a:t>
            </a:r>
            <a:endParaRPr dirty="0"/>
          </a:p>
        </p:txBody>
      </p:sp>
    </p:spTree>
    <p:extLst>
      <p:ext uri="{BB962C8B-B14F-4D97-AF65-F5344CB8AC3E}">
        <p14:creationId xmlns:p14="http://schemas.microsoft.com/office/powerpoint/2010/main" val="3840085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410D5-D19E-BBE3-1345-668D55CB329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1FE3ABE-3A11-A0E3-F8CC-46D926416FE9}"/>
              </a:ext>
            </a:extLst>
          </p:cNvPr>
          <p:cNvSpPr txBox="1"/>
          <p:nvPr/>
        </p:nvSpPr>
        <p:spPr>
          <a:xfrm>
            <a:off x="389543" y="1175415"/>
            <a:ext cx="8574037" cy="5632311"/>
          </a:xfrm>
          <a:prstGeom prst="rect">
            <a:avLst/>
          </a:prstGeom>
          <a:noFill/>
        </p:spPr>
        <p:txBody>
          <a:bodyPr wrap="square">
            <a:spAutoFit/>
          </a:bodyPr>
          <a:lstStyle/>
          <a:p>
            <a:pPr marL="342900" indent="-342900">
              <a:buAutoNum type="arabicPeriod"/>
            </a:pPr>
            <a:r>
              <a:rPr lang="en-US" dirty="0"/>
              <a:t>Use the exact same 200 questions from baseline case, not a fresh MMLU-Pro sample.</a:t>
            </a:r>
          </a:p>
          <a:p>
            <a:pPr marL="342900" indent="-342900">
              <a:buAutoNum type="arabicPeriod"/>
            </a:pPr>
            <a:endParaRPr lang="en-US" dirty="0"/>
          </a:p>
          <a:p>
            <a:pPr marL="342900" indent="-342900">
              <a:buAutoNum type="arabicPeriod"/>
            </a:pPr>
            <a:r>
              <a:rPr lang="en-US" dirty="0"/>
              <a:t>Keep the baseline protocol identical: 3 agents, 5 rounds, same model, same seed, same temperature/top-p, same final-answer moderator fallback.</a:t>
            </a:r>
          </a:p>
          <a:p>
            <a:pPr marL="342900" indent="-342900">
              <a:buAutoNum type="arabicPeriod"/>
            </a:pPr>
            <a:endParaRPr lang="en-US" dirty="0"/>
          </a:p>
          <a:p>
            <a:pPr marL="342900" indent="-342900">
              <a:buAutoNum type="arabicPeriod"/>
            </a:pPr>
            <a:r>
              <a:rPr lang="en-US" dirty="0"/>
              <a:t>Add agent-resistance state:</a:t>
            </a:r>
          </a:p>
          <a:p>
            <a:pPr lvl="1"/>
            <a:r>
              <a:rPr lang="en-US" dirty="0"/>
              <a:t>resistance[agent] starts at 0.0</a:t>
            </a:r>
          </a:p>
          <a:p>
            <a:pPr lvl="1"/>
            <a:r>
              <a:rPr lang="en-US" dirty="0"/>
              <a:t>alpha = 0.08;   </a:t>
            </a:r>
            <a:r>
              <a:rPr lang="en-US" dirty="0" err="1"/>
              <a:t>resistance_cap</a:t>
            </a:r>
            <a:r>
              <a:rPr lang="en-US" dirty="0"/>
              <a:t> = 0.65;  W = 2</a:t>
            </a:r>
          </a:p>
          <a:p>
            <a:pPr lvl="1"/>
            <a:endParaRPr lang="en-US" dirty="0"/>
          </a:p>
          <a:p>
            <a:r>
              <a:rPr lang="en-US" dirty="0">
                <a:solidFill>
                  <a:srgbClr val="FF0000"/>
                </a:solidFill>
              </a:rPr>
              <a:t>4. For MMLU multiple-choice questions, compute live categorical diagnostics from completed rounds:</a:t>
            </a:r>
            <a:br>
              <a:rPr lang="en-US" dirty="0">
                <a:solidFill>
                  <a:srgbClr val="FF0000"/>
                </a:solidFill>
              </a:rPr>
            </a:br>
            <a:r>
              <a:rPr lang="en-US" dirty="0">
                <a:solidFill>
                  <a:srgbClr val="FF0000"/>
                </a:solidFill>
              </a:rPr>
              <a:t>	engagement = confidence-weighted answer change</a:t>
            </a:r>
            <a:br>
              <a:rPr lang="en-US" dirty="0">
                <a:solidFill>
                  <a:srgbClr val="FF0000"/>
                </a:solidFill>
              </a:rPr>
            </a:br>
            <a:r>
              <a:rPr lang="en-US" dirty="0">
                <a:solidFill>
                  <a:srgbClr val="FF0000"/>
                </a:solidFill>
              </a:rPr>
              <a:t>	responsiveness = confidence-weighted change toward better-supported answers</a:t>
            </a:r>
            <a:br>
              <a:rPr lang="en-US" dirty="0">
                <a:solidFill>
                  <a:srgbClr val="FF0000"/>
                </a:solidFill>
              </a:rPr>
            </a:br>
            <a:r>
              <a:rPr lang="en-US" dirty="0">
                <a:solidFill>
                  <a:srgbClr val="FF0000"/>
                </a:solidFill>
              </a:rPr>
              <a:t>	</a:t>
            </a:r>
            <a:r>
              <a:rPr lang="en-US" dirty="0" err="1">
                <a:solidFill>
                  <a:srgbClr val="FF0000"/>
                </a:solidFill>
              </a:rPr>
              <a:t>influence_asymmetry</a:t>
            </a:r>
            <a:r>
              <a:rPr lang="en-US" dirty="0">
                <a:solidFill>
                  <a:srgbClr val="FF0000"/>
                </a:solidFill>
              </a:rPr>
              <a:t> = concentration of who other agents are copying</a:t>
            </a:r>
            <a:br>
              <a:rPr lang="en-US" dirty="0">
                <a:solidFill>
                  <a:srgbClr val="FF0000"/>
                </a:solidFill>
              </a:rPr>
            </a:br>
            <a:r>
              <a:rPr lang="en-US" dirty="0">
                <a:solidFill>
                  <a:srgbClr val="FF0000"/>
                </a:solidFill>
              </a:rPr>
              <a:t>	balance = whether convergence is gradual/stable rather than sudden collapse</a:t>
            </a:r>
          </a:p>
          <a:p>
            <a:endParaRPr lang="en-US" dirty="0">
              <a:solidFill>
                <a:srgbClr val="FF0000"/>
              </a:solidFill>
            </a:endParaRPr>
          </a:p>
          <a:p>
            <a:r>
              <a:rPr lang="en-US" dirty="0">
                <a:solidFill>
                  <a:srgbClr val="FF0000"/>
                </a:solidFill>
              </a:rPr>
              <a:t>5. Flag an agent for resistance when live metrics suggest over-convergence:</a:t>
            </a:r>
            <a:br>
              <a:rPr lang="en-US" dirty="0">
                <a:solidFill>
                  <a:srgbClr val="FF0000"/>
                </a:solidFill>
              </a:rPr>
            </a:br>
            <a:r>
              <a:rPr lang="en-US" dirty="0">
                <a:solidFill>
                  <a:srgbClr val="FF0000"/>
                </a:solidFill>
              </a:rPr>
              <a:t>agent changes to a dominant prior answer under high influence asymmetry, or</a:t>
            </a:r>
            <a:br>
              <a:rPr lang="en-US" dirty="0">
                <a:solidFill>
                  <a:srgbClr val="FF0000"/>
                </a:solidFill>
              </a:rPr>
            </a:br>
            <a:r>
              <a:rPr lang="en-US" dirty="0">
                <a:solidFill>
                  <a:srgbClr val="FF0000"/>
                </a:solidFill>
              </a:rPr>
              <a:t>agent changes to the current majority answer when balance is low / convergence is too rapid</a:t>
            </a:r>
          </a:p>
        </p:txBody>
      </p:sp>
      <p:sp>
        <p:nvSpPr>
          <p:cNvPr id="12" name="Title 1">
            <a:extLst>
              <a:ext uri="{FF2B5EF4-FFF2-40B4-BE49-F238E27FC236}">
                <a16:creationId xmlns:a16="http://schemas.microsoft.com/office/drawing/2014/main" id="{F8D18F4F-085F-C012-AA04-24DAF6B8F3DC}"/>
              </a:ext>
            </a:extLst>
          </p:cNvPr>
          <p:cNvSpPr>
            <a:spLocks noGrp="1"/>
          </p:cNvSpPr>
          <p:nvPr>
            <p:ph type="title"/>
          </p:nvPr>
        </p:nvSpPr>
        <p:spPr>
          <a:xfrm>
            <a:off x="457200" y="274639"/>
            <a:ext cx="8229600" cy="401936"/>
          </a:xfrm>
        </p:spPr>
        <p:txBody>
          <a:bodyPr>
            <a:normAutofit fontScale="90000"/>
          </a:bodyPr>
          <a:lstStyle/>
          <a:p>
            <a:pPr algn="l"/>
            <a:r>
              <a:rPr lang="en-US" sz="3100" dirty="0"/>
              <a:t>Experiment 2b: Loser-More-Resistance – Methodology – Use diagnostics as adaptive trigger</a:t>
            </a:r>
            <a:endParaRPr dirty="0"/>
          </a:p>
        </p:txBody>
      </p:sp>
    </p:spTree>
    <p:extLst>
      <p:ext uri="{BB962C8B-B14F-4D97-AF65-F5344CB8AC3E}">
        <p14:creationId xmlns:p14="http://schemas.microsoft.com/office/powerpoint/2010/main" val="2803896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01395-39FF-9D81-2233-3775A15D6AC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716E039-0DA0-7AC1-9838-D4D4C9E31123}"/>
              </a:ext>
            </a:extLst>
          </p:cNvPr>
          <p:cNvSpPr txBox="1"/>
          <p:nvPr/>
        </p:nvSpPr>
        <p:spPr>
          <a:xfrm>
            <a:off x="389543" y="1175415"/>
            <a:ext cx="8574037" cy="3693319"/>
          </a:xfrm>
          <a:prstGeom prst="rect">
            <a:avLst/>
          </a:prstGeom>
          <a:noFill/>
        </p:spPr>
        <p:txBody>
          <a:bodyPr wrap="square">
            <a:spAutoFit/>
          </a:bodyPr>
          <a:lstStyle/>
          <a:p>
            <a:r>
              <a:rPr lang="en-US" dirty="0"/>
              <a:t>6. When an agent is metric-triggered: resistance[a] = min(resistance[a] + 0.08, 0.65)</a:t>
            </a:r>
          </a:p>
          <a:p>
            <a:endParaRPr lang="en-US" dirty="0"/>
          </a:p>
          <a:p>
            <a:r>
              <a:rPr lang="en-US" dirty="0"/>
              <a:t>7. New prompt for triggered resistance:</a:t>
            </a:r>
            <a:br>
              <a:rPr lang="en-US" dirty="0"/>
            </a:br>
            <a:r>
              <a:rPr lang="en-US" dirty="0"/>
              <a:t>“Your current resistance level is 0.32. Because the live diagnostics indicate high influence asymmetry or low balance / rapid convergence, do not switch merely because other agents agree. Re-check your own answer from first principles, identify the strongest evidence for and against it, and change only if a specific peer argument defeats your reasoning. If your prior answer remains defensible, preserve it and explain why.”</a:t>
            </a:r>
          </a:p>
          <a:p>
            <a:r>
              <a:rPr lang="en-US" dirty="0"/>
              <a:t>For untriggered agents, use the current prompt unchanged except for reporting the resistance score.</a:t>
            </a:r>
          </a:p>
          <a:p>
            <a:endParaRPr lang="en-US" dirty="0"/>
          </a:p>
          <a:p>
            <a:r>
              <a:rPr lang="en-US" dirty="0"/>
              <a:t>8. Log the intervention state. Logged columns include:</a:t>
            </a:r>
            <a:br>
              <a:rPr lang="en-US" dirty="0"/>
            </a:br>
            <a:endParaRPr lang="en-US" dirty="0"/>
          </a:p>
        </p:txBody>
      </p:sp>
      <p:sp>
        <p:nvSpPr>
          <p:cNvPr id="12" name="Title 1">
            <a:extLst>
              <a:ext uri="{FF2B5EF4-FFF2-40B4-BE49-F238E27FC236}">
                <a16:creationId xmlns:a16="http://schemas.microsoft.com/office/drawing/2014/main" id="{03CB51B3-186B-5756-E13E-3F1864119DF9}"/>
              </a:ext>
            </a:extLst>
          </p:cNvPr>
          <p:cNvSpPr>
            <a:spLocks noGrp="1"/>
          </p:cNvSpPr>
          <p:nvPr>
            <p:ph type="title"/>
          </p:nvPr>
        </p:nvSpPr>
        <p:spPr>
          <a:xfrm>
            <a:off x="457200" y="274639"/>
            <a:ext cx="8229600" cy="401936"/>
          </a:xfrm>
        </p:spPr>
        <p:txBody>
          <a:bodyPr>
            <a:normAutofit fontScale="90000"/>
          </a:bodyPr>
          <a:lstStyle/>
          <a:p>
            <a:pPr algn="l"/>
            <a:r>
              <a:rPr lang="en-US" sz="3100" dirty="0"/>
              <a:t>Experiment 2b: Loser-More-Resistance - Methodology</a:t>
            </a:r>
            <a:endParaRPr dirty="0"/>
          </a:p>
        </p:txBody>
      </p:sp>
    </p:spTree>
    <p:extLst>
      <p:ext uri="{BB962C8B-B14F-4D97-AF65-F5344CB8AC3E}">
        <p14:creationId xmlns:p14="http://schemas.microsoft.com/office/powerpoint/2010/main" val="1389666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F8BE0-B8C2-F3A0-8F50-72512EADB55B}"/>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F447F345-EBC4-F4F8-3FBB-26D87BC52872}"/>
              </a:ext>
            </a:extLst>
          </p:cNvPr>
          <p:cNvSpPr>
            <a:spLocks noGrp="1"/>
          </p:cNvSpPr>
          <p:nvPr>
            <p:ph type="title"/>
          </p:nvPr>
        </p:nvSpPr>
        <p:spPr>
          <a:xfrm>
            <a:off x="457200" y="274639"/>
            <a:ext cx="8229600" cy="401936"/>
          </a:xfrm>
        </p:spPr>
        <p:txBody>
          <a:bodyPr>
            <a:normAutofit fontScale="90000"/>
          </a:bodyPr>
          <a:lstStyle/>
          <a:p>
            <a:pPr algn="l"/>
            <a:r>
              <a:rPr lang="en-US" sz="3100" dirty="0"/>
              <a:t>Experiment 2: Loser-More-Resistance - Results</a:t>
            </a:r>
            <a:endParaRPr lang="en-US" dirty="0"/>
          </a:p>
        </p:txBody>
      </p:sp>
      <p:graphicFrame>
        <p:nvGraphicFramePr>
          <p:cNvPr id="3" name="Table 2">
            <a:extLst>
              <a:ext uri="{FF2B5EF4-FFF2-40B4-BE49-F238E27FC236}">
                <a16:creationId xmlns:a16="http://schemas.microsoft.com/office/drawing/2014/main" id="{B8D77484-0333-7EFF-2583-FA3321023210}"/>
              </a:ext>
            </a:extLst>
          </p:cNvPr>
          <p:cNvGraphicFramePr>
            <a:graphicFrameLocks noGrp="1"/>
          </p:cNvGraphicFramePr>
          <p:nvPr>
            <p:extLst>
              <p:ext uri="{D42A27DB-BD31-4B8C-83A1-F6EECF244321}">
                <p14:modId xmlns:p14="http://schemas.microsoft.com/office/powerpoint/2010/main" val="3649305741"/>
              </p:ext>
            </p:extLst>
          </p:nvPr>
        </p:nvGraphicFramePr>
        <p:xfrm>
          <a:off x="537329" y="808352"/>
          <a:ext cx="8149471" cy="5007983"/>
        </p:xfrm>
        <a:graphic>
          <a:graphicData uri="http://schemas.openxmlformats.org/drawingml/2006/table">
            <a:tbl>
              <a:tblPr>
                <a:tableStyleId>{5C22544A-7EE6-4342-B048-85BDC9FD1C3A}</a:tableStyleId>
              </a:tblPr>
              <a:tblGrid>
                <a:gridCol w="2766140">
                  <a:extLst>
                    <a:ext uri="{9D8B030D-6E8A-4147-A177-3AD203B41FA5}">
                      <a16:colId xmlns:a16="http://schemas.microsoft.com/office/drawing/2014/main" val="1304768542"/>
                    </a:ext>
                  </a:extLst>
                </a:gridCol>
                <a:gridCol w="1319236">
                  <a:extLst>
                    <a:ext uri="{9D8B030D-6E8A-4147-A177-3AD203B41FA5}">
                      <a16:colId xmlns:a16="http://schemas.microsoft.com/office/drawing/2014/main" val="3817157970"/>
                    </a:ext>
                  </a:extLst>
                </a:gridCol>
                <a:gridCol w="1617127">
                  <a:extLst>
                    <a:ext uri="{9D8B030D-6E8A-4147-A177-3AD203B41FA5}">
                      <a16:colId xmlns:a16="http://schemas.microsoft.com/office/drawing/2014/main" val="2632842873"/>
                    </a:ext>
                  </a:extLst>
                </a:gridCol>
                <a:gridCol w="2446968">
                  <a:extLst>
                    <a:ext uri="{9D8B030D-6E8A-4147-A177-3AD203B41FA5}">
                      <a16:colId xmlns:a16="http://schemas.microsoft.com/office/drawing/2014/main" val="2192767891"/>
                    </a:ext>
                  </a:extLst>
                </a:gridCol>
              </a:tblGrid>
              <a:tr h="173647">
                <a:tc>
                  <a:txBody>
                    <a:bodyPr/>
                    <a:lstStyle/>
                    <a:p>
                      <a:pPr algn="ctr" rtl="0" fontAlgn="t">
                        <a:buNone/>
                      </a:pPr>
                      <a:r>
                        <a:rPr lang="en-US" sz="900" u="none" strike="noStrike" dirty="0">
                          <a:effectLst/>
                        </a:rPr>
                        <a:t>Experiment ID</a:t>
                      </a:r>
                      <a:endParaRPr lang="en-US" sz="900" b="0" i="0" u="none" strike="noStrike" dirty="0">
                        <a:solidFill>
                          <a:srgbClr val="000000"/>
                        </a:solidFill>
                        <a:effectLst/>
                        <a:latin typeface="Calibri" panose="020F0502020204030204" pitchFamily="34" charset="0"/>
                      </a:endParaRPr>
                    </a:p>
                  </a:txBody>
                  <a:tcPr marL="6277" marR="6277" marT="6277" marB="0"/>
                </a:tc>
                <a:tc>
                  <a:txBody>
                    <a:bodyPr/>
                    <a:lstStyle/>
                    <a:p>
                      <a:pPr algn="l" rtl="0" fontAlgn="b">
                        <a:buNone/>
                      </a:pPr>
                      <a:r>
                        <a:rPr lang="en-US" sz="900" u="none" strike="noStrike">
                          <a:effectLst/>
                        </a:rPr>
                        <a:t>Baseline</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l" rtl="0" fontAlgn="b">
                        <a:buNone/>
                      </a:pPr>
                      <a:r>
                        <a:rPr lang="en-US" sz="900" u="none" strike="noStrike">
                          <a:effectLst/>
                        </a:rPr>
                        <a:t>Experiment  #2</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l" rtl="0" fontAlgn="b">
                        <a:buNone/>
                      </a:pPr>
                      <a:r>
                        <a:rPr lang="en-US" sz="900" u="none" strike="noStrike">
                          <a:effectLst/>
                        </a:rPr>
                        <a:t>Experiment #2b</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13377917"/>
                  </a:ext>
                </a:extLst>
              </a:tr>
              <a:tr h="173647">
                <a:tc>
                  <a:txBody>
                    <a:bodyPr/>
                    <a:lstStyle/>
                    <a:p>
                      <a:pPr algn="ctr" rtl="0" fontAlgn="t">
                        <a:buNone/>
                      </a:pPr>
                      <a:r>
                        <a:rPr lang="en-US" sz="900" u="none" strike="noStrike">
                          <a:effectLst/>
                        </a:rPr>
                        <a:t>stance_mode</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2779757338"/>
                  </a:ext>
                </a:extLst>
              </a:tr>
              <a:tr h="173647">
                <a:tc>
                  <a:txBody>
                    <a:bodyPr/>
                    <a:lstStyle/>
                    <a:p>
                      <a:pPr algn="ctr" rtl="0" fontAlgn="t">
                        <a:buNone/>
                      </a:pPr>
                      <a:r>
                        <a:rPr lang="en-US" sz="900" u="none" strike="noStrike">
                          <a:effectLst/>
                        </a:rPr>
                        <a:t>Total Questions</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3333941750"/>
                  </a:ext>
                </a:extLst>
              </a:tr>
              <a:tr h="173647">
                <a:tc>
                  <a:txBody>
                    <a:bodyPr/>
                    <a:lstStyle/>
                    <a:p>
                      <a:pPr algn="ctr" rtl="0" fontAlgn="t">
                        <a:buNone/>
                      </a:pPr>
                      <a:r>
                        <a:rPr lang="en-US" sz="900" u="none" strike="noStrike">
                          <a:effectLst/>
                        </a:rPr>
                        <a:t>accuracy_count</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109</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111</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116</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492806962"/>
                  </a:ext>
                </a:extLst>
              </a:tr>
              <a:tr h="173647">
                <a:tc>
                  <a:txBody>
                    <a:bodyPr/>
                    <a:lstStyle/>
                    <a:p>
                      <a:pPr algn="ctr" rtl="0" fontAlgn="t">
                        <a:buNone/>
                      </a:pPr>
                      <a:r>
                        <a:rPr lang="en-US" sz="900" u="none" strike="noStrike">
                          <a:effectLst/>
                        </a:rPr>
                        <a:t>accuracy_mean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0.545</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0.555</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0.58</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1431704500"/>
                  </a:ext>
                </a:extLst>
              </a:tr>
              <a:tr h="173647">
                <a:tc>
                  <a:txBody>
                    <a:bodyPr/>
                    <a:lstStyle/>
                    <a:p>
                      <a:pPr algn="ctr" rtl="0" fontAlgn="t">
                        <a:buNone/>
                      </a:pPr>
                      <a:r>
                        <a:rPr lang="en-US" sz="900" u="none" strike="noStrike">
                          <a:effectLst/>
                        </a:rPr>
                        <a:t>accuracy_std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0.4992205</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0.498212887</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0.49479705</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2899662844"/>
                  </a:ext>
                </a:extLst>
              </a:tr>
              <a:tr h="173647">
                <a:tc>
                  <a:txBody>
                    <a:bodyPr/>
                    <a:lstStyle/>
                    <a:p>
                      <a:pPr algn="ctr" rtl="0" fontAlgn="t">
                        <a:buNone/>
                      </a:pPr>
                      <a:r>
                        <a:rPr lang="en-US" sz="900" u="none" strike="noStrike">
                          <a:effectLst/>
                        </a:rPr>
                        <a:t>engagement_mean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0.10552083</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0.092020833</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0.104979167</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911935016"/>
                  </a:ext>
                </a:extLst>
              </a:tr>
              <a:tr h="173647">
                <a:tc>
                  <a:txBody>
                    <a:bodyPr/>
                    <a:lstStyle/>
                    <a:p>
                      <a:pPr algn="ctr" rtl="0" fontAlgn="t">
                        <a:buNone/>
                      </a:pPr>
                      <a:r>
                        <a:rPr lang="en-US" sz="900" u="none" strike="noStrike">
                          <a:effectLst/>
                        </a:rPr>
                        <a:t>engagement_std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0.186492</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0.16371751</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0.181605752</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849061200"/>
                  </a:ext>
                </a:extLst>
              </a:tr>
              <a:tr h="173647">
                <a:tc>
                  <a:txBody>
                    <a:bodyPr/>
                    <a:lstStyle/>
                    <a:p>
                      <a:pPr algn="ctr" rtl="0" fontAlgn="t">
                        <a:buNone/>
                      </a:pPr>
                      <a:r>
                        <a:rPr lang="en-US" sz="900" u="none" strike="noStrike">
                          <a:effectLst/>
                        </a:rPr>
                        <a:t>responsiveness_mean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0.045</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0.035666667</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0.045875</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1353436809"/>
                  </a:ext>
                </a:extLst>
              </a:tr>
              <a:tr h="173647">
                <a:tc>
                  <a:txBody>
                    <a:bodyPr/>
                    <a:lstStyle/>
                    <a:p>
                      <a:pPr algn="ctr" rtl="0" fontAlgn="t">
                        <a:buNone/>
                      </a:pPr>
                      <a:r>
                        <a:rPr lang="en-US" sz="900" u="none" strike="noStrike">
                          <a:effectLst/>
                        </a:rPr>
                        <a:t>responsiveness_std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0.08160263</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0.070869214</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0.086812818</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875112820"/>
                  </a:ext>
                </a:extLst>
              </a:tr>
              <a:tr h="340349">
                <a:tc>
                  <a:txBody>
                    <a:bodyPr/>
                    <a:lstStyle/>
                    <a:p>
                      <a:pPr algn="ctr" rtl="0" fontAlgn="t">
                        <a:buNone/>
                      </a:pPr>
                      <a:r>
                        <a:rPr lang="en-US" sz="900" u="none" strike="noStrike">
                          <a:effectLst/>
                        </a:rPr>
                        <a:t>influence_asymmetry_mean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0.09788024</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0.13260278</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0.119810421</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2185632320"/>
                  </a:ext>
                </a:extLst>
              </a:tr>
              <a:tr h="173647">
                <a:tc>
                  <a:txBody>
                    <a:bodyPr/>
                    <a:lstStyle/>
                    <a:p>
                      <a:pPr algn="ctr" rtl="0" fontAlgn="t">
                        <a:buNone/>
                      </a:pPr>
                      <a:r>
                        <a:rPr lang="en-US" sz="900" u="none" strike="noStrike">
                          <a:effectLst/>
                        </a:rPr>
                        <a:t>influence_asymmetry_std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0.22088939</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0.269119577</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0.26371225</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3608691343"/>
                  </a:ext>
                </a:extLst>
              </a:tr>
              <a:tr h="340349">
                <a:tc>
                  <a:txBody>
                    <a:bodyPr/>
                    <a:lstStyle/>
                    <a:p>
                      <a:pPr algn="ctr" rtl="0" fontAlgn="t">
                        <a:buNone/>
                      </a:pPr>
                      <a:r>
                        <a:rPr lang="en-US" sz="900" u="none" strike="noStrike">
                          <a:effectLst/>
                        </a:rPr>
                        <a:t>influence_asymmetry_inv_count</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2889096301"/>
                  </a:ext>
                </a:extLst>
              </a:tr>
              <a:tr h="340349">
                <a:tc>
                  <a:txBody>
                    <a:bodyPr/>
                    <a:lstStyle/>
                    <a:p>
                      <a:pPr algn="ctr" rtl="0" fontAlgn="t">
                        <a:buNone/>
                      </a:pPr>
                      <a:r>
                        <a:rPr lang="en-US" sz="900" u="none" strike="noStrike" dirty="0" err="1">
                          <a:effectLst/>
                        </a:rPr>
                        <a:t>influence_asymmetry_inv_mean</a:t>
                      </a:r>
                      <a:endParaRPr lang="en-US" sz="900" b="0" i="0" u="none" strike="noStrike" dirty="0">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0.90211976</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0.86739722</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0.880189579</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4018108235"/>
                  </a:ext>
                </a:extLst>
              </a:tr>
              <a:tr h="340349">
                <a:tc>
                  <a:txBody>
                    <a:bodyPr/>
                    <a:lstStyle/>
                    <a:p>
                      <a:pPr algn="ctr" rtl="0" fontAlgn="t">
                        <a:buNone/>
                      </a:pPr>
                      <a:r>
                        <a:rPr lang="en-US" sz="900" u="none" strike="noStrike">
                          <a:effectLst/>
                        </a:rPr>
                        <a:t>influence_asymmetry_inv_std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0.22088939</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0.269119577</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0.26371225</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2903118185"/>
                  </a:ext>
                </a:extLst>
              </a:tr>
              <a:tr h="173647">
                <a:tc>
                  <a:txBody>
                    <a:bodyPr/>
                    <a:lstStyle/>
                    <a:p>
                      <a:pPr algn="ctr" rtl="0" fontAlgn="t">
                        <a:buNone/>
                      </a:pPr>
                      <a:r>
                        <a:rPr lang="en-US" sz="900" u="none" strike="noStrike">
                          <a:effectLst/>
                        </a:rPr>
                        <a:t>balance_count</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1623013094"/>
                  </a:ext>
                </a:extLst>
              </a:tr>
              <a:tr h="173647">
                <a:tc>
                  <a:txBody>
                    <a:bodyPr/>
                    <a:lstStyle/>
                    <a:p>
                      <a:pPr algn="ctr" rtl="0" fontAlgn="t">
                        <a:buNone/>
                      </a:pPr>
                      <a:r>
                        <a:rPr lang="en-US" sz="900" u="none" strike="noStrike">
                          <a:effectLst/>
                        </a:rPr>
                        <a:t>balance_mean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0.6921031</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0.6571031</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0.695515496</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2802701420"/>
                  </a:ext>
                </a:extLst>
              </a:tr>
              <a:tr h="173647">
                <a:tc>
                  <a:txBody>
                    <a:bodyPr/>
                    <a:lstStyle/>
                    <a:p>
                      <a:pPr algn="ctr" rtl="0" fontAlgn="t">
                        <a:buNone/>
                      </a:pPr>
                      <a:r>
                        <a:rPr lang="en-US" sz="900" u="none" strike="noStrike">
                          <a:effectLst/>
                        </a:rPr>
                        <a:t>balance_std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0.46145706</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0.474580081</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0.454658987</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1371615194"/>
                  </a:ext>
                </a:extLst>
              </a:tr>
              <a:tr h="173647">
                <a:tc>
                  <a:txBody>
                    <a:bodyPr/>
                    <a:lstStyle/>
                    <a:p>
                      <a:pPr algn="ctr" rtl="0" fontAlgn="t">
                        <a:buNone/>
                      </a:pPr>
                      <a:r>
                        <a:rPr lang="en-US" sz="900" u="none" strike="noStrike">
                          <a:effectLst/>
                        </a:rPr>
                        <a:t>stability_mean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0.97333333</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0.983333333</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0.978333333</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4272759448"/>
                  </a:ext>
                </a:extLst>
              </a:tr>
              <a:tr h="173647">
                <a:tc>
                  <a:txBody>
                    <a:bodyPr/>
                    <a:lstStyle/>
                    <a:p>
                      <a:pPr algn="ctr" rtl="0" fontAlgn="t">
                        <a:buNone/>
                      </a:pPr>
                      <a:r>
                        <a:rPr lang="en-US" sz="900" u="none" strike="noStrike">
                          <a:effectLst/>
                        </a:rPr>
                        <a:t>stability_std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0.090658</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0.07283062</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0.082381499</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4142108214"/>
                  </a:ext>
                </a:extLst>
              </a:tr>
              <a:tr h="173647">
                <a:tc>
                  <a:txBody>
                    <a:bodyPr/>
                    <a:lstStyle/>
                    <a:p>
                      <a:pPr algn="ctr" rtl="0" fontAlgn="t">
                        <a:buNone/>
                      </a:pPr>
                      <a:r>
                        <a:rPr lang="en-US" sz="900" u="none" strike="noStrike">
                          <a:effectLst/>
                        </a:rPr>
                        <a:t>group_welfare_mean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0.14666667</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0.166666667</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0.173333333</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1333894580"/>
                  </a:ext>
                </a:extLst>
              </a:tr>
              <a:tr h="173647">
                <a:tc>
                  <a:txBody>
                    <a:bodyPr/>
                    <a:lstStyle/>
                    <a:p>
                      <a:pPr algn="ctr" rtl="0" fontAlgn="t">
                        <a:buNone/>
                      </a:pPr>
                      <a:r>
                        <a:rPr lang="en-US" sz="900" u="none" strike="noStrike">
                          <a:effectLst/>
                        </a:rPr>
                        <a:t>group_welfare_std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0.3483069</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0.318777677</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0.348819498</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3112504323"/>
                  </a:ext>
                </a:extLst>
              </a:tr>
              <a:tr h="173647">
                <a:tc>
                  <a:txBody>
                    <a:bodyPr/>
                    <a:lstStyle/>
                    <a:p>
                      <a:pPr algn="ctr" rtl="0" fontAlgn="t">
                        <a:buNone/>
                      </a:pPr>
                      <a:r>
                        <a:rPr lang="en-US" sz="900" u="none" strike="noStrike">
                          <a:effectLst/>
                        </a:rPr>
                        <a:t>avg_process_metrics_count</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3038376276"/>
                  </a:ext>
                </a:extLst>
              </a:tr>
              <a:tr h="173647">
                <a:tc>
                  <a:txBody>
                    <a:bodyPr/>
                    <a:lstStyle/>
                    <a:p>
                      <a:pPr algn="ctr" rtl="0" fontAlgn="t">
                        <a:buNone/>
                      </a:pPr>
                      <a:r>
                        <a:rPr lang="en-US" sz="900" u="none" strike="noStrike">
                          <a:effectLst/>
                        </a:rPr>
                        <a:t>avg_process_metrics_mean</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0.43618592</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0.413046955</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0.43163981</a:t>
                      </a:r>
                      <a:endParaRPr lang="en-US" sz="900" b="0" i="0" u="none" strike="noStrike">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1989987256"/>
                  </a:ext>
                </a:extLst>
              </a:tr>
              <a:tr h="173647">
                <a:tc>
                  <a:txBody>
                    <a:bodyPr/>
                    <a:lstStyle/>
                    <a:p>
                      <a:pPr algn="ctr" rtl="0" fontAlgn="t">
                        <a:buNone/>
                      </a:pPr>
                      <a:r>
                        <a:rPr lang="en-US" sz="900" u="none" strike="noStrike">
                          <a:effectLst/>
                        </a:rPr>
                        <a:t>avg_process_metrics_std</a:t>
                      </a:r>
                      <a:endParaRPr lang="en-US" sz="900" b="0" i="0" u="none" strike="noStrike">
                        <a:solidFill>
                          <a:srgbClr val="000000"/>
                        </a:solidFill>
                        <a:effectLst/>
                        <a:latin typeface="Calibri" panose="020F0502020204030204" pitchFamily="34" charset="0"/>
                      </a:endParaRPr>
                    </a:p>
                  </a:txBody>
                  <a:tcPr marL="6277" marR="6277" marT="6277" marB="0"/>
                </a:tc>
                <a:tc>
                  <a:txBody>
                    <a:bodyPr/>
                    <a:lstStyle/>
                    <a:p>
                      <a:pPr algn="r" rtl="0" fontAlgn="b">
                        <a:buNone/>
                      </a:pPr>
                      <a:r>
                        <a:rPr lang="en-US" sz="900" u="none" strike="noStrike">
                          <a:effectLst/>
                        </a:rPr>
                        <a:t>0.14614502</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a:effectLst/>
                        </a:rPr>
                        <a:t>0.154337642</a:t>
                      </a:r>
                      <a:endParaRPr lang="en-US" sz="900" b="0" i="0" u="none" strike="noStrike">
                        <a:solidFill>
                          <a:srgbClr val="000000"/>
                        </a:solidFill>
                        <a:effectLst/>
                        <a:latin typeface="Calibri" panose="020F0502020204030204" pitchFamily="34" charset="0"/>
                      </a:endParaRPr>
                    </a:p>
                  </a:txBody>
                  <a:tcPr marL="6277" marR="6277" marT="6277" marB="0" anchor="b"/>
                </a:tc>
                <a:tc>
                  <a:txBody>
                    <a:bodyPr/>
                    <a:lstStyle/>
                    <a:p>
                      <a:pPr algn="r" rtl="0" fontAlgn="b">
                        <a:buNone/>
                      </a:pPr>
                      <a:r>
                        <a:rPr lang="en-US" sz="900" u="none" strike="noStrike" dirty="0">
                          <a:effectLst/>
                        </a:rPr>
                        <a:t>0.152030371</a:t>
                      </a:r>
                      <a:endParaRPr lang="en-US" sz="900" b="0" i="0" u="none" strike="noStrike" dirty="0">
                        <a:solidFill>
                          <a:srgbClr val="000000"/>
                        </a:solidFill>
                        <a:effectLst/>
                        <a:latin typeface="Calibri" panose="020F0502020204030204" pitchFamily="34" charset="0"/>
                      </a:endParaRPr>
                    </a:p>
                  </a:txBody>
                  <a:tcPr marL="6277" marR="6277" marT="6277" marB="0" anchor="b"/>
                </a:tc>
                <a:extLst>
                  <a:ext uri="{0D108BD9-81ED-4DB2-BD59-A6C34878D82A}">
                    <a16:rowId xmlns:a16="http://schemas.microsoft.com/office/drawing/2014/main" val="3353834848"/>
                  </a:ext>
                </a:extLst>
              </a:tr>
            </a:tbl>
          </a:graphicData>
        </a:graphic>
      </p:graphicFrame>
    </p:spTree>
    <p:extLst>
      <p:ext uri="{BB962C8B-B14F-4D97-AF65-F5344CB8AC3E}">
        <p14:creationId xmlns:p14="http://schemas.microsoft.com/office/powerpoint/2010/main" val="723130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09B9A-E06B-8F5E-E935-394B2929551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02305AB7-E0C0-E6D1-754A-A233C697E0F0}"/>
              </a:ext>
            </a:extLst>
          </p:cNvPr>
          <p:cNvSpPr>
            <a:spLocks noGrp="1"/>
          </p:cNvSpPr>
          <p:nvPr>
            <p:ph type="title"/>
          </p:nvPr>
        </p:nvSpPr>
        <p:spPr>
          <a:xfrm>
            <a:off x="457200" y="274639"/>
            <a:ext cx="8229600" cy="401936"/>
          </a:xfrm>
        </p:spPr>
        <p:txBody>
          <a:bodyPr>
            <a:normAutofit fontScale="90000"/>
          </a:bodyPr>
          <a:lstStyle/>
          <a:p>
            <a:pPr algn="l"/>
            <a:r>
              <a:rPr lang="en-US" sz="3100" dirty="0"/>
              <a:t>Experiment 2: Loser-More-Resistance - Results</a:t>
            </a:r>
            <a:endParaRPr lang="en-US" dirty="0"/>
          </a:p>
        </p:txBody>
      </p:sp>
      <p:graphicFrame>
        <p:nvGraphicFramePr>
          <p:cNvPr id="3" name="Table 2">
            <a:extLst>
              <a:ext uri="{FF2B5EF4-FFF2-40B4-BE49-F238E27FC236}">
                <a16:creationId xmlns:a16="http://schemas.microsoft.com/office/drawing/2014/main" id="{B65F3476-A758-13E6-F193-F4D4603C452C}"/>
              </a:ext>
            </a:extLst>
          </p:cNvPr>
          <p:cNvGraphicFramePr>
            <a:graphicFrameLocks noGrp="1"/>
          </p:cNvGraphicFramePr>
          <p:nvPr>
            <p:extLst>
              <p:ext uri="{D42A27DB-BD31-4B8C-83A1-F6EECF244321}">
                <p14:modId xmlns:p14="http://schemas.microsoft.com/office/powerpoint/2010/main" val="2695141140"/>
              </p:ext>
            </p:extLst>
          </p:nvPr>
        </p:nvGraphicFramePr>
        <p:xfrm>
          <a:off x="457200" y="676566"/>
          <a:ext cx="8507691" cy="3535059"/>
        </p:xfrm>
        <a:graphic>
          <a:graphicData uri="http://schemas.openxmlformats.org/drawingml/2006/table">
            <a:tbl>
              <a:tblPr>
                <a:tableStyleId>{5C22544A-7EE6-4342-B048-85BDC9FD1C3A}</a:tableStyleId>
              </a:tblPr>
              <a:tblGrid>
                <a:gridCol w="4729350">
                  <a:extLst>
                    <a:ext uri="{9D8B030D-6E8A-4147-A177-3AD203B41FA5}">
                      <a16:colId xmlns:a16="http://schemas.microsoft.com/office/drawing/2014/main" val="3180746958"/>
                    </a:ext>
                  </a:extLst>
                </a:gridCol>
                <a:gridCol w="1285150">
                  <a:extLst>
                    <a:ext uri="{9D8B030D-6E8A-4147-A177-3AD203B41FA5}">
                      <a16:colId xmlns:a16="http://schemas.microsoft.com/office/drawing/2014/main" val="1388662254"/>
                    </a:ext>
                  </a:extLst>
                </a:gridCol>
                <a:gridCol w="1239426">
                  <a:extLst>
                    <a:ext uri="{9D8B030D-6E8A-4147-A177-3AD203B41FA5}">
                      <a16:colId xmlns:a16="http://schemas.microsoft.com/office/drawing/2014/main" val="427795032"/>
                    </a:ext>
                  </a:extLst>
                </a:gridCol>
                <a:gridCol w="1253765">
                  <a:extLst>
                    <a:ext uri="{9D8B030D-6E8A-4147-A177-3AD203B41FA5}">
                      <a16:colId xmlns:a16="http://schemas.microsoft.com/office/drawing/2014/main" val="897167410"/>
                    </a:ext>
                  </a:extLst>
                </a:gridCol>
              </a:tblGrid>
              <a:tr h="231807">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Baseline</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dirty="0">
                          <a:effectLst/>
                        </a:rPr>
                        <a:t>Experiment #2</a:t>
                      </a:r>
                      <a:endParaRPr lang="en-US" sz="1100" b="0" i="0" u="none" strike="noStrike" dirty="0">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dirty="0">
                          <a:effectLst/>
                        </a:rPr>
                        <a:t>Experiment #2b</a:t>
                      </a:r>
                      <a:endParaRPr lang="en-US" sz="1100" b="0" i="0" u="none" strike="noStrike" dirty="0">
                        <a:solidFill>
                          <a:srgbClr val="000000"/>
                        </a:solidFill>
                        <a:effectLst/>
                        <a:latin typeface="Aptos Narrow" panose="020B0004020202020204" pitchFamily="34" charset="0"/>
                      </a:endParaRPr>
                    </a:p>
                  </a:txBody>
                  <a:tcPr marL="7459" marR="7459" marT="7459" marB="0" anchor="b"/>
                </a:tc>
                <a:extLst>
                  <a:ext uri="{0D108BD9-81ED-4DB2-BD59-A6C34878D82A}">
                    <a16:rowId xmlns:a16="http://schemas.microsoft.com/office/drawing/2014/main" val="594815041"/>
                  </a:ext>
                </a:extLst>
              </a:tr>
              <a:tr h="367028">
                <a:tc>
                  <a:txBody>
                    <a:bodyPr/>
                    <a:lstStyle/>
                    <a:p>
                      <a:pPr algn="l" rtl="0" fontAlgn="ctr">
                        <a:buNone/>
                      </a:pPr>
                      <a:r>
                        <a:rPr lang="en-US" sz="1800" u="none" strike="noStrike" dirty="0" err="1">
                          <a:effectLst/>
                        </a:rPr>
                        <a:t>total_questions</a:t>
                      </a:r>
                      <a:endParaRPr lang="en-US" sz="1800" b="0" i="0" u="none" strike="noStrike" dirty="0">
                        <a:solidFill>
                          <a:srgbClr val="CCCCCC"/>
                        </a:solidFill>
                        <a:effectLst/>
                        <a:latin typeface="Segoe WPC"/>
                      </a:endParaRPr>
                    </a:p>
                  </a:txBody>
                  <a:tcPr marL="7459" marR="7459" marT="7459" marB="0" anchor="ctr"/>
                </a:tc>
                <a:tc>
                  <a:txBody>
                    <a:bodyPr/>
                    <a:lstStyle/>
                    <a:p>
                      <a:pPr algn="ctr" fontAlgn="b">
                        <a:buNone/>
                      </a:pPr>
                      <a:r>
                        <a:rPr lang="en-US" sz="1100" u="none" strike="noStrike">
                          <a:effectLst/>
                        </a:rPr>
                        <a:t>200</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200</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200</a:t>
                      </a:r>
                    </a:p>
                  </a:txBody>
                  <a:tcPr marL="7459" marR="7459" marT="7459" marB="0" anchor="b"/>
                </a:tc>
                <a:extLst>
                  <a:ext uri="{0D108BD9-81ED-4DB2-BD59-A6C34878D82A}">
                    <a16:rowId xmlns:a16="http://schemas.microsoft.com/office/drawing/2014/main" val="239025247"/>
                  </a:ext>
                </a:extLst>
              </a:tr>
              <a:tr h="367028">
                <a:tc>
                  <a:txBody>
                    <a:bodyPr/>
                    <a:lstStyle/>
                    <a:p>
                      <a:pPr algn="l" rtl="0" fontAlgn="ctr">
                        <a:buNone/>
                      </a:pPr>
                      <a:r>
                        <a:rPr lang="en-US" sz="1800" u="none" strike="noStrike">
                          <a:effectLst/>
                        </a:rPr>
                        <a:t>correct_final_answers</a:t>
                      </a:r>
                      <a:endParaRPr lang="en-US" sz="1800" b="0" i="0" u="none" strike="noStrike">
                        <a:solidFill>
                          <a:srgbClr val="CCCCCC"/>
                        </a:solidFill>
                        <a:effectLst/>
                        <a:latin typeface="Segoe WPC"/>
                      </a:endParaRPr>
                    </a:p>
                  </a:txBody>
                  <a:tcPr marL="7459" marR="7459" marT="7459" marB="0" anchor="ctr"/>
                </a:tc>
                <a:tc>
                  <a:txBody>
                    <a:bodyPr/>
                    <a:lstStyle/>
                    <a:p>
                      <a:pPr algn="ctr" fontAlgn="b">
                        <a:buNone/>
                      </a:pPr>
                      <a:r>
                        <a:rPr lang="en-US" sz="1100" u="none" strike="noStrike" dirty="0">
                          <a:effectLst/>
                        </a:rPr>
                        <a:t>109</a:t>
                      </a:r>
                      <a:endParaRPr lang="en-US" sz="1100" b="0" i="0" u="none" strike="noStrike" dirty="0">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111</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116</a:t>
                      </a:r>
                    </a:p>
                  </a:txBody>
                  <a:tcPr marL="7459" marR="7459" marT="7459" marB="0" anchor="b"/>
                </a:tc>
                <a:extLst>
                  <a:ext uri="{0D108BD9-81ED-4DB2-BD59-A6C34878D82A}">
                    <a16:rowId xmlns:a16="http://schemas.microsoft.com/office/drawing/2014/main" val="4080635758"/>
                  </a:ext>
                </a:extLst>
              </a:tr>
              <a:tr h="367028">
                <a:tc>
                  <a:txBody>
                    <a:bodyPr/>
                    <a:lstStyle/>
                    <a:p>
                      <a:pPr algn="l" rtl="0" fontAlgn="ctr">
                        <a:buNone/>
                      </a:pPr>
                      <a:r>
                        <a:rPr lang="en-US" sz="1800" u="none" strike="noStrike">
                          <a:effectLst/>
                        </a:rPr>
                        <a:t>accuracy</a:t>
                      </a:r>
                      <a:endParaRPr lang="en-US" sz="1800" b="0" i="0" u="none" strike="noStrike">
                        <a:solidFill>
                          <a:srgbClr val="CCCCCC"/>
                        </a:solidFill>
                        <a:effectLst/>
                        <a:latin typeface="Segoe WPC"/>
                      </a:endParaRPr>
                    </a:p>
                  </a:txBody>
                  <a:tcPr marL="7459" marR="7459" marT="7459" marB="0" anchor="ctr"/>
                </a:tc>
                <a:tc>
                  <a:txBody>
                    <a:bodyPr/>
                    <a:lstStyle/>
                    <a:p>
                      <a:pPr algn="ctr" fontAlgn="b">
                        <a:buNone/>
                      </a:pPr>
                      <a:r>
                        <a:rPr lang="en-US" sz="1100" u="none" strike="noStrike">
                          <a:effectLst/>
                        </a:rPr>
                        <a:t>0.545</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0.555</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0.58</a:t>
                      </a:r>
                    </a:p>
                  </a:txBody>
                  <a:tcPr marL="7459" marR="7459" marT="7459" marB="0" anchor="b"/>
                </a:tc>
                <a:extLst>
                  <a:ext uri="{0D108BD9-81ED-4DB2-BD59-A6C34878D82A}">
                    <a16:rowId xmlns:a16="http://schemas.microsoft.com/office/drawing/2014/main" val="3605833803"/>
                  </a:ext>
                </a:extLst>
              </a:tr>
              <a:tr h="367028">
                <a:tc>
                  <a:txBody>
                    <a:bodyPr/>
                    <a:lstStyle/>
                    <a:p>
                      <a:pPr algn="l" rtl="0" fontAlgn="ctr">
                        <a:buNone/>
                      </a:pPr>
                      <a:r>
                        <a:rPr lang="en-US" sz="1800" u="none" strike="noStrike">
                          <a:effectLst/>
                        </a:rPr>
                        <a:t>consensus_questions</a:t>
                      </a:r>
                      <a:endParaRPr lang="en-US" sz="1800" b="0" i="0" u="none" strike="noStrike">
                        <a:solidFill>
                          <a:srgbClr val="CCCCCC"/>
                        </a:solidFill>
                        <a:effectLst/>
                        <a:latin typeface="Segoe WPC"/>
                      </a:endParaRPr>
                    </a:p>
                  </a:txBody>
                  <a:tcPr marL="7459" marR="7459" marT="7459" marB="0" anchor="ctr"/>
                </a:tc>
                <a:tc>
                  <a:txBody>
                    <a:bodyPr/>
                    <a:lstStyle/>
                    <a:p>
                      <a:pPr algn="ctr" fontAlgn="b">
                        <a:buNone/>
                      </a:pPr>
                      <a:r>
                        <a:rPr lang="en-US" sz="1100" u="none" strike="noStrike">
                          <a:effectLst/>
                        </a:rPr>
                        <a:t>184</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190</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187</a:t>
                      </a:r>
                    </a:p>
                  </a:txBody>
                  <a:tcPr marL="7459" marR="7459" marT="7459" marB="0" anchor="b"/>
                </a:tc>
                <a:extLst>
                  <a:ext uri="{0D108BD9-81ED-4DB2-BD59-A6C34878D82A}">
                    <a16:rowId xmlns:a16="http://schemas.microsoft.com/office/drawing/2014/main" val="276068544"/>
                  </a:ext>
                </a:extLst>
              </a:tr>
              <a:tr h="367028">
                <a:tc>
                  <a:txBody>
                    <a:bodyPr/>
                    <a:lstStyle/>
                    <a:p>
                      <a:pPr algn="l" rtl="0" fontAlgn="ctr">
                        <a:buNone/>
                      </a:pPr>
                      <a:r>
                        <a:rPr lang="en-US" sz="1800" u="none" strike="noStrike">
                          <a:effectLst/>
                        </a:rPr>
                        <a:t>correct_consensus_answers</a:t>
                      </a:r>
                      <a:endParaRPr lang="en-US" sz="1800" b="0" i="0" u="none" strike="noStrike">
                        <a:solidFill>
                          <a:srgbClr val="CCCCCC"/>
                        </a:solidFill>
                        <a:effectLst/>
                        <a:latin typeface="Segoe WPC"/>
                      </a:endParaRPr>
                    </a:p>
                  </a:txBody>
                  <a:tcPr marL="7459" marR="7459" marT="7459" marB="0" anchor="ctr"/>
                </a:tc>
                <a:tc>
                  <a:txBody>
                    <a:bodyPr/>
                    <a:lstStyle/>
                    <a:p>
                      <a:pPr algn="ctr" fontAlgn="b">
                        <a:buNone/>
                      </a:pPr>
                      <a:r>
                        <a:rPr lang="en-US" sz="1100" u="none" strike="noStrike">
                          <a:effectLst/>
                        </a:rPr>
                        <a:t>105</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107</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109</a:t>
                      </a:r>
                    </a:p>
                  </a:txBody>
                  <a:tcPr marL="7459" marR="7459" marT="7459" marB="0" anchor="b"/>
                </a:tc>
                <a:extLst>
                  <a:ext uri="{0D108BD9-81ED-4DB2-BD59-A6C34878D82A}">
                    <a16:rowId xmlns:a16="http://schemas.microsoft.com/office/drawing/2014/main" val="1999628912"/>
                  </a:ext>
                </a:extLst>
              </a:tr>
              <a:tr h="367028">
                <a:tc>
                  <a:txBody>
                    <a:bodyPr/>
                    <a:lstStyle/>
                    <a:p>
                      <a:pPr algn="l" rtl="0" fontAlgn="ctr">
                        <a:buNone/>
                      </a:pPr>
                      <a:r>
                        <a:rPr lang="en-US" sz="1800" u="none" strike="noStrike" dirty="0" err="1">
                          <a:effectLst/>
                        </a:rPr>
                        <a:t>consensus_reliability</a:t>
                      </a:r>
                      <a:endParaRPr lang="en-US" sz="1800" b="0" i="0" u="none" strike="noStrike" dirty="0">
                        <a:solidFill>
                          <a:srgbClr val="CCCCCC"/>
                        </a:solidFill>
                        <a:effectLst/>
                        <a:latin typeface="Segoe WPC"/>
                      </a:endParaRPr>
                    </a:p>
                  </a:txBody>
                  <a:tcPr marL="7459" marR="7459" marT="7459" marB="0" anchor="ctr"/>
                </a:tc>
                <a:tc>
                  <a:txBody>
                    <a:bodyPr/>
                    <a:lstStyle/>
                    <a:p>
                      <a:pPr algn="ctr" fontAlgn="b">
                        <a:buNone/>
                      </a:pPr>
                      <a:r>
                        <a:rPr lang="en-US" sz="1100" u="none" strike="noStrike">
                          <a:effectLst/>
                        </a:rPr>
                        <a:t>0.570652174</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0.56315789</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0.582887700</a:t>
                      </a:r>
                    </a:p>
                  </a:txBody>
                  <a:tcPr marL="7459" marR="7459" marT="7459" marB="0" anchor="b"/>
                </a:tc>
                <a:extLst>
                  <a:ext uri="{0D108BD9-81ED-4DB2-BD59-A6C34878D82A}">
                    <a16:rowId xmlns:a16="http://schemas.microsoft.com/office/drawing/2014/main" val="2231864874"/>
                  </a:ext>
                </a:extLst>
              </a:tr>
              <a:tr h="367028">
                <a:tc>
                  <a:txBody>
                    <a:bodyPr/>
                    <a:lstStyle/>
                    <a:p>
                      <a:pPr algn="l" rtl="0" fontAlgn="ctr">
                        <a:buNone/>
                      </a:pPr>
                      <a:r>
                        <a:rPr lang="en-US" sz="1800" u="none" strike="noStrike">
                          <a:effectLst/>
                        </a:rPr>
                        <a:t>correct_hypotheses_proposed_before_final</a:t>
                      </a:r>
                      <a:endParaRPr lang="en-US" sz="1800" b="0" i="0" u="none" strike="noStrike">
                        <a:solidFill>
                          <a:srgbClr val="CCCCCC"/>
                        </a:solidFill>
                        <a:effectLst/>
                        <a:latin typeface="Segoe WPC"/>
                      </a:endParaRPr>
                    </a:p>
                  </a:txBody>
                  <a:tcPr marL="7459" marR="7459" marT="7459" marB="0" anchor="ctr"/>
                </a:tc>
                <a:tc>
                  <a:txBody>
                    <a:bodyPr/>
                    <a:lstStyle/>
                    <a:p>
                      <a:pPr algn="ctr" fontAlgn="b">
                        <a:buNone/>
                      </a:pPr>
                      <a:r>
                        <a:rPr lang="en-US" sz="1100" u="none" strike="noStrike">
                          <a:effectLst/>
                        </a:rPr>
                        <a:t>122</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122</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128</a:t>
                      </a:r>
                    </a:p>
                  </a:txBody>
                  <a:tcPr marL="7459" marR="7459" marT="7459" marB="0" anchor="b"/>
                </a:tc>
                <a:extLst>
                  <a:ext uri="{0D108BD9-81ED-4DB2-BD59-A6C34878D82A}">
                    <a16:rowId xmlns:a16="http://schemas.microsoft.com/office/drawing/2014/main" val="516800883"/>
                  </a:ext>
                </a:extLst>
              </a:tr>
              <a:tr h="367028">
                <a:tc>
                  <a:txBody>
                    <a:bodyPr/>
                    <a:lstStyle/>
                    <a:p>
                      <a:pPr algn="l" rtl="0" fontAlgn="ctr">
                        <a:buNone/>
                      </a:pPr>
                      <a:r>
                        <a:rPr lang="en-US" sz="1800" u="none" strike="noStrike" dirty="0" err="1">
                          <a:effectLst/>
                        </a:rPr>
                        <a:t>correct_hypotheses_discarded_before_final</a:t>
                      </a:r>
                      <a:endParaRPr lang="en-US" sz="1800" b="0" i="0" u="none" strike="noStrike" dirty="0">
                        <a:solidFill>
                          <a:srgbClr val="CCCCCC"/>
                        </a:solidFill>
                        <a:effectLst/>
                        <a:latin typeface="Segoe WPC"/>
                      </a:endParaRPr>
                    </a:p>
                  </a:txBody>
                  <a:tcPr marL="7459" marR="7459" marT="7459" marB="0" anchor="ctr"/>
                </a:tc>
                <a:tc>
                  <a:txBody>
                    <a:bodyPr/>
                    <a:lstStyle/>
                    <a:p>
                      <a:pPr algn="ctr" fontAlgn="b">
                        <a:buNone/>
                      </a:pPr>
                      <a:r>
                        <a:rPr lang="en-US" sz="1100" u="none" strike="noStrike">
                          <a:effectLst/>
                        </a:rPr>
                        <a:t>10</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11</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10</a:t>
                      </a:r>
                    </a:p>
                  </a:txBody>
                  <a:tcPr marL="7459" marR="7459" marT="7459" marB="0" anchor="b"/>
                </a:tc>
                <a:extLst>
                  <a:ext uri="{0D108BD9-81ED-4DB2-BD59-A6C34878D82A}">
                    <a16:rowId xmlns:a16="http://schemas.microsoft.com/office/drawing/2014/main" val="2611203910"/>
                  </a:ext>
                </a:extLst>
              </a:tr>
              <a:tr h="367028">
                <a:tc>
                  <a:txBody>
                    <a:bodyPr/>
                    <a:lstStyle/>
                    <a:p>
                      <a:pPr algn="l" rtl="0" fontAlgn="ctr">
                        <a:buNone/>
                      </a:pPr>
                      <a:r>
                        <a:rPr lang="en-US" sz="1800" u="none" strike="noStrike" dirty="0" err="1">
                          <a:effectLst/>
                        </a:rPr>
                        <a:t>premature_elimination_rate</a:t>
                      </a:r>
                      <a:endParaRPr lang="en-US" sz="1800" b="0" i="0" u="none" strike="noStrike" dirty="0">
                        <a:solidFill>
                          <a:srgbClr val="CCCCCC"/>
                        </a:solidFill>
                        <a:effectLst/>
                        <a:latin typeface="Segoe WPC"/>
                      </a:endParaRPr>
                    </a:p>
                  </a:txBody>
                  <a:tcPr marL="7459" marR="7459" marT="7459" marB="0" anchor="ctr"/>
                </a:tc>
                <a:tc>
                  <a:txBody>
                    <a:bodyPr/>
                    <a:lstStyle/>
                    <a:p>
                      <a:pPr algn="ctr" fontAlgn="b">
                        <a:buNone/>
                      </a:pPr>
                      <a:r>
                        <a:rPr lang="en-US" sz="1100" u="none" strike="noStrike" dirty="0">
                          <a:effectLst/>
                        </a:rPr>
                        <a:t>0.081967213</a:t>
                      </a:r>
                      <a:endParaRPr lang="en-US" sz="1100" b="0" i="0" u="none" strike="noStrike" dirty="0">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u="none" strike="noStrike">
                          <a:effectLst/>
                        </a:rPr>
                        <a:t>0.090163934</a:t>
                      </a:r>
                      <a:endParaRPr lang="en-US" sz="1100" b="0" i="0" u="none" strike="noStrike">
                        <a:solidFill>
                          <a:srgbClr val="000000"/>
                        </a:solidFill>
                        <a:effectLst/>
                        <a:latin typeface="Aptos Narrow" panose="020B0004020202020204" pitchFamily="34" charset="0"/>
                      </a:endParaRPr>
                    </a:p>
                  </a:txBody>
                  <a:tcPr marL="7459" marR="7459" marT="7459"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0.078125</a:t>
                      </a:r>
                    </a:p>
                  </a:txBody>
                  <a:tcPr marL="7459" marR="7459" marT="7459" marB="0" anchor="b"/>
                </a:tc>
                <a:extLst>
                  <a:ext uri="{0D108BD9-81ED-4DB2-BD59-A6C34878D82A}">
                    <a16:rowId xmlns:a16="http://schemas.microsoft.com/office/drawing/2014/main" val="1743852250"/>
                  </a:ext>
                </a:extLst>
              </a:tr>
            </a:tbl>
          </a:graphicData>
        </a:graphic>
      </p:graphicFrame>
    </p:spTree>
    <p:extLst>
      <p:ext uri="{BB962C8B-B14F-4D97-AF65-F5344CB8AC3E}">
        <p14:creationId xmlns:p14="http://schemas.microsoft.com/office/powerpoint/2010/main" val="1532372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A8664-93D9-156A-AA44-B7AA1B732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41E8B-36C3-FF80-CDD8-2752A5B9A03D}"/>
              </a:ext>
            </a:extLst>
          </p:cNvPr>
          <p:cNvSpPr>
            <a:spLocks noGrp="1"/>
          </p:cNvSpPr>
          <p:nvPr>
            <p:ph type="title"/>
          </p:nvPr>
        </p:nvSpPr>
        <p:spPr>
          <a:xfrm>
            <a:off x="637620" y="2201849"/>
            <a:ext cx="8229600" cy="1143000"/>
          </a:xfrm>
        </p:spPr>
        <p:txBody>
          <a:bodyPr>
            <a:normAutofit/>
          </a:bodyPr>
          <a:lstStyle/>
          <a:p>
            <a:r>
              <a:rPr lang="en-US" dirty="0"/>
              <a:t>Experiment #3</a:t>
            </a:r>
            <a:endParaRPr dirty="0"/>
          </a:p>
        </p:txBody>
      </p:sp>
    </p:spTree>
    <p:extLst>
      <p:ext uri="{BB962C8B-B14F-4D97-AF65-F5344CB8AC3E}">
        <p14:creationId xmlns:p14="http://schemas.microsoft.com/office/powerpoint/2010/main" val="383582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0078-7140-9FD0-F740-D2772767425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019AD05-F610-9674-84E5-7544335C8FC7}"/>
              </a:ext>
            </a:extLst>
          </p:cNvPr>
          <p:cNvSpPr txBox="1"/>
          <p:nvPr/>
        </p:nvSpPr>
        <p:spPr>
          <a:xfrm>
            <a:off x="389543" y="1109427"/>
            <a:ext cx="8574037" cy="4524315"/>
          </a:xfrm>
          <a:prstGeom prst="rect">
            <a:avLst/>
          </a:prstGeom>
          <a:noFill/>
        </p:spPr>
        <p:txBody>
          <a:bodyPr wrap="square">
            <a:spAutoFit/>
          </a:bodyPr>
          <a:lstStyle/>
          <a:p>
            <a:pPr marL="342900" indent="-342900">
              <a:buAutoNum type="arabicPeriod"/>
            </a:pPr>
            <a:r>
              <a:rPr lang="en-US" dirty="0"/>
              <a:t>Use the exact same 200 questions from the baseline case, not a fresh MMLU-Pro sample.</a:t>
            </a:r>
          </a:p>
          <a:p>
            <a:pPr marL="342900" indent="-342900">
              <a:buAutoNum type="arabicPeriod"/>
            </a:pPr>
            <a:endParaRPr lang="en-US" dirty="0"/>
          </a:p>
          <a:p>
            <a:pPr marL="342900" indent="-342900">
              <a:buAutoNum type="arabicPeriod"/>
            </a:pPr>
            <a:r>
              <a:rPr lang="en-US" dirty="0"/>
              <a:t>Keep the baseline protocol identical: 3 agents, 5 rounds, same model, same seed structure, same temperature/top-p, same final-answer moderator fallback.</a:t>
            </a:r>
          </a:p>
          <a:p>
            <a:pPr marL="342900" indent="-342900">
              <a:buAutoNum type="arabicPeriod"/>
            </a:pPr>
            <a:endParaRPr lang="en-US" dirty="0"/>
          </a:p>
          <a:p>
            <a:pPr marL="342900" indent="-342900">
              <a:buAutoNum type="arabicPeriod"/>
            </a:pPr>
            <a:r>
              <a:rPr lang="en-US" dirty="0"/>
              <a:t>Add minority-protection state:</a:t>
            </a:r>
            <a:br>
              <a:rPr lang="en-US" dirty="0"/>
            </a:br>
            <a:r>
              <a:rPr lang="en-US" dirty="0" err="1"/>
              <a:t>minority_support_threshold</a:t>
            </a:r>
            <a:r>
              <a:rPr lang="en-US" dirty="0"/>
              <a:t> = 1.5</a:t>
            </a:r>
            <a:br>
              <a:rPr lang="en-US" dirty="0"/>
            </a:br>
            <a:r>
              <a:rPr lang="en-US" dirty="0" err="1"/>
              <a:t>minority_extra_tokens</a:t>
            </a:r>
            <a:r>
              <a:rPr lang="en-US" dirty="0"/>
              <a:t> = 110</a:t>
            </a:r>
          </a:p>
          <a:p>
            <a:pPr marL="342900" indent="-342900">
              <a:buAutoNum type="arabicPeriod"/>
            </a:pPr>
            <a:endParaRPr lang="en-US" dirty="0"/>
          </a:p>
          <a:p>
            <a:pPr marL="342900" indent="-342900">
              <a:buAutoNum type="arabicPeriod"/>
            </a:pPr>
            <a:r>
              <a:rPr lang="en-US" dirty="0"/>
              <a:t>For MMLU multiple-choice questions, identify minority status categorically from the previous round: </a:t>
            </a:r>
          </a:p>
          <a:p>
            <a:r>
              <a:rPr lang="en-US" dirty="0"/>
              <a:t>	support(agent, round) = number of agents currently giving the same answer</a:t>
            </a:r>
          </a:p>
          <a:p>
            <a:endParaRPr lang="en-US" dirty="0"/>
          </a:p>
          <a:p>
            <a:pPr marL="342900" indent="-342900">
              <a:buAutoNum type="arabicPeriod"/>
            </a:pPr>
            <a:endParaRPr lang="en-US" dirty="0"/>
          </a:p>
          <a:p>
            <a:endParaRPr lang="en-US" dirty="0">
              <a:solidFill>
                <a:srgbClr val="CCCCCC"/>
              </a:solidFill>
              <a:latin typeface="Segoe WPC"/>
            </a:endParaRPr>
          </a:p>
        </p:txBody>
      </p:sp>
      <p:sp>
        <p:nvSpPr>
          <p:cNvPr id="12" name="Title 1">
            <a:extLst>
              <a:ext uri="{FF2B5EF4-FFF2-40B4-BE49-F238E27FC236}">
                <a16:creationId xmlns:a16="http://schemas.microsoft.com/office/drawing/2014/main" id="{F60AB34C-1732-BC0E-EEE7-EA51DBE7D661}"/>
              </a:ext>
            </a:extLst>
          </p:cNvPr>
          <p:cNvSpPr>
            <a:spLocks noGrp="1"/>
          </p:cNvSpPr>
          <p:nvPr>
            <p:ph type="title"/>
          </p:nvPr>
        </p:nvSpPr>
        <p:spPr>
          <a:xfrm>
            <a:off x="457200" y="274639"/>
            <a:ext cx="8229600" cy="401936"/>
          </a:xfrm>
        </p:spPr>
        <p:txBody>
          <a:bodyPr>
            <a:normAutofit fontScale="90000"/>
          </a:bodyPr>
          <a:lstStyle/>
          <a:p>
            <a:pPr algn="l"/>
            <a:r>
              <a:rPr lang="en-US" sz="3100" dirty="0"/>
              <a:t>Experiment 3a:</a:t>
            </a:r>
            <a:endParaRPr dirty="0"/>
          </a:p>
        </p:txBody>
      </p:sp>
    </p:spTree>
    <p:extLst>
      <p:ext uri="{BB962C8B-B14F-4D97-AF65-F5344CB8AC3E}">
        <p14:creationId xmlns:p14="http://schemas.microsoft.com/office/powerpoint/2010/main" val="749762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928AB-2849-B6A0-7977-5308C439CE7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33E919B-CA22-88E5-F63E-9772CEFD4B4C}"/>
              </a:ext>
            </a:extLst>
          </p:cNvPr>
          <p:cNvSpPr txBox="1"/>
          <p:nvPr/>
        </p:nvSpPr>
        <p:spPr>
          <a:xfrm>
            <a:off x="389543" y="1109427"/>
            <a:ext cx="8574037" cy="3970318"/>
          </a:xfrm>
          <a:prstGeom prst="rect">
            <a:avLst/>
          </a:prstGeom>
          <a:noFill/>
        </p:spPr>
        <p:txBody>
          <a:bodyPr wrap="square">
            <a:spAutoFit/>
          </a:bodyPr>
          <a:lstStyle/>
          <a:p>
            <a:r>
              <a:rPr lang="en-US" dirty="0">
                <a:latin typeface="Segoe WPC"/>
              </a:rPr>
              <a:t>5. </a:t>
            </a:r>
            <a:r>
              <a:rPr lang="en-US" dirty="0"/>
              <a:t>New prompt for loser: “Your previous answer was the lone answer that differed from the other agents’ majority answer. Before updating, give your minority hypothesis a fair test: generate the strongest evidence for it, identify the strongest evidence against it, and change only if a specific peer argument defeats your reasoning. If your answer remains defensible, preserve it and explain why.”</a:t>
            </a:r>
          </a:p>
          <a:p>
            <a:r>
              <a:rPr lang="en-US" dirty="0"/>
              <a:t>For unflagged agents, use the normal update prompt, with no active minority-protection intervention.</a:t>
            </a:r>
          </a:p>
          <a:p>
            <a:endParaRPr lang="en-US" dirty="0">
              <a:solidFill>
                <a:srgbClr val="CCCCCC"/>
              </a:solidFill>
              <a:latin typeface="Segoe WPC"/>
            </a:endParaRPr>
          </a:p>
          <a:p>
            <a:r>
              <a:rPr lang="en-US" dirty="0">
                <a:latin typeface="Segoe WPC"/>
              </a:rPr>
              <a:t>6. </a:t>
            </a:r>
            <a:r>
              <a:rPr lang="en-US" dirty="0"/>
              <a:t>Give protected minority agents extra reasoning budget:</a:t>
            </a:r>
          </a:p>
          <a:p>
            <a:r>
              <a:rPr lang="en-US" dirty="0" err="1"/>
              <a:t>max_new_tokens</a:t>
            </a:r>
            <a:r>
              <a:rPr lang="en-US" dirty="0"/>
              <a:t> = baseline </a:t>
            </a:r>
            <a:r>
              <a:rPr lang="en-US" dirty="0" err="1"/>
              <a:t>max_new_tokens</a:t>
            </a:r>
            <a:r>
              <a:rPr lang="en-US" dirty="0"/>
              <a:t> + 110</a:t>
            </a:r>
          </a:p>
          <a:p>
            <a:r>
              <a:rPr lang="en-US" dirty="0"/>
              <a:t>Non-minority agents keep the baseline token budget unchanged.</a:t>
            </a:r>
          </a:p>
          <a:p>
            <a:endParaRPr lang="en-US" dirty="0"/>
          </a:p>
          <a:p>
            <a:r>
              <a:rPr lang="en-US" dirty="0"/>
              <a:t>7. Log the intervention state.</a:t>
            </a:r>
          </a:p>
          <a:p>
            <a:endParaRPr lang="en-US" dirty="0">
              <a:solidFill>
                <a:srgbClr val="CCCCCC"/>
              </a:solidFill>
              <a:latin typeface="Segoe WPC"/>
            </a:endParaRPr>
          </a:p>
        </p:txBody>
      </p:sp>
      <p:sp>
        <p:nvSpPr>
          <p:cNvPr id="12" name="Title 1">
            <a:extLst>
              <a:ext uri="{FF2B5EF4-FFF2-40B4-BE49-F238E27FC236}">
                <a16:creationId xmlns:a16="http://schemas.microsoft.com/office/drawing/2014/main" id="{8D369517-5607-1E28-0140-D789ABCD245B}"/>
              </a:ext>
            </a:extLst>
          </p:cNvPr>
          <p:cNvSpPr>
            <a:spLocks noGrp="1"/>
          </p:cNvSpPr>
          <p:nvPr>
            <p:ph type="title"/>
          </p:nvPr>
        </p:nvSpPr>
        <p:spPr>
          <a:xfrm>
            <a:off x="457200" y="274639"/>
            <a:ext cx="8229600" cy="401936"/>
          </a:xfrm>
        </p:spPr>
        <p:txBody>
          <a:bodyPr>
            <a:normAutofit fontScale="90000"/>
          </a:bodyPr>
          <a:lstStyle/>
          <a:p>
            <a:pPr algn="l"/>
            <a:r>
              <a:rPr lang="en-US" sz="3100" dirty="0"/>
              <a:t>Experiment 3a:</a:t>
            </a:r>
            <a:endParaRPr dirty="0"/>
          </a:p>
        </p:txBody>
      </p:sp>
    </p:spTree>
    <p:extLst>
      <p:ext uri="{BB962C8B-B14F-4D97-AF65-F5344CB8AC3E}">
        <p14:creationId xmlns:p14="http://schemas.microsoft.com/office/powerpoint/2010/main" val="3149796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B858A-0C3D-BF0A-BCDA-3BB7D0841F3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2040612-48AD-1348-1272-6D20936739FB}"/>
              </a:ext>
            </a:extLst>
          </p:cNvPr>
          <p:cNvSpPr txBox="1"/>
          <p:nvPr/>
        </p:nvSpPr>
        <p:spPr>
          <a:xfrm>
            <a:off x="389543" y="1109427"/>
            <a:ext cx="8574037" cy="4801314"/>
          </a:xfrm>
          <a:prstGeom prst="rect">
            <a:avLst/>
          </a:prstGeom>
          <a:noFill/>
        </p:spPr>
        <p:txBody>
          <a:bodyPr wrap="square">
            <a:spAutoFit/>
          </a:bodyPr>
          <a:lstStyle/>
          <a:p>
            <a:r>
              <a:rPr lang="en-US" dirty="0"/>
              <a:t>For each debate round after Round 1:</a:t>
            </a:r>
          </a:p>
          <a:p>
            <a:endParaRPr lang="en-US" dirty="0"/>
          </a:p>
          <a:p>
            <a:r>
              <a:rPr lang="en-US" dirty="0"/>
              <a:t>    Check agents' previous answers</a:t>
            </a:r>
          </a:p>
          <a:p>
            <a:endParaRPr lang="en-US" dirty="0"/>
          </a:p>
          <a:p>
            <a:r>
              <a:rPr lang="en-US" dirty="0"/>
              <a:t>    If two agents agree</a:t>
            </a:r>
          </a:p>
          <a:p>
            <a:r>
              <a:rPr lang="en-US" dirty="0"/>
              <a:t>    and one agent disagrees:</a:t>
            </a:r>
          </a:p>
          <a:p>
            <a:endParaRPr lang="en-US" dirty="0"/>
          </a:p>
          <a:p>
            <a:r>
              <a:rPr lang="en-US" dirty="0"/>
              <a:t>        Mark disagreeing agent as minority/loser</a:t>
            </a:r>
          </a:p>
          <a:p>
            <a:endParaRPr lang="en-US" dirty="0"/>
          </a:p>
          <a:p>
            <a:r>
              <a:rPr lang="en-US" dirty="0"/>
              <a:t>        Give that agent:</a:t>
            </a:r>
          </a:p>
          <a:p>
            <a:r>
              <a:rPr lang="en-US" dirty="0"/>
              <a:t>            - extra reasoning budget</a:t>
            </a:r>
          </a:p>
          <a:p>
            <a:r>
              <a:rPr lang="en-US" dirty="0"/>
              <a:t>            - instruction to defend its answer</a:t>
            </a:r>
          </a:p>
          <a:p>
            <a:r>
              <a:rPr lang="en-US" dirty="0"/>
              <a:t>            - instruction to switch only if evidence is stronger</a:t>
            </a:r>
          </a:p>
          <a:p>
            <a:endParaRPr lang="en-US" dirty="0"/>
          </a:p>
          <a:p>
            <a:r>
              <a:rPr lang="en-US" dirty="0"/>
              <a:t>    Else:</a:t>
            </a:r>
          </a:p>
          <a:p>
            <a:r>
              <a:rPr lang="en-US" dirty="0"/>
              <a:t>        Continue normal debate</a:t>
            </a:r>
          </a:p>
          <a:p>
            <a:endParaRPr lang="en-US" dirty="0">
              <a:solidFill>
                <a:srgbClr val="CCCCCC"/>
              </a:solidFill>
              <a:latin typeface="Segoe WPC"/>
            </a:endParaRPr>
          </a:p>
        </p:txBody>
      </p:sp>
      <p:sp>
        <p:nvSpPr>
          <p:cNvPr id="12" name="Title 1">
            <a:extLst>
              <a:ext uri="{FF2B5EF4-FFF2-40B4-BE49-F238E27FC236}">
                <a16:creationId xmlns:a16="http://schemas.microsoft.com/office/drawing/2014/main" id="{82A20A99-EF24-EC7A-3349-1ED2A91B476B}"/>
              </a:ext>
            </a:extLst>
          </p:cNvPr>
          <p:cNvSpPr>
            <a:spLocks noGrp="1"/>
          </p:cNvSpPr>
          <p:nvPr>
            <p:ph type="title"/>
          </p:nvPr>
        </p:nvSpPr>
        <p:spPr>
          <a:xfrm>
            <a:off x="457200" y="274639"/>
            <a:ext cx="8229600" cy="401936"/>
          </a:xfrm>
        </p:spPr>
        <p:txBody>
          <a:bodyPr>
            <a:normAutofit fontScale="90000"/>
          </a:bodyPr>
          <a:lstStyle/>
          <a:p>
            <a:pPr algn="l"/>
            <a:r>
              <a:rPr lang="en-US" sz="3100" dirty="0"/>
              <a:t>Experiment 3a:</a:t>
            </a:r>
            <a:endParaRPr dirty="0"/>
          </a:p>
        </p:txBody>
      </p:sp>
    </p:spTree>
    <p:extLst>
      <p:ext uri="{BB962C8B-B14F-4D97-AF65-F5344CB8AC3E}">
        <p14:creationId xmlns:p14="http://schemas.microsoft.com/office/powerpoint/2010/main" val="3752601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BA5C1-1AB8-D4F2-1E63-188A36E4C1A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859B92-482A-75D3-B5BE-8F9CE0F627C2}"/>
              </a:ext>
            </a:extLst>
          </p:cNvPr>
          <p:cNvSpPr txBox="1"/>
          <p:nvPr/>
        </p:nvSpPr>
        <p:spPr>
          <a:xfrm>
            <a:off x="389543" y="1109427"/>
            <a:ext cx="8574037" cy="4801314"/>
          </a:xfrm>
          <a:prstGeom prst="rect">
            <a:avLst/>
          </a:prstGeom>
          <a:noFill/>
        </p:spPr>
        <p:txBody>
          <a:bodyPr wrap="square">
            <a:spAutoFit/>
          </a:bodyPr>
          <a:lstStyle/>
          <a:p>
            <a:r>
              <a:rPr lang="en-US" dirty="0"/>
              <a:t>For each debate round after Round 1:</a:t>
            </a:r>
          </a:p>
          <a:p>
            <a:endParaRPr lang="en-US" dirty="0"/>
          </a:p>
          <a:p>
            <a:r>
              <a:rPr lang="en-US" dirty="0"/>
              <a:t>    Compute live debate diagnostics:</a:t>
            </a:r>
          </a:p>
          <a:p>
            <a:r>
              <a:rPr lang="en-US" dirty="0"/>
              <a:t>        - influence asymmetry</a:t>
            </a:r>
          </a:p>
          <a:p>
            <a:r>
              <a:rPr lang="en-US" dirty="0"/>
              <a:t>        - balance</a:t>
            </a:r>
          </a:p>
          <a:p>
            <a:endParaRPr lang="en-US" dirty="0"/>
          </a:p>
          <a:p>
            <a:r>
              <a:rPr lang="en-US" dirty="0"/>
              <a:t>    If influence is too concentrated:</a:t>
            </a:r>
          </a:p>
          <a:p>
            <a:r>
              <a:rPr lang="en-US" dirty="0"/>
              <a:t>        Protect low-influence agents</a:t>
            </a:r>
          </a:p>
          <a:p>
            <a:endParaRPr lang="en-US" dirty="0"/>
          </a:p>
          <a:p>
            <a:r>
              <a:rPr lang="en-US" dirty="0"/>
              <a:t>    If debate is converging too quickly:</a:t>
            </a:r>
          </a:p>
          <a:p>
            <a:r>
              <a:rPr lang="en-US" dirty="0"/>
              <a:t>        Protect agents whose views may be collapsing</a:t>
            </a:r>
          </a:p>
          <a:p>
            <a:endParaRPr lang="en-US" dirty="0"/>
          </a:p>
          <a:p>
            <a:r>
              <a:rPr lang="en-US" dirty="0"/>
              <a:t>    Protected agents receive:</a:t>
            </a:r>
          </a:p>
          <a:p>
            <a:r>
              <a:rPr lang="en-US" dirty="0"/>
              <a:t>        - extra reasoning budget</a:t>
            </a:r>
          </a:p>
          <a:p>
            <a:r>
              <a:rPr lang="en-US" dirty="0"/>
              <a:t>        - instruction to re-test minority hypotheses</a:t>
            </a:r>
          </a:p>
          <a:p>
            <a:r>
              <a:rPr lang="en-US" dirty="0"/>
              <a:t>        - instruction to switch only if evidence is stronger</a:t>
            </a:r>
          </a:p>
          <a:p>
            <a:endParaRPr lang="en-US" dirty="0">
              <a:solidFill>
                <a:srgbClr val="CCCCCC"/>
              </a:solidFill>
              <a:latin typeface="Segoe WPC"/>
            </a:endParaRPr>
          </a:p>
        </p:txBody>
      </p:sp>
      <p:sp>
        <p:nvSpPr>
          <p:cNvPr id="12" name="Title 1">
            <a:extLst>
              <a:ext uri="{FF2B5EF4-FFF2-40B4-BE49-F238E27FC236}">
                <a16:creationId xmlns:a16="http://schemas.microsoft.com/office/drawing/2014/main" id="{6861DB64-CB8A-30DC-DFA7-BB7ED62E1CB9}"/>
              </a:ext>
            </a:extLst>
          </p:cNvPr>
          <p:cNvSpPr>
            <a:spLocks noGrp="1"/>
          </p:cNvSpPr>
          <p:nvPr>
            <p:ph type="title"/>
          </p:nvPr>
        </p:nvSpPr>
        <p:spPr>
          <a:xfrm>
            <a:off x="457200" y="274639"/>
            <a:ext cx="8229600" cy="401936"/>
          </a:xfrm>
        </p:spPr>
        <p:txBody>
          <a:bodyPr>
            <a:normAutofit fontScale="90000"/>
          </a:bodyPr>
          <a:lstStyle/>
          <a:p>
            <a:pPr algn="l"/>
            <a:r>
              <a:rPr lang="en-US" sz="3100" dirty="0"/>
              <a:t>Experiment 3b:</a:t>
            </a:r>
            <a:endParaRPr dirty="0"/>
          </a:p>
        </p:txBody>
      </p:sp>
    </p:spTree>
    <p:extLst>
      <p:ext uri="{BB962C8B-B14F-4D97-AF65-F5344CB8AC3E}">
        <p14:creationId xmlns:p14="http://schemas.microsoft.com/office/powerpoint/2010/main" val="1371907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79FD-7A0F-3749-CE75-3185037354F4}"/>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EFBBAEB1-41D3-7A7B-B619-3BFFF7A49900}"/>
              </a:ext>
            </a:extLst>
          </p:cNvPr>
          <p:cNvSpPr>
            <a:spLocks noGrp="1"/>
          </p:cNvSpPr>
          <p:nvPr>
            <p:ph type="title"/>
          </p:nvPr>
        </p:nvSpPr>
        <p:spPr>
          <a:xfrm>
            <a:off x="457200" y="274639"/>
            <a:ext cx="8229600" cy="401936"/>
          </a:xfrm>
        </p:spPr>
        <p:txBody>
          <a:bodyPr>
            <a:normAutofit fontScale="90000"/>
          </a:bodyPr>
          <a:lstStyle/>
          <a:p>
            <a:pPr algn="l"/>
            <a:r>
              <a:rPr lang="en-US" sz="3100" dirty="0"/>
              <a:t>Experiment 3:</a:t>
            </a:r>
            <a:endParaRPr lang="en-US" dirty="0"/>
          </a:p>
        </p:txBody>
      </p:sp>
      <p:graphicFrame>
        <p:nvGraphicFramePr>
          <p:cNvPr id="3" name="Table 2">
            <a:extLst>
              <a:ext uri="{FF2B5EF4-FFF2-40B4-BE49-F238E27FC236}">
                <a16:creationId xmlns:a16="http://schemas.microsoft.com/office/drawing/2014/main" id="{2EBE2ADB-1077-2407-D8C8-0F631F3EF59A}"/>
              </a:ext>
            </a:extLst>
          </p:cNvPr>
          <p:cNvGraphicFramePr>
            <a:graphicFrameLocks noGrp="1"/>
          </p:cNvGraphicFramePr>
          <p:nvPr/>
        </p:nvGraphicFramePr>
        <p:xfrm>
          <a:off x="457200" y="2255838"/>
          <a:ext cx="8229600" cy="2348660"/>
        </p:xfrm>
        <a:graphic>
          <a:graphicData uri="http://schemas.openxmlformats.org/drawingml/2006/table">
            <a:tbl>
              <a:tblPr>
                <a:tableStyleId>{5C22544A-7EE6-4342-B048-85BDC9FD1C3A}</a:tableStyleId>
              </a:tblPr>
              <a:tblGrid>
                <a:gridCol w="3623948">
                  <a:extLst>
                    <a:ext uri="{9D8B030D-6E8A-4147-A177-3AD203B41FA5}">
                      <a16:colId xmlns:a16="http://schemas.microsoft.com/office/drawing/2014/main" val="3564925525"/>
                    </a:ext>
                  </a:extLst>
                </a:gridCol>
                <a:gridCol w="731056">
                  <a:extLst>
                    <a:ext uri="{9D8B030D-6E8A-4147-A177-3AD203B41FA5}">
                      <a16:colId xmlns:a16="http://schemas.microsoft.com/office/drawing/2014/main" val="83409636"/>
                    </a:ext>
                  </a:extLst>
                </a:gridCol>
                <a:gridCol w="960816">
                  <a:extLst>
                    <a:ext uri="{9D8B030D-6E8A-4147-A177-3AD203B41FA5}">
                      <a16:colId xmlns:a16="http://schemas.microsoft.com/office/drawing/2014/main" val="237630717"/>
                    </a:ext>
                  </a:extLst>
                </a:gridCol>
                <a:gridCol w="1117471">
                  <a:extLst>
                    <a:ext uri="{9D8B030D-6E8A-4147-A177-3AD203B41FA5}">
                      <a16:colId xmlns:a16="http://schemas.microsoft.com/office/drawing/2014/main" val="418722714"/>
                    </a:ext>
                  </a:extLst>
                </a:gridCol>
                <a:gridCol w="887711">
                  <a:extLst>
                    <a:ext uri="{9D8B030D-6E8A-4147-A177-3AD203B41FA5}">
                      <a16:colId xmlns:a16="http://schemas.microsoft.com/office/drawing/2014/main" val="2803324448"/>
                    </a:ext>
                  </a:extLst>
                </a:gridCol>
                <a:gridCol w="908598">
                  <a:extLst>
                    <a:ext uri="{9D8B030D-6E8A-4147-A177-3AD203B41FA5}">
                      <a16:colId xmlns:a16="http://schemas.microsoft.com/office/drawing/2014/main" val="1884586743"/>
                    </a:ext>
                  </a:extLst>
                </a:gridCol>
              </a:tblGrid>
              <a:tr h="231849">
                <a:tc>
                  <a:txBody>
                    <a:bodyPr/>
                    <a:lstStyle/>
                    <a:p>
                      <a:pPr algn="l" fontAlgn="b">
                        <a:buNone/>
                      </a:pPr>
                      <a:r>
                        <a:rPr lang="en-US" sz="1500" u="none" strike="noStrike">
                          <a:effectLst/>
                        </a:rPr>
                        <a:t> </a:t>
                      </a:r>
                      <a:endParaRPr lang="en-US" sz="1500" b="0" i="0" u="none" strike="noStrike">
                        <a:solidFill>
                          <a:srgbClr val="000000"/>
                        </a:solidFill>
                        <a:effectLst/>
                        <a:latin typeface="Arial" panose="020B0604020202020204" pitchFamily="34" charset="0"/>
                      </a:endParaRPr>
                    </a:p>
                  </a:txBody>
                  <a:tcPr marL="6266" marR="6266" marT="6266" marB="0" anchor="b"/>
                </a:tc>
                <a:tc>
                  <a:txBody>
                    <a:bodyPr/>
                    <a:lstStyle/>
                    <a:p>
                      <a:pPr algn="ctr" rtl="0" fontAlgn="b">
                        <a:buNone/>
                      </a:pPr>
                      <a:r>
                        <a:rPr lang="en-US" sz="900" u="none" strike="noStrike">
                          <a:effectLst/>
                        </a:rPr>
                        <a:t>Baseline</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Experiment #2a</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Experiment #2b</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Experiment #3a</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Experiment #3b</a:t>
                      </a:r>
                      <a:endParaRPr lang="en-US" sz="900" b="0" i="0" u="none" strike="noStrike">
                        <a:solidFill>
                          <a:srgbClr val="000000"/>
                        </a:solidFill>
                        <a:effectLst/>
                        <a:latin typeface="Calibri" panose="020F0502020204030204" pitchFamily="34" charset="0"/>
                      </a:endParaRPr>
                    </a:p>
                  </a:txBody>
                  <a:tcPr marL="6266" marR="6266" marT="6266" marB="0" anchor="b"/>
                </a:tc>
                <a:extLst>
                  <a:ext uri="{0D108BD9-81ED-4DB2-BD59-A6C34878D82A}">
                    <a16:rowId xmlns:a16="http://schemas.microsoft.com/office/drawing/2014/main" val="3731654243"/>
                  </a:ext>
                </a:extLst>
              </a:tr>
              <a:tr h="231849">
                <a:tc>
                  <a:txBody>
                    <a:bodyPr/>
                    <a:lstStyle/>
                    <a:p>
                      <a:pPr algn="l" rtl="0" fontAlgn="ctr">
                        <a:buNone/>
                      </a:pPr>
                      <a:r>
                        <a:rPr lang="en-US" sz="1500" u="none" strike="noStrike">
                          <a:effectLst/>
                        </a:rPr>
                        <a:t>total_questions</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200</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200</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200</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4199809281"/>
                  </a:ext>
                </a:extLst>
              </a:tr>
              <a:tr h="231849">
                <a:tc>
                  <a:txBody>
                    <a:bodyPr/>
                    <a:lstStyle/>
                    <a:p>
                      <a:pPr algn="l" rtl="0" fontAlgn="ctr">
                        <a:buNone/>
                      </a:pPr>
                      <a:r>
                        <a:rPr lang="en-US" sz="1500" u="none" strike="noStrike">
                          <a:effectLst/>
                        </a:rPr>
                        <a:t>correct_final_answers</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109</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111</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116</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115</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120</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2842683530"/>
                  </a:ext>
                </a:extLst>
              </a:tr>
              <a:tr h="231849">
                <a:tc>
                  <a:txBody>
                    <a:bodyPr/>
                    <a:lstStyle/>
                    <a:p>
                      <a:pPr algn="l" rtl="0" fontAlgn="ctr">
                        <a:buNone/>
                      </a:pPr>
                      <a:r>
                        <a:rPr lang="en-US" sz="1500" u="none" strike="noStrike">
                          <a:effectLst/>
                        </a:rPr>
                        <a:t>accuracy</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0.545</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0.555</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0.58</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0.575</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0.6</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3669753722"/>
                  </a:ext>
                </a:extLst>
              </a:tr>
              <a:tr h="231849">
                <a:tc>
                  <a:txBody>
                    <a:bodyPr/>
                    <a:lstStyle/>
                    <a:p>
                      <a:pPr algn="l" rtl="0" fontAlgn="ctr">
                        <a:buNone/>
                      </a:pPr>
                      <a:r>
                        <a:rPr lang="en-US" sz="1500" u="none" strike="noStrike">
                          <a:effectLst/>
                        </a:rPr>
                        <a:t>consensus_questions</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184</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190</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187</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167</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180</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1157136683"/>
                  </a:ext>
                </a:extLst>
              </a:tr>
              <a:tr h="231849">
                <a:tc>
                  <a:txBody>
                    <a:bodyPr/>
                    <a:lstStyle/>
                    <a:p>
                      <a:pPr algn="l" rtl="0" fontAlgn="ctr">
                        <a:buNone/>
                      </a:pPr>
                      <a:r>
                        <a:rPr lang="en-US" sz="1500" u="none" strike="noStrike">
                          <a:effectLst/>
                        </a:rPr>
                        <a:t>correct_consensus_answers</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105</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107</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109</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97</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109</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3118281599"/>
                  </a:ext>
                </a:extLst>
              </a:tr>
              <a:tr h="231849">
                <a:tc>
                  <a:txBody>
                    <a:bodyPr/>
                    <a:lstStyle/>
                    <a:p>
                      <a:pPr algn="l" rtl="0" fontAlgn="ctr">
                        <a:buNone/>
                      </a:pPr>
                      <a:r>
                        <a:rPr lang="en-US" sz="1500" u="none" strike="noStrike">
                          <a:effectLst/>
                        </a:rPr>
                        <a:t>consensus_reliability</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0.570652174</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0.56315789</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0.5828877</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0.580838323</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0.605555556</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341079356"/>
                  </a:ext>
                </a:extLst>
              </a:tr>
              <a:tr h="231849">
                <a:tc>
                  <a:txBody>
                    <a:bodyPr/>
                    <a:lstStyle/>
                    <a:p>
                      <a:pPr algn="l" rtl="0" fontAlgn="ctr">
                        <a:buNone/>
                      </a:pPr>
                      <a:r>
                        <a:rPr lang="en-US" sz="1500" u="none" strike="noStrike">
                          <a:effectLst/>
                        </a:rPr>
                        <a:t>correct_hypotheses_proposed_before_final</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122</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122</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128</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129</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126</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1369903298"/>
                  </a:ext>
                </a:extLst>
              </a:tr>
              <a:tr h="231849">
                <a:tc>
                  <a:txBody>
                    <a:bodyPr/>
                    <a:lstStyle/>
                    <a:p>
                      <a:pPr algn="l" rtl="0" fontAlgn="ctr">
                        <a:buNone/>
                      </a:pPr>
                      <a:r>
                        <a:rPr lang="en-US" sz="1500" u="none" strike="noStrike">
                          <a:effectLst/>
                        </a:rPr>
                        <a:t>correct_hypotheses_discarded_before_final</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10</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11</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10</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8</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4</a:t>
                      </a:r>
                      <a:endParaRPr lang="en-US" sz="900" b="0" i="0" u="none" strike="noStrike">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3509847186"/>
                  </a:ext>
                </a:extLst>
              </a:tr>
              <a:tr h="231849">
                <a:tc>
                  <a:txBody>
                    <a:bodyPr/>
                    <a:lstStyle/>
                    <a:p>
                      <a:pPr algn="l" rtl="0" fontAlgn="ctr">
                        <a:buNone/>
                      </a:pPr>
                      <a:r>
                        <a:rPr lang="en-US" sz="1500" u="none" strike="noStrike">
                          <a:effectLst/>
                        </a:rPr>
                        <a:t>premature_elimination_rate</a:t>
                      </a:r>
                      <a:endParaRPr lang="en-US" sz="1500" b="0" i="0" u="none" strike="noStrike">
                        <a:solidFill>
                          <a:srgbClr val="000000"/>
                        </a:solidFill>
                        <a:effectLst/>
                        <a:latin typeface="Calibri" panose="020F0502020204030204" pitchFamily="34" charset="0"/>
                      </a:endParaRPr>
                    </a:p>
                  </a:txBody>
                  <a:tcPr marL="6266" marR="6266" marT="6266" marB="0" anchor="ctr"/>
                </a:tc>
                <a:tc>
                  <a:txBody>
                    <a:bodyPr/>
                    <a:lstStyle/>
                    <a:p>
                      <a:pPr algn="ctr" rtl="0" fontAlgn="b">
                        <a:buNone/>
                      </a:pPr>
                      <a:r>
                        <a:rPr lang="en-US" sz="900" u="none" strike="noStrike">
                          <a:effectLst/>
                        </a:rPr>
                        <a:t>0.081967213</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0.090163934</a:t>
                      </a:r>
                      <a:endParaRPr lang="en-US" sz="900" b="0" i="0" u="none" strike="noStrike">
                        <a:solidFill>
                          <a:srgbClr val="000000"/>
                        </a:solidFill>
                        <a:effectLst/>
                        <a:latin typeface="Calibri" panose="020F0502020204030204" pitchFamily="34" charset="0"/>
                      </a:endParaRPr>
                    </a:p>
                  </a:txBody>
                  <a:tcPr marL="6266" marR="6266" marT="6266" marB="0" anchor="b"/>
                </a:tc>
                <a:tc>
                  <a:txBody>
                    <a:bodyPr/>
                    <a:lstStyle/>
                    <a:p>
                      <a:pPr algn="ctr" rtl="0" fontAlgn="b">
                        <a:buNone/>
                      </a:pPr>
                      <a:r>
                        <a:rPr lang="en-US" sz="900" u="none" strike="noStrike">
                          <a:effectLst/>
                        </a:rPr>
                        <a:t>0.078125</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a:effectLst/>
                        </a:rPr>
                        <a:t>0.062015504</a:t>
                      </a:r>
                      <a:endParaRPr lang="en-US" sz="900" b="0" i="0" u="none" strike="noStrike">
                        <a:solidFill>
                          <a:srgbClr val="000000"/>
                        </a:solidFill>
                        <a:effectLst/>
                        <a:latin typeface="Aptos Narrow" panose="020B0004020202020204" pitchFamily="34" charset="0"/>
                      </a:endParaRPr>
                    </a:p>
                  </a:txBody>
                  <a:tcPr marL="6266" marR="6266" marT="6266" marB="0" anchor="b"/>
                </a:tc>
                <a:tc>
                  <a:txBody>
                    <a:bodyPr/>
                    <a:lstStyle/>
                    <a:p>
                      <a:pPr algn="ctr" rtl="0" fontAlgn="b">
                        <a:buNone/>
                      </a:pPr>
                      <a:r>
                        <a:rPr lang="en-US" sz="900" u="none" strike="noStrike" dirty="0">
                          <a:effectLst/>
                        </a:rPr>
                        <a:t>0.031746032</a:t>
                      </a:r>
                      <a:endParaRPr lang="en-US" sz="900" b="0" i="0" u="none" strike="noStrike" dirty="0">
                        <a:solidFill>
                          <a:srgbClr val="000000"/>
                        </a:solidFill>
                        <a:effectLst/>
                        <a:latin typeface="Aptos Narrow" panose="020B0004020202020204" pitchFamily="34" charset="0"/>
                      </a:endParaRPr>
                    </a:p>
                  </a:txBody>
                  <a:tcPr marL="6266" marR="6266" marT="6266" marB="0" anchor="b"/>
                </a:tc>
                <a:extLst>
                  <a:ext uri="{0D108BD9-81ED-4DB2-BD59-A6C34878D82A}">
                    <a16:rowId xmlns:a16="http://schemas.microsoft.com/office/drawing/2014/main" val="3689937573"/>
                  </a:ext>
                </a:extLst>
              </a:tr>
            </a:tbl>
          </a:graphicData>
        </a:graphic>
      </p:graphicFrame>
    </p:spTree>
    <p:extLst>
      <p:ext uri="{BB962C8B-B14F-4D97-AF65-F5344CB8AC3E}">
        <p14:creationId xmlns:p14="http://schemas.microsoft.com/office/powerpoint/2010/main" val="18540841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DADD-6E31-1F36-9BBF-74C233F3D1B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FD43251-5687-CEA4-7CBF-71292744742F}"/>
              </a:ext>
            </a:extLst>
          </p:cNvPr>
          <p:cNvSpPr>
            <a:spLocks noGrp="1"/>
          </p:cNvSpPr>
          <p:nvPr>
            <p:ph type="title"/>
          </p:nvPr>
        </p:nvSpPr>
        <p:spPr>
          <a:xfrm>
            <a:off x="457200" y="274639"/>
            <a:ext cx="8229600" cy="401936"/>
          </a:xfrm>
        </p:spPr>
        <p:txBody>
          <a:bodyPr>
            <a:normAutofit fontScale="90000"/>
          </a:bodyPr>
          <a:lstStyle/>
          <a:p>
            <a:pPr algn="l"/>
            <a:r>
              <a:rPr lang="en-US" sz="3100" dirty="0"/>
              <a:t>Experiment 3:</a:t>
            </a:r>
            <a:endParaRPr lang="en-US" dirty="0"/>
          </a:p>
        </p:txBody>
      </p:sp>
      <p:graphicFrame>
        <p:nvGraphicFramePr>
          <p:cNvPr id="2" name="Table 1">
            <a:extLst>
              <a:ext uri="{FF2B5EF4-FFF2-40B4-BE49-F238E27FC236}">
                <a16:creationId xmlns:a16="http://schemas.microsoft.com/office/drawing/2014/main" id="{D95833C3-AE67-116D-34B4-D5668BD527A8}"/>
              </a:ext>
            </a:extLst>
          </p:cNvPr>
          <p:cNvGraphicFramePr>
            <a:graphicFrameLocks noGrp="1"/>
          </p:cNvGraphicFramePr>
          <p:nvPr/>
        </p:nvGraphicFramePr>
        <p:xfrm>
          <a:off x="527050" y="1333500"/>
          <a:ext cx="8089900" cy="4191000"/>
        </p:xfrm>
        <a:graphic>
          <a:graphicData uri="http://schemas.openxmlformats.org/drawingml/2006/table">
            <a:tbl>
              <a:tblPr>
                <a:tableStyleId>{5C22544A-7EE6-4342-B048-85BDC9FD1C3A}</a:tableStyleId>
              </a:tblPr>
              <a:tblGrid>
                <a:gridCol w="2311400">
                  <a:extLst>
                    <a:ext uri="{9D8B030D-6E8A-4147-A177-3AD203B41FA5}">
                      <a16:colId xmlns:a16="http://schemas.microsoft.com/office/drawing/2014/main" val="1789774475"/>
                    </a:ext>
                  </a:extLst>
                </a:gridCol>
                <a:gridCol w="1155700">
                  <a:extLst>
                    <a:ext uri="{9D8B030D-6E8A-4147-A177-3AD203B41FA5}">
                      <a16:colId xmlns:a16="http://schemas.microsoft.com/office/drawing/2014/main" val="1276563114"/>
                    </a:ext>
                  </a:extLst>
                </a:gridCol>
                <a:gridCol w="977900">
                  <a:extLst>
                    <a:ext uri="{9D8B030D-6E8A-4147-A177-3AD203B41FA5}">
                      <a16:colId xmlns:a16="http://schemas.microsoft.com/office/drawing/2014/main" val="3597108602"/>
                    </a:ext>
                  </a:extLst>
                </a:gridCol>
                <a:gridCol w="1244600">
                  <a:extLst>
                    <a:ext uri="{9D8B030D-6E8A-4147-A177-3AD203B41FA5}">
                      <a16:colId xmlns:a16="http://schemas.microsoft.com/office/drawing/2014/main" val="1527900102"/>
                    </a:ext>
                  </a:extLst>
                </a:gridCol>
                <a:gridCol w="990600">
                  <a:extLst>
                    <a:ext uri="{9D8B030D-6E8A-4147-A177-3AD203B41FA5}">
                      <a16:colId xmlns:a16="http://schemas.microsoft.com/office/drawing/2014/main" val="2750948148"/>
                    </a:ext>
                  </a:extLst>
                </a:gridCol>
                <a:gridCol w="1409700">
                  <a:extLst>
                    <a:ext uri="{9D8B030D-6E8A-4147-A177-3AD203B41FA5}">
                      <a16:colId xmlns:a16="http://schemas.microsoft.com/office/drawing/2014/main" val="3736851811"/>
                    </a:ext>
                  </a:extLst>
                </a:gridCol>
              </a:tblGrid>
              <a:tr h="190500">
                <a:tc>
                  <a:txBody>
                    <a:bodyPr/>
                    <a:lstStyle/>
                    <a:p>
                      <a:pPr algn="ctr" rtl="0" fontAlgn="t">
                        <a:buNone/>
                      </a:pPr>
                      <a:r>
                        <a:rPr lang="en-US" sz="900" u="none" strike="noStrike">
                          <a:effectLst/>
                        </a:rPr>
                        <a:t>Experiment ID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l" rtl="0" fontAlgn="b">
                        <a:buNone/>
                      </a:pPr>
                      <a:r>
                        <a:rPr lang="en-US" sz="900" u="none" strike="noStrike">
                          <a:effectLst/>
                        </a:rPr>
                        <a:t>Baseline</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Experiment  #2a</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Experiment #2b</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Experiment #3a</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Experiment #3b</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10117142"/>
                  </a:ext>
                </a:extLst>
              </a:tr>
              <a:tr h="190500">
                <a:tc>
                  <a:txBody>
                    <a:bodyPr/>
                    <a:lstStyle/>
                    <a:p>
                      <a:pPr algn="ctr" rtl="0" fontAlgn="t">
                        <a:buNone/>
                      </a:pPr>
                      <a:r>
                        <a:rPr lang="en-US" sz="900" u="none" strike="noStrike">
                          <a:effectLst/>
                        </a:rPr>
                        <a:t>stance_mode</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buNone/>
                      </a:pPr>
                      <a:r>
                        <a:rPr lang="en-US" sz="900" u="none" strike="noStrike">
                          <a:effectLst/>
                        </a:rPr>
                        <a:t>categorical</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71743971"/>
                  </a:ext>
                </a:extLst>
              </a:tr>
              <a:tr h="190500">
                <a:tc>
                  <a:txBody>
                    <a:bodyPr/>
                    <a:lstStyle/>
                    <a:p>
                      <a:pPr algn="ctr" rtl="0" fontAlgn="t">
                        <a:buNone/>
                      </a:pPr>
                      <a:r>
                        <a:rPr lang="en-US" sz="900" u="none" strike="noStrike">
                          <a:effectLst/>
                        </a:rPr>
                        <a:t>Total Questions</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200</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06103644"/>
                  </a:ext>
                </a:extLst>
              </a:tr>
              <a:tr h="190500">
                <a:tc>
                  <a:txBody>
                    <a:bodyPr/>
                    <a:lstStyle/>
                    <a:p>
                      <a:pPr algn="ctr" rtl="0" fontAlgn="t">
                        <a:buNone/>
                      </a:pPr>
                      <a:r>
                        <a:rPr lang="en-US" sz="900" u="none" strike="noStrike">
                          <a:effectLst/>
                        </a:rPr>
                        <a:t>accuracy_count</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109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111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116</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115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120</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78083158"/>
                  </a:ext>
                </a:extLst>
              </a:tr>
              <a:tr h="190500">
                <a:tc>
                  <a:txBody>
                    <a:bodyPr/>
                    <a:lstStyle/>
                    <a:p>
                      <a:pPr algn="ctr" rtl="0" fontAlgn="t">
                        <a:buNone/>
                      </a:pPr>
                      <a:r>
                        <a:rPr lang="en-US" sz="900" u="none" strike="noStrike">
                          <a:effectLst/>
                        </a:rPr>
                        <a:t>accuracy_mean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0.545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0.555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0.58</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0.575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0.6</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87359741"/>
                  </a:ext>
                </a:extLst>
              </a:tr>
              <a:tr h="190500">
                <a:tc>
                  <a:txBody>
                    <a:bodyPr/>
                    <a:lstStyle/>
                    <a:p>
                      <a:pPr algn="ctr" rtl="0" fontAlgn="t">
                        <a:buNone/>
                      </a:pPr>
                      <a:r>
                        <a:rPr lang="en-US" sz="900" u="none" strike="noStrike">
                          <a:effectLst/>
                        </a:rPr>
                        <a:t>accuracy_std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0.4992205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0.498212887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0.49479705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0.49558351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0.491127305</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49329100"/>
                  </a:ext>
                </a:extLst>
              </a:tr>
              <a:tr h="190500">
                <a:tc>
                  <a:txBody>
                    <a:bodyPr/>
                    <a:lstStyle/>
                    <a:p>
                      <a:pPr algn="ctr" rtl="0" fontAlgn="t">
                        <a:buNone/>
                      </a:pPr>
                      <a:r>
                        <a:rPr lang="en-US" sz="900" u="none" strike="noStrike">
                          <a:effectLst/>
                        </a:rPr>
                        <a:t>engagement_mean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0.10552083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0.092020833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0.104979167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0.076041667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0.116166667</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73733021"/>
                  </a:ext>
                </a:extLst>
              </a:tr>
              <a:tr h="190500">
                <a:tc>
                  <a:txBody>
                    <a:bodyPr/>
                    <a:lstStyle/>
                    <a:p>
                      <a:pPr algn="ctr" rtl="0" fontAlgn="t">
                        <a:buNone/>
                      </a:pPr>
                      <a:r>
                        <a:rPr lang="en-US" sz="900" u="none" strike="noStrike">
                          <a:effectLst/>
                        </a:rPr>
                        <a:t>engagement_std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0.186492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0.16371751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0.181605752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0.117143342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0.192878859</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43337978"/>
                  </a:ext>
                </a:extLst>
              </a:tr>
              <a:tr h="190500">
                <a:tc>
                  <a:txBody>
                    <a:bodyPr/>
                    <a:lstStyle/>
                    <a:p>
                      <a:pPr algn="ctr" rtl="0" fontAlgn="t">
                        <a:buNone/>
                      </a:pPr>
                      <a:r>
                        <a:rPr lang="en-US" sz="900" u="none" strike="noStrike">
                          <a:effectLst/>
                        </a:rPr>
                        <a:t>responsiveness_mean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0.045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0.035666667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0.045875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0.01075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0.047291667</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17328156"/>
                  </a:ext>
                </a:extLst>
              </a:tr>
              <a:tr h="190500">
                <a:tc>
                  <a:txBody>
                    <a:bodyPr/>
                    <a:lstStyle/>
                    <a:p>
                      <a:pPr algn="ctr" rtl="0" fontAlgn="t">
                        <a:buNone/>
                      </a:pPr>
                      <a:r>
                        <a:rPr lang="en-US" sz="900" u="none" strike="noStrike">
                          <a:effectLst/>
                        </a:rPr>
                        <a:t>responsiveness_std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0.08160263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0.070869214</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0.086812818</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0.042758639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0.081418269</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29930311"/>
                  </a:ext>
                </a:extLst>
              </a:tr>
              <a:tr h="190500">
                <a:tc>
                  <a:txBody>
                    <a:bodyPr/>
                    <a:lstStyle/>
                    <a:p>
                      <a:pPr algn="ctr" rtl="0" fontAlgn="t">
                        <a:buNone/>
                      </a:pPr>
                      <a:r>
                        <a:rPr lang="en-US" sz="900" u="none" strike="noStrike">
                          <a:effectLst/>
                        </a:rPr>
                        <a:t>influence_asymmetry_mean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0.09788024</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0.13260278</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0.119810421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0.234997549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0.141524243</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02224239"/>
                  </a:ext>
                </a:extLst>
              </a:tr>
              <a:tr h="190500">
                <a:tc>
                  <a:txBody>
                    <a:bodyPr/>
                    <a:lstStyle/>
                    <a:p>
                      <a:pPr algn="ctr" rtl="0" fontAlgn="t">
                        <a:buNone/>
                      </a:pPr>
                      <a:r>
                        <a:rPr lang="en-US" sz="900" u="none" strike="noStrike">
                          <a:effectLst/>
                        </a:rPr>
                        <a:t>influence_asymmetry_std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0.22088939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0.269119577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0.26371225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0.388212404</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0.280992046</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87738949"/>
                  </a:ext>
                </a:extLst>
              </a:tr>
              <a:tr h="190500">
                <a:tc>
                  <a:txBody>
                    <a:bodyPr/>
                    <a:lstStyle/>
                    <a:p>
                      <a:pPr algn="ctr" rtl="0" fontAlgn="t">
                        <a:buNone/>
                      </a:pPr>
                      <a:r>
                        <a:rPr lang="en-US" sz="900" u="none" strike="noStrike">
                          <a:effectLst/>
                        </a:rPr>
                        <a:t>influence_asymmetry_inv_mean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0.90211976</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0.86739722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0.880189579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0.765002451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0.858475757</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71696995"/>
                  </a:ext>
                </a:extLst>
              </a:tr>
              <a:tr h="190500">
                <a:tc>
                  <a:txBody>
                    <a:bodyPr/>
                    <a:lstStyle/>
                    <a:p>
                      <a:pPr algn="ctr" rtl="0" fontAlgn="t">
                        <a:buNone/>
                      </a:pPr>
                      <a:r>
                        <a:rPr lang="en-US" sz="900" u="none" strike="noStrike">
                          <a:effectLst/>
                        </a:rPr>
                        <a:t>influence_asymmetry_inv_std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0.22088939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0.269119577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0.26371225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0.388212404</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0.280992046</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99459480"/>
                  </a:ext>
                </a:extLst>
              </a:tr>
              <a:tr h="190500">
                <a:tc>
                  <a:txBody>
                    <a:bodyPr/>
                    <a:lstStyle/>
                    <a:p>
                      <a:pPr algn="ctr" rtl="0" fontAlgn="t">
                        <a:buNone/>
                      </a:pPr>
                      <a:r>
                        <a:rPr lang="en-US" sz="900" u="none" strike="noStrike">
                          <a:effectLst/>
                        </a:rPr>
                        <a:t>balance_mean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0.6921031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0.6571031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0.695515496</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0.728412397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0.66674573</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21624167"/>
                  </a:ext>
                </a:extLst>
              </a:tr>
              <a:tr h="190500">
                <a:tc>
                  <a:txBody>
                    <a:bodyPr/>
                    <a:lstStyle/>
                    <a:p>
                      <a:pPr algn="ctr" rtl="0" fontAlgn="t">
                        <a:buNone/>
                      </a:pPr>
                      <a:r>
                        <a:rPr lang="en-US" sz="900" u="none" strike="noStrike">
                          <a:effectLst/>
                        </a:rPr>
                        <a:t>balance_std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0.46145706</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0.474580081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0.454658987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0.440367367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0.466151542</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69949831"/>
                  </a:ext>
                </a:extLst>
              </a:tr>
              <a:tr h="190500">
                <a:tc>
                  <a:txBody>
                    <a:bodyPr/>
                    <a:lstStyle/>
                    <a:p>
                      <a:pPr algn="ctr" rtl="0" fontAlgn="t">
                        <a:buNone/>
                      </a:pPr>
                      <a:r>
                        <a:rPr lang="en-US" sz="900" u="none" strike="noStrike">
                          <a:effectLst/>
                        </a:rPr>
                        <a:t>stability_mean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0.97333333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0.983333333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0.978333333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0.941666667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0.966666667</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9088855"/>
                  </a:ext>
                </a:extLst>
              </a:tr>
              <a:tr h="190500">
                <a:tc>
                  <a:txBody>
                    <a:bodyPr/>
                    <a:lstStyle/>
                    <a:p>
                      <a:pPr algn="ctr" rtl="0" fontAlgn="t">
                        <a:buNone/>
                      </a:pPr>
                      <a:r>
                        <a:rPr lang="en-US" sz="900" u="none" strike="noStrike">
                          <a:effectLst/>
                        </a:rPr>
                        <a:t>stability_std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0.090658</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0.07283062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0.082381499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0.139543405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0.100250941</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02068921"/>
                  </a:ext>
                </a:extLst>
              </a:tr>
              <a:tr h="190500">
                <a:tc>
                  <a:txBody>
                    <a:bodyPr/>
                    <a:lstStyle/>
                    <a:p>
                      <a:pPr algn="ctr" rtl="0" fontAlgn="t">
                        <a:buNone/>
                      </a:pPr>
                      <a:r>
                        <a:rPr lang="en-US" sz="900" u="none" strike="noStrike">
                          <a:effectLst/>
                        </a:rPr>
                        <a:t>group_welfare_mean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0.14666667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0.166666667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0.173333333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0.106666667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0.151666667</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91115049"/>
                  </a:ext>
                </a:extLst>
              </a:tr>
              <a:tr h="190500">
                <a:tc>
                  <a:txBody>
                    <a:bodyPr/>
                    <a:lstStyle/>
                    <a:p>
                      <a:pPr algn="ctr" rtl="0" fontAlgn="t">
                        <a:buNone/>
                      </a:pPr>
                      <a:r>
                        <a:rPr lang="en-US" sz="900" u="none" strike="noStrike">
                          <a:effectLst/>
                        </a:rPr>
                        <a:t>group_welfare_std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0.3483069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0.318777677</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0.348819498</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0.325296755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0.351748444</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53880113"/>
                  </a:ext>
                </a:extLst>
              </a:tr>
              <a:tr h="190500">
                <a:tc>
                  <a:txBody>
                    <a:bodyPr/>
                    <a:lstStyle/>
                    <a:p>
                      <a:pPr algn="ctr" rtl="0" fontAlgn="t">
                        <a:buNone/>
                      </a:pPr>
                      <a:r>
                        <a:rPr lang="en-US" sz="900" u="none" strike="noStrike">
                          <a:effectLst/>
                        </a:rPr>
                        <a:t>avg_process_metrics_mean</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0.43618592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0.413046955</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0.43163981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0.395051629</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0.422169955</a:t>
                      </a:r>
                      <a:endParaRPr lang="en-US" sz="9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04690506"/>
                  </a:ext>
                </a:extLst>
              </a:tr>
              <a:tr h="190500">
                <a:tc>
                  <a:txBody>
                    <a:bodyPr/>
                    <a:lstStyle/>
                    <a:p>
                      <a:pPr algn="ctr" rtl="0" fontAlgn="t">
                        <a:buNone/>
                      </a:pPr>
                      <a:r>
                        <a:rPr lang="en-US" sz="900" u="none" strike="noStrike">
                          <a:effectLst/>
                        </a:rPr>
                        <a:t>avg_process_metrics_std</a:t>
                      </a:r>
                      <a:endParaRPr lang="en-US" sz="900" b="0" i="0" u="none" strike="noStrike">
                        <a:solidFill>
                          <a:srgbClr val="000000"/>
                        </a:solidFill>
                        <a:effectLst/>
                        <a:latin typeface="Calibri" panose="020F0502020204030204" pitchFamily="34" charset="0"/>
                      </a:endParaRPr>
                    </a:p>
                  </a:txBody>
                  <a:tcPr marL="7620" marR="7620" marT="7620" marB="0"/>
                </a:tc>
                <a:tc>
                  <a:txBody>
                    <a:bodyPr/>
                    <a:lstStyle/>
                    <a:p>
                      <a:pPr algn="r" rtl="0" fontAlgn="b">
                        <a:buNone/>
                      </a:pPr>
                      <a:r>
                        <a:rPr lang="en-US" sz="900" u="none" strike="noStrike">
                          <a:effectLst/>
                        </a:rPr>
                        <a:t>0.14614502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0.154337642</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0.152030371</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a:effectLst/>
                        </a:rPr>
                        <a:t>0.173904703</a:t>
                      </a:r>
                      <a:endParaRPr lang="en-US" sz="9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buNone/>
                      </a:pPr>
                      <a:r>
                        <a:rPr lang="en-US" sz="900" u="none" strike="noStrike" dirty="0">
                          <a:effectLst/>
                        </a:rPr>
                        <a:t>0.164393221</a:t>
                      </a:r>
                      <a:endParaRPr lang="en-US" sz="9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64865787"/>
                  </a:ext>
                </a:extLst>
              </a:tr>
            </a:tbl>
          </a:graphicData>
        </a:graphic>
      </p:graphicFrame>
    </p:spTree>
    <p:extLst>
      <p:ext uri="{BB962C8B-B14F-4D97-AF65-F5344CB8AC3E}">
        <p14:creationId xmlns:p14="http://schemas.microsoft.com/office/powerpoint/2010/main" val="1539524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82F6A-F307-28D6-4AE5-357B3CEAA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551BA-070C-0A2A-01C2-B4D9EF8746D3}"/>
              </a:ext>
            </a:extLst>
          </p:cNvPr>
          <p:cNvSpPr>
            <a:spLocks noGrp="1"/>
          </p:cNvSpPr>
          <p:nvPr>
            <p:ph type="title"/>
          </p:nvPr>
        </p:nvSpPr>
        <p:spPr>
          <a:xfrm>
            <a:off x="637620" y="2201849"/>
            <a:ext cx="8229600" cy="1143000"/>
          </a:xfrm>
        </p:spPr>
        <p:txBody>
          <a:bodyPr>
            <a:normAutofit/>
          </a:bodyPr>
          <a:lstStyle/>
          <a:p>
            <a:r>
              <a:rPr lang="en-US" dirty="0"/>
              <a:t>Appendix</a:t>
            </a:r>
            <a:endParaRPr dirty="0"/>
          </a:p>
        </p:txBody>
      </p:sp>
    </p:spTree>
    <p:extLst>
      <p:ext uri="{BB962C8B-B14F-4D97-AF65-F5344CB8AC3E}">
        <p14:creationId xmlns:p14="http://schemas.microsoft.com/office/powerpoint/2010/main" val="1802737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26EC8-D959-7A2E-23C7-304B0DC74E2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CCA9617-9F6E-DFA0-491F-10F89CAFFB83}"/>
                  </a:ext>
                </a:extLst>
              </p:cNvPr>
              <p:cNvSpPr txBox="1"/>
              <p:nvPr/>
            </p:nvSpPr>
            <p:spPr>
              <a:xfrm>
                <a:off x="389543" y="694648"/>
                <a:ext cx="8574037" cy="5532797"/>
              </a:xfrm>
              <a:prstGeom prst="rect">
                <a:avLst/>
              </a:prstGeom>
              <a:noFill/>
            </p:spPr>
            <p:txBody>
              <a:bodyPr wrap="square">
                <a:spAutoFit/>
              </a:bodyPr>
              <a:lstStyle/>
              <a:p>
                <a:pPr>
                  <a:spcBef>
                    <a:spcPts val="300"/>
                  </a:spcBef>
                  <a:spcAft>
                    <a:spcPts val="300"/>
                  </a:spcAft>
                </a:pPr>
                <a:r>
                  <a:rPr lang="en-US" b="0" i="0" dirty="0">
                    <a:effectLst/>
                    <a:latin typeface="Segoe WPC"/>
                  </a:rPr>
                  <a:t>1.</a:t>
                </a:r>
                <a:r>
                  <a:rPr lang="en-US" dirty="0"/>
                  <a:t> Mark agent (a) as a “consistent loser” only if it is both low-influence and still getting worse. agents with low influence (&lt; 1.5 supporters) AND declining influence</a:t>
                </a:r>
              </a:p>
              <a:p>
                <a:pPr algn="l">
                  <a:spcBef>
                    <a:spcPts val="300"/>
                  </a:spcBef>
                  <a:spcAft>
                    <a:spcPts val="300"/>
                  </a:spcAft>
                </a:pPr>
                <a:endParaRPr lang="en-US" b="0" i="0" dirty="0">
                  <a:effectLst/>
                  <a:latin typeface="Segoe WPC"/>
                </a:endParaRPr>
              </a:p>
              <a:p>
                <a:pPr algn="l">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m:rPr>
                              <m:nor/>
                            </m:rPr>
                            <a:rPr lang="en-US" b="0"/>
                            <m:t>loser</m:t>
                          </m:r>
                        </m:e>
                        <m:sub>
                          <m:r>
                            <a:rPr lang="en-US" b="0" i="1">
                              <a:latin typeface="Cambria Math" panose="02040503050406030204" pitchFamily="18" charset="0"/>
                            </a:rPr>
                            <m:t>𝑎</m:t>
                          </m:r>
                        </m:sub>
                      </m:sSub>
                      <m:d>
                        <m:dPr>
                          <m:ctrlPr>
                            <a:rPr lang="en-US" b="0" i="1">
                              <a:latin typeface="Cambria Math" panose="02040503050406030204" pitchFamily="18" charset="0"/>
                            </a:rPr>
                          </m:ctrlPr>
                        </m:dPr>
                        <m:e>
                          <m:r>
                            <a:rPr lang="en-US" b="0" i="1">
                              <a:latin typeface="Cambria Math" panose="02040503050406030204" pitchFamily="18" charset="0"/>
                            </a:rPr>
                            <m:t>𝑡</m:t>
                          </m:r>
                        </m:e>
                      </m:d>
                      <m:r>
                        <a:rPr lang="en-US" b="0" i="0">
                          <a:latin typeface="Cambria Math" panose="02040503050406030204" pitchFamily="18" charset="0"/>
                        </a:rPr>
                        <m:t>=1</m:t>
                      </m:r>
                      <m:d>
                        <m:dPr>
                          <m:begChr m:val="{"/>
                          <m:endChr m:val="}"/>
                          <m:ctrlPr>
                            <a:rPr lang="en-US" b="0" i="1">
                              <a:latin typeface="Cambria Math" panose="02040503050406030204" pitchFamily="18" charset="0"/>
                            </a:rPr>
                          </m:ctrlPr>
                        </m:dPr>
                        <m:e>
                          <m:sSubSup>
                            <m:sSubSupPr>
                              <m:ctrlPr>
                                <a:rPr lang="en-US" b="0" i="1">
                                  <a:latin typeface="Cambria Math" panose="02040503050406030204" pitchFamily="18" charset="0"/>
                                </a:rPr>
                              </m:ctrlPr>
                            </m:sSubSupPr>
                            <m:e>
                              <m:r>
                                <a:rPr lang="en-US" b="0" i="1">
                                  <a:latin typeface="Cambria Math" panose="02040503050406030204" pitchFamily="18" charset="0"/>
                                </a:rPr>
                                <m:t>𝐼</m:t>
                              </m:r>
                            </m:e>
                            <m:sub>
                              <m:r>
                                <a:rPr lang="en-US" b="0" i="1">
                                  <a:latin typeface="Cambria Math" panose="02040503050406030204" pitchFamily="18" charset="0"/>
                                </a:rPr>
                                <m:t>𝑎</m:t>
                              </m:r>
                            </m:sub>
                            <m:sup>
                              <m:d>
                                <m:dPr>
                                  <m:ctrlPr>
                                    <a:rPr lang="en-US" b="0" i="1">
                                      <a:latin typeface="Cambria Math" panose="02040503050406030204" pitchFamily="18" charset="0"/>
                                    </a:rPr>
                                  </m:ctrlPr>
                                </m:dPr>
                                <m:e>
                                  <m:r>
                                    <a:rPr lang="en-US" b="0" i="1">
                                      <a:latin typeface="Cambria Math" panose="02040503050406030204" pitchFamily="18" charset="0"/>
                                    </a:rPr>
                                    <m:t>𝑊</m:t>
                                  </m:r>
                                </m:e>
                              </m:d>
                            </m:sup>
                          </m:sSubSup>
                          <m:r>
                            <a:rPr lang="en-US" b="0" i="0">
                              <a:latin typeface="Cambria Math" panose="02040503050406030204" pitchFamily="18" charset="0"/>
                            </a:rPr>
                            <m:t>&lt;</m:t>
                          </m:r>
                          <m:sSub>
                            <m:sSubPr>
                              <m:ctrlPr>
                                <a:rPr lang="en-US" b="0" i="1">
                                  <a:latin typeface="Cambria Math" panose="02040503050406030204" pitchFamily="18" charset="0"/>
                                </a:rPr>
                              </m:ctrlPr>
                            </m:sSubPr>
                            <m:e>
                              <m:r>
                                <a:rPr lang="en-US" b="0" i="1">
                                  <a:latin typeface="Cambria Math" panose="02040503050406030204" pitchFamily="18" charset="0"/>
                                </a:rPr>
                                <m:t>𝜏</m:t>
                              </m:r>
                            </m:e>
                            <m:sub>
                              <m:r>
                                <a:rPr lang="en-US" b="0" i="1">
                                  <a:latin typeface="Cambria Math" panose="02040503050406030204" pitchFamily="18" charset="0"/>
                                </a:rPr>
                                <m:t>𝐼</m:t>
                              </m:r>
                            </m:sub>
                          </m:sSub>
                          <m:r>
                            <a:rPr lang="en-US" b="0" i="0">
                              <a:latin typeface="Cambria Math" panose="02040503050406030204" pitchFamily="18" charset="0"/>
                            </a:rPr>
                            <m:t>∧</m:t>
                          </m:r>
                          <m:r>
                            <a:rPr lang="en-US" b="0" i="1">
                              <a:latin typeface="Cambria Math" panose="02040503050406030204" pitchFamily="18" charset="0"/>
                            </a:rPr>
                            <m:t>𝛥</m:t>
                          </m:r>
                          <m:sSubSup>
                            <m:sSubSupPr>
                              <m:ctrlPr>
                                <a:rPr lang="en-US" b="0" i="1">
                                  <a:latin typeface="Cambria Math" panose="02040503050406030204" pitchFamily="18" charset="0"/>
                                </a:rPr>
                              </m:ctrlPr>
                            </m:sSubSupPr>
                            <m:e>
                              <m:r>
                                <a:rPr lang="en-US" b="0" i="1">
                                  <a:latin typeface="Cambria Math" panose="02040503050406030204" pitchFamily="18" charset="0"/>
                                </a:rPr>
                                <m:t>𝐼</m:t>
                              </m:r>
                            </m:e>
                            <m:sub>
                              <m:r>
                                <a:rPr lang="en-US" b="0" i="1">
                                  <a:latin typeface="Cambria Math" panose="02040503050406030204" pitchFamily="18" charset="0"/>
                                </a:rPr>
                                <m:t>𝑎</m:t>
                              </m:r>
                            </m:sub>
                            <m:sup>
                              <m:d>
                                <m:dPr>
                                  <m:ctrlPr>
                                    <a:rPr lang="en-US" b="0" i="1">
                                      <a:latin typeface="Cambria Math" panose="02040503050406030204" pitchFamily="18" charset="0"/>
                                    </a:rPr>
                                  </m:ctrlPr>
                                </m:dPr>
                                <m:e>
                                  <m:r>
                                    <a:rPr lang="en-US" b="0" i="1">
                                      <a:latin typeface="Cambria Math" panose="02040503050406030204" pitchFamily="18" charset="0"/>
                                    </a:rPr>
                                    <m:t>𝑊</m:t>
                                  </m:r>
                                </m:e>
                              </m:d>
                            </m:sup>
                          </m:sSubSup>
                          <m:r>
                            <a:rPr lang="en-US" b="0" i="0">
                              <a:latin typeface="Cambria Math" panose="02040503050406030204" pitchFamily="18" charset="0"/>
                            </a:rPr>
                            <m:t>&lt;0</m:t>
                          </m:r>
                        </m:e>
                      </m:d>
                    </m:oMath>
                  </m:oMathPara>
                </a14:m>
                <a:endParaRPr lang="en-US" b="0" i="0" dirty="0">
                  <a:solidFill>
                    <a:srgbClr val="CCCCCC"/>
                  </a:solidFill>
                  <a:effectLst/>
                  <a:latin typeface="Segoe WPC"/>
                </a:endParaRPr>
              </a:p>
              <a:p>
                <a:r>
                  <a:rPr lang="en-US" dirty="0"/>
                  <a:t>(a): agent index</a:t>
                </a:r>
              </a:p>
              <a:p>
                <a:r>
                  <a:rPr lang="en-US" dirty="0"/>
                  <a:t>(t): current round</a:t>
                </a:r>
              </a:p>
              <a:p>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𝐼</m:t>
                        </m:r>
                      </m:e>
                      <m:sub>
                        <m:r>
                          <a:rPr lang="en-US" i="1">
                            <a:latin typeface="Cambria Math" panose="02040503050406030204" pitchFamily="18" charset="0"/>
                          </a:rPr>
                          <m:t>𝑎</m:t>
                        </m:r>
                      </m:sub>
                      <m:sup>
                        <m:d>
                          <m:dPr>
                            <m:ctrlPr>
                              <a:rPr lang="en-US" i="1">
                                <a:latin typeface="Cambria Math" panose="02040503050406030204" pitchFamily="18" charset="0"/>
                              </a:rPr>
                            </m:ctrlPr>
                          </m:dPr>
                          <m:e>
                            <m:r>
                              <a:rPr lang="en-US" i="1">
                                <a:latin typeface="Cambria Math" panose="02040503050406030204" pitchFamily="18" charset="0"/>
                              </a:rPr>
                              <m:t>𝑊</m:t>
                            </m:r>
                          </m:e>
                        </m:d>
                      </m:sup>
                    </m:sSubSup>
                    <m:r>
                      <a:rPr lang="en-US" i="1">
                        <a:latin typeface="Cambria Math" panose="02040503050406030204" pitchFamily="18" charset="0"/>
                      </a:rPr>
                      <m:t> </m:t>
                    </m:r>
                    <m:r>
                      <a:rPr lang="en-US" b="0" i="1" smtClean="0">
                        <a:latin typeface="Cambria Math" panose="02040503050406030204" pitchFamily="18" charset="0"/>
                      </a:rPr>
                      <m:t>: </m:t>
                    </m:r>
                  </m:oMath>
                </a14:m>
                <a:r>
                  <a:rPr lang="en-US" dirty="0"/>
                  <a:t>agent (a)’s influence measured over the last (W) rounds.   W=2</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𝐼</m:t>
                        </m:r>
                      </m:sub>
                    </m:sSub>
                    <m:r>
                      <a:rPr lang="en-US" i="1">
                        <a:latin typeface="Cambria Math" panose="02040503050406030204" pitchFamily="18" charset="0"/>
                      </a:rPr>
                      <m:t> </m:t>
                    </m:r>
                    <m:r>
                      <a:rPr lang="en-US" b="0" i="1" smtClean="0">
                        <a:latin typeface="Cambria Math" panose="02040503050406030204" pitchFamily="18" charset="0"/>
                      </a:rPr>
                      <m:t>: </m:t>
                    </m:r>
                  </m:oMath>
                </a14:m>
                <a:r>
                  <a:rPr lang="en-US" dirty="0"/>
                  <a:t>influence threshold.  </a:t>
                </a:r>
              </a:p>
              <a:p>
                <a14:m>
                  <m:oMath xmlns:m="http://schemas.openxmlformats.org/officeDocument/2006/math">
                    <m:r>
                      <a:rPr lang="en-US" i="1">
                        <a:latin typeface="Cambria Math" panose="02040503050406030204" pitchFamily="18" charset="0"/>
                      </a:rPr>
                      <m:t>𝛥</m:t>
                    </m:r>
                    <m:sSubSup>
                      <m:sSubSupPr>
                        <m:ctrlPr>
                          <a:rPr lang="en-US" i="1">
                            <a:latin typeface="Cambria Math" panose="02040503050406030204" pitchFamily="18" charset="0"/>
                          </a:rPr>
                        </m:ctrlPr>
                      </m:sSubSupPr>
                      <m:e>
                        <m:r>
                          <a:rPr lang="en-US" i="1">
                            <a:latin typeface="Cambria Math" panose="02040503050406030204" pitchFamily="18" charset="0"/>
                          </a:rPr>
                          <m:t>𝐼</m:t>
                        </m:r>
                      </m:e>
                      <m:sub>
                        <m:r>
                          <a:rPr lang="en-US" i="1">
                            <a:latin typeface="Cambria Math" panose="02040503050406030204" pitchFamily="18" charset="0"/>
                          </a:rPr>
                          <m:t>𝑎</m:t>
                        </m:r>
                      </m:sub>
                      <m:sup>
                        <m:d>
                          <m:dPr>
                            <m:ctrlPr>
                              <a:rPr lang="en-US" i="1">
                                <a:latin typeface="Cambria Math" panose="02040503050406030204" pitchFamily="18" charset="0"/>
                              </a:rPr>
                            </m:ctrlPr>
                          </m:dPr>
                          <m:e>
                            <m:r>
                              <a:rPr lang="en-US" i="1">
                                <a:latin typeface="Cambria Math" panose="02040503050406030204" pitchFamily="18" charset="0"/>
                              </a:rPr>
                              <m:t>𝑊</m:t>
                            </m:r>
                          </m:e>
                        </m:d>
                      </m:sup>
                    </m:sSubSup>
                    <m:r>
                      <a:rPr lang="en-US" i="1">
                        <a:latin typeface="Cambria Math" panose="02040503050406030204" pitchFamily="18" charset="0"/>
                      </a:rPr>
                      <m:t> </m:t>
                    </m:r>
                  </m:oMath>
                </a14:m>
                <a:r>
                  <a:rPr lang="en-US" dirty="0"/>
                  <a:t>: recent trend in influence (negative means still declining).</a:t>
                </a:r>
              </a:p>
              <a:p>
                <a:r>
                  <a:rPr lang="en-US" dirty="0"/>
                  <a:t>returns (1) if condition is true, else (0).</a:t>
                </a:r>
              </a:p>
              <a:p>
                <a:pPr algn="l">
                  <a:buNone/>
                </a:pPr>
                <a:endParaRPr lang="en-US" b="0" i="0" dirty="0">
                  <a:solidFill>
                    <a:srgbClr val="CCCCCC"/>
                  </a:solidFill>
                  <a:effectLst/>
                  <a:latin typeface="Segoe WPC"/>
                </a:endParaRPr>
              </a:p>
              <a:p>
                <a:pPr>
                  <a:spcAft>
                    <a:spcPts val="1200"/>
                  </a:spcAft>
                </a:pPr>
                <a:r>
                  <a:rPr lang="en-US" dirty="0"/>
                  <a:t>2. Once flagged as loser, increase its resistance gradually, but stop at a maximum:</a:t>
                </a:r>
              </a:p>
              <a:p>
                <a:pPr algn="l">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𝑎</m:t>
                          </m:r>
                        </m:sub>
                      </m:sSub>
                      <m:d>
                        <m:dPr>
                          <m:ctrlPr>
                            <a:rPr lang="en-US" i="1">
                              <a:latin typeface="Cambria Math" panose="02040503050406030204" pitchFamily="18" charset="0"/>
                            </a:rPr>
                          </m:ctrlPr>
                        </m:dPr>
                        <m:e>
                          <m:r>
                            <a:rPr lang="en-US" i="1">
                              <a:latin typeface="Cambria Math" panose="02040503050406030204" pitchFamily="18" charset="0"/>
                            </a:rPr>
                            <m:t>𝑡</m:t>
                          </m:r>
                          <m:r>
                            <a:rPr lang="en-US" b="0" i="0" smtClean="0">
                              <a:latin typeface="Cambria Math" panose="02040503050406030204" pitchFamily="18" charset="0"/>
                            </a:rPr>
                            <m:t>_</m:t>
                          </m:r>
                          <m:r>
                            <m:rPr>
                              <m:sty m:val="p"/>
                            </m:rPr>
                            <a:rPr lang="en-US" b="0" i="0" smtClean="0">
                              <a:latin typeface="Cambria Math" panose="02040503050406030204" pitchFamily="18" charset="0"/>
                            </a:rPr>
                            <m:t>new</m:t>
                          </m:r>
                        </m:e>
                      </m:d>
                      <m:r>
                        <a:rPr lang="en-US" i="0">
                          <a:latin typeface="Cambria Math" panose="02040503050406030204" pitchFamily="18" charset="0"/>
                        </a:rPr>
                        <m:t>=</m:t>
                      </m:r>
                      <m:r>
                        <m:rPr>
                          <m:sty m:val="p"/>
                        </m:rPr>
                        <a:rPr lang="en-US" i="0">
                          <a:latin typeface="Cambria Math" panose="02040503050406030204" pitchFamily="18" charset="0"/>
                        </a:rPr>
                        <m:t>min</m:t>
                      </m:r>
                      <m:r>
                        <a:rPr lang="en-US" i="0">
                          <a:latin typeface="Cambria Math" panose="02040503050406030204" pitchFamily="18" charset="0"/>
                        </a:rPr>
                        <m:t>⁡</m:t>
                      </m:r>
                      <m:d>
                        <m:dPr>
                          <m:sep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𝑟</m:t>
                              </m:r>
                            </m:e>
                            <m:sub>
                              <m:r>
                                <m:rPr>
                                  <m:sty m:val="p"/>
                                </m:rPr>
                                <a:rPr lang="en-US" i="0">
                                  <a:latin typeface="Cambria Math" panose="02040503050406030204" pitchFamily="18" charset="0"/>
                                </a:rPr>
                                <m:t>max</m:t>
                              </m:r>
                            </m:sub>
                          </m:sSub>
                          <m:r>
                            <a:rPr lang="en-US" b="0" i="1" smtClean="0">
                              <a:latin typeface="Cambria Math" panose="02040503050406030204" pitchFamily="18" charset="0"/>
                            </a:rPr>
                            <m:t> </m:t>
                          </m:r>
                        </m:e>
                        <m:e>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𝑟</m:t>
                              </m:r>
                            </m:e>
                            <m:sub>
                              <m:r>
                                <a:rPr lang="en-US" i="1">
                                  <a:latin typeface="Cambria Math" panose="02040503050406030204" pitchFamily="18" charset="0"/>
                                </a:rPr>
                                <m:t>𝑎</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0">
                              <a:latin typeface="Cambria Math" panose="02040503050406030204" pitchFamily="18" charset="0"/>
                            </a:rPr>
                            <m:t>+</m:t>
                          </m:r>
                          <m:r>
                            <a:rPr lang="en-US" i="1">
                              <a:latin typeface="Cambria Math" panose="02040503050406030204" pitchFamily="18" charset="0"/>
                            </a:rPr>
                            <m:t>𝛼</m:t>
                          </m:r>
                        </m:e>
                      </m:d>
                    </m:oMath>
                  </m:oMathPara>
                </a14:m>
                <a:endParaRPr lang="en-US" b="0" i="0" dirty="0">
                  <a:solidFill>
                    <a:srgbClr val="CCCCCC"/>
                  </a:solidFill>
                  <a:effectLst/>
                  <a:latin typeface="Segoe WPC"/>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𝑎</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b="0" i="1" smtClean="0">
                        <a:latin typeface="Cambria Math" panose="02040503050406030204" pitchFamily="18" charset="0"/>
                      </a:rPr>
                      <m:t>: </m:t>
                    </m:r>
                  </m:oMath>
                </a14:m>
                <a:r>
                  <a:rPr lang="en-US" dirty="0"/>
                  <a:t>resistance level of agent (a) at round (t).  </a:t>
                </a:r>
                <a:r>
                  <a:rPr lang="en-US" sz="1400" dirty="0"/>
                  <a:t> (Low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𝑟</m:t>
                        </m:r>
                      </m:e>
                      <m:sub>
                        <m:r>
                          <a:rPr lang="en-US" sz="1400" i="1">
                            <a:latin typeface="Cambria Math" panose="02040503050406030204" pitchFamily="18" charset="0"/>
                          </a:rPr>
                          <m:t>𝑎</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 </m:t>
                    </m:r>
                  </m:oMath>
                </a14:m>
                <a:r>
                  <a:rPr lang="en-US" sz="1400" dirty="0"/>
                  <a:t>agent mostly follows social influence. High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𝑟</m:t>
                        </m:r>
                      </m:e>
                      <m:sub>
                        <m:r>
                          <a:rPr lang="en-US" sz="1400" i="1">
                            <a:latin typeface="Cambria Math" panose="02040503050406030204" pitchFamily="18" charset="0"/>
                          </a:rPr>
                          <m:t>𝑎</m:t>
                        </m:r>
                      </m:sub>
                    </m:sSub>
                    <m:d>
                      <m:dPr>
                        <m:ctrlPr>
                          <a:rPr lang="en-US" sz="1400" i="1">
                            <a:latin typeface="Cambria Math" panose="02040503050406030204" pitchFamily="18" charset="0"/>
                          </a:rPr>
                        </m:ctrlPr>
                      </m:dPr>
                      <m:e>
                        <m:r>
                          <a:rPr lang="en-US" sz="1400" i="1">
                            <a:latin typeface="Cambria Math" panose="02040503050406030204" pitchFamily="18" charset="0"/>
                          </a:rPr>
                          <m:t>𝑡</m:t>
                        </m:r>
                      </m:e>
                    </m:d>
                    <m:r>
                      <a:rPr lang="en-US" sz="1400" i="1">
                        <a:latin typeface="Cambria Math" panose="02040503050406030204" pitchFamily="18" charset="0"/>
                      </a:rPr>
                      <m:t>: </m:t>
                    </m:r>
                  </m:oMath>
                </a14:m>
                <a:r>
                  <a:rPr lang="en-US" sz="1400" dirty="0"/>
                  <a:t>agent relies more on its own reasoning, less on dominant peers.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m:rPr>
                            <m:sty m:val="p"/>
                          </m:rPr>
                          <a:rPr lang="en-US">
                            <a:latin typeface="Cambria Math" panose="02040503050406030204" pitchFamily="18" charset="0"/>
                          </a:rPr>
                          <m:t>max</m:t>
                        </m:r>
                      </m:sub>
                    </m:sSub>
                  </m:oMath>
                </a14:m>
                <a:r>
                  <a:rPr lang="en-US" dirty="0"/>
                  <a:t>: resistance cap.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i="1">
                        <a:latin typeface="Cambria Math" panose="02040503050406030204" pitchFamily="18" charset="0"/>
                      </a:rPr>
                      <m:t> </m:t>
                    </m:r>
                    <m:r>
                      <a:rPr lang="en-US" b="0" i="1" smtClean="0">
                        <a:latin typeface="Cambria Math" panose="02040503050406030204" pitchFamily="18" charset="0"/>
                      </a:rPr>
                      <m:t>: </m:t>
                    </m:r>
                  </m:oMath>
                </a14:m>
                <a:r>
                  <a:rPr lang="en-US" dirty="0"/>
                  <a:t>step size for increasing resistance.</a:t>
                </a:r>
                <a:r>
                  <a:rPr lang="en-US" b="0" i="0" dirty="0">
                    <a:solidFill>
                      <a:srgbClr val="CCCCCC"/>
                    </a:solidFill>
                    <a:effectLst/>
                    <a:latin typeface="Segoe WPC"/>
                  </a:rPr>
                  <a:t> </a:t>
                </a:r>
              </a:p>
              <a:p>
                <a:r>
                  <a:rPr lang="en-US" dirty="0">
                    <a:highlight>
                      <a:srgbClr val="FFFF00"/>
                    </a:highlight>
                  </a:rPr>
                  <a:t>(I will use: α=0.08 per round; resistance cap at 0.65, in my code)</a:t>
                </a:r>
                <a:endParaRPr lang="en-US" b="0" i="0" dirty="0">
                  <a:solidFill>
                    <a:srgbClr val="CCCCCC"/>
                  </a:solidFill>
                  <a:effectLst/>
                  <a:highlight>
                    <a:srgbClr val="FFFF00"/>
                  </a:highlight>
                  <a:latin typeface="Segoe WPC"/>
                </a:endParaRPr>
              </a:p>
              <a:p>
                <a:endParaRPr lang="en-US" dirty="0">
                  <a:solidFill>
                    <a:srgbClr val="CCCCCC"/>
                  </a:solidFill>
                  <a:latin typeface="Segoe WPC"/>
                </a:endParaRPr>
              </a:p>
            </p:txBody>
          </p:sp>
        </mc:Choice>
        <mc:Fallback xmlns="">
          <p:sp>
            <p:nvSpPr>
              <p:cNvPr id="7" name="TextBox 6">
                <a:extLst>
                  <a:ext uri="{FF2B5EF4-FFF2-40B4-BE49-F238E27FC236}">
                    <a16:creationId xmlns:a16="http://schemas.microsoft.com/office/drawing/2014/main" id="{8CCA9617-9F6E-DFA0-491F-10F89CAFFB83}"/>
                  </a:ext>
                </a:extLst>
              </p:cNvPr>
              <p:cNvSpPr txBox="1">
                <a:spLocks noRot="1" noChangeAspect="1" noMove="1" noResize="1" noEditPoints="1" noAdjustHandles="1" noChangeArrowheads="1" noChangeShapeType="1" noTextEdit="1"/>
              </p:cNvSpPr>
              <p:nvPr/>
            </p:nvSpPr>
            <p:spPr>
              <a:xfrm>
                <a:off x="389543" y="694648"/>
                <a:ext cx="8574037" cy="5532797"/>
              </a:xfrm>
              <a:prstGeom prst="rect">
                <a:avLst/>
              </a:prstGeom>
              <a:blipFill>
                <a:blip r:embed="rId3"/>
                <a:stretch>
                  <a:fillRect l="-640" t="-771" r="-213"/>
                </a:stretch>
              </a:blipFill>
            </p:spPr>
            <p:txBody>
              <a:bodyPr/>
              <a:lstStyle/>
              <a:p>
                <a:r>
                  <a:rPr lang="en-US">
                    <a:noFill/>
                  </a:rPr>
                  <a:t> </a:t>
                </a:r>
              </a:p>
            </p:txBody>
          </p:sp>
        </mc:Fallback>
      </mc:AlternateContent>
      <p:sp>
        <p:nvSpPr>
          <p:cNvPr id="12" name="Title 1">
            <a:extLst>
              <a:ext uri="{FF2B5EF4-FFF2-40B4-BE49-F238E27FC236}">
                <a16:creationId xmlns:a16="http://schemas.microsoft.com/office/drawing/2014/main" id="{751D6BA2-BB7B-4A20-07D3-9E79454341C8}"/>
              </a:ext>
            </a:extLst>
          </p:cNvPr>
          <p:cNvSpPr>
            <a:spLocks noGrp="1"/>
          </p:cNvSpPr>
          <p:nvPr>
            <p:ph type="title"/>
          </p:nvPr>
        </p:nvSpPr>
        <p:spPr>
          <a:xfrm>
            <a:off x="457200" y="274639"/>
            <a:ext cx="8229600" cy="401936"/>
          </a:xfrm>
        </p:spPr>
        <p:txBody>
          <a:bodyPr>
            <a:normAutofit fontScale="90000"/>
          </a:bodyPr>
          <a:lstStyle/>
          <a:p>
            <a:pPr algn="l"/>
            <a:r>
              <a:rPr lang="en-US" sz="3100" dirty="0"/>
              <a:t>Experiment 2: Loser-More-Resistance - Methodology</a:t>
            </a:r>
            <a:endParaRPr dirty="0"/>
          </a:p>
        </p:txBody>
      </p:sp>
    </p:spTree>
    <p:extLst>
      <p:ext uri="{BB962C8B-B14F-4D97-AF65-F5344CB8AC3E}">
        <p14:creationId xmlns:p14="http://schemas.microsoft.com/office/powerpoint/2010/main" val="2587676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BC27-5EA4-E190-DEA9-B069F9DB934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52642A-1071-6056-6228-9BC2B3436F02}"/>
                  </a:ext>
                </a:extLst>
              </p:cNvPr>
              <p:cNvSpPr txBox="1"/>
              <p:nvPr/>
            </p:nvSpPr>
            <p:spPr>
              <a:xfrm>
                <a:off x="389543" y="694648"/>
                <a:ext cx="8574037" cy="5655651"/>
              </a:xfrm>
              <a:prstGeom prst="rect">
                <a:avLst/>
              </a:prstGeom>
              <a:noFill/>
            </p:spPr>
            <p:txBody>
              <a:bodyPr wrap="square">
                <a:spAutoFit/>
              </a:bodyPr>
              <a:lstStyle/>
              <a:p>
                <a:pPr algn="l">
                  <a:spcBef>
                    <a:spcPts val="300"/>
                  </a:spcBef>
                  <a:spcAft>
                    <a:spcPts val="300"/>
                  </a:spcAft>
                  <a:buFont typeface="+mj-lt"/>
                  <a:buAutoNum type="arabicPeriod"/>
                </a:pPr>
                <a:endParaRPr lang="en-US" b="0" i="0" dirty="0">
                  <a:solidFill>
                    <a:srgbClr val="CCCCCC"/>
                  </a:solidFill>
                  <a:effectLst/>
                  <a:latin typeface="Segoe WPC"/>
                </a:endParaRPr>
              </a:p>
              <a:p>
                <a:pPr algn="l">
                  <a:spcAft>
                    <a:spcPts val="1200"/>
                  </a:spcAft>
                  <a:buNone/>
                </a:pPr>
                <a:r>
                  <a:rPr lang="en-US" b="0" i="0" dirty="0">
                    <a:effectLst/>
                    <a:latin typeface="Segoe WPC"/>
                  </a:rPr>
                  <a:t>3. Use resistance in stance update:</a:t>
                </a:r>
              </a:p>
              <a:p>
                <a:pPr algn="l">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𝑎</m:t>
                          </m:r>
                        </m:sub>
                        <m:sup>
                          <m:r>
                            <a:rPr lang="en-US" i="1">
                              <a:latin typeface="Cambria Math" panose="02040503050406030204" pitchFamily="18" charset="0"/>
                            </a:rPr>
                            <m:t>𝑡</m:t>
                          </m:r>
                          <m:r>
                            <a:rPr lang="en-US" i="0">
                              <a:latin typeface="Cambria Math" panose="02040503050406030204" pitchFamily="18" charset="0"/>
                            </a:rPr>
                            <m:t>+1</m:t>
                          </m:r>
                        </m:sup>
                      </m:sSubSup>
                      <m:r>
                        <a:rPr lang="en-US" i="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𝑎</m:t>
                          </m:r>
                        </m:sub>
                        <m:sup>
                          <m:r>
                            <a:rPr lang="en-US" i="1">
                              <a:latin typeface="Cambria Math" panose="02040503050406030204" pitchFamily="18" charset="0"/>
                            </a:rPr>
                            <m:t>𝑡</m:t>
                          </m:r>
                        </m:sup>
                      </m:sSubSup>
                      <m:r>
                        <a:rPr lang="en-US" i="0">
                          <a:latin typeface="Cambria Math" panose="02040503050406030204" pitchFamily="18" charset="0"/>
                        </a:rPr>
                        <m:t>+</m:t>
                      </m:r>
                      <m:r>
                        <a:rPr lang="en-US" i="1">
                          <a:latin typeface="Cambria Math" panose="02040503050406030204" pitchFamily="18" charset="0"/>
                        </a:rPr>
                        <m:t>𝜂</m:t>
                      </m:r>
                      <m:d>
                        <m:dPr>
                          <m:begChr m:val="["/>
                          <m:endChr m:val="]"/>
                          <m:ctrlPr>
                            <a:rPr lang="en-US" i="1">
                              <a:latin typeface="Cambria Math" panose="02040503050406030204" pitchFamily="18" charset="0"/>
                            </a:rPr>
                          </m:ctrlPr>
                        </m:dPr>
                        <m:e>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𝑎</m:t>
                                  </m:r>
                                </m:sub>
                              </m:sSub>
                            </m:e>
                          </m:d>
                          <m:nary>
                            <m:naryPr>
                              <m:chr m:val="∑"/>
                              <m:grow m:val="on"/>
                              <m:supHide m:val="on"/>
                              <m:ctrlPr>
                                <a:rPr lang="en-US" i="1">
                                  <a:latin typeface="Cambria Math" panose="02040503050406030204" pitchFamily="18" charset="0"/>
                                </a:rPr>
                              </m:ctrlPr>
                            </m:naryPr>
                            <m:sub>
                              <m:r>
                                <a:rPr lang="en-US" i="1">
                                  <a:latin typeface="Cambria Math" panose="02040503050406030204" pitchFamily="18" charset="0"/>
                                </a:rPr>
                                <m:t>𝑗</m:t>
                              </m:r>
                            </m:sub>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𝑎𝑗</m:t>
                                  </m:r>
                                </m:sub>
                              </m:sSub>
                            </m:e>
                          </m:nary>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𝑗</m:t>
                                  </m:r>
                                </m:sub>
                                <m:sup>
                                  <m:r>
                                    <a:rPr lang="en-US" i="1">
                                      <a:latin typeface="Cambria Math" panose="02040503050406030204" pitchFamily="18" charset="0"/>
                                    </a:rPr>
                                    <m:t>𝑡</m:t>
                                  </m:r>
                                </m:sup>
                              </m:sSubSup>
                              <m:r>
                                <a:rPr lang="en-US" i="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𝑎</m:t>
                                  </m:r>
                                </m:sub>
                                <m:sup>
                                  <m:r>
                                    <a:rPr lang="en-US" i="1">
                                      <a:latin typeface="Cambria Math" panose="02040503050406030204" pitchFamily="18" charset="0"/>
                                    </a:rPr>
                                    <m:t>𝑡</m:t>
                                  </m:r>
                                </m:sup>
                              </m:sSubSup>
                            </m:e>
                          </m:d>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𝑎</m:t>
                              </m:r>
                            </m:sub>
                          </m:sSub>
                          <m:r>
                            <m:rPr>
                              <m:nor/>
                            </m:rPr>
                            <a:rPr lang="en-US" b="0" i="1">
                              <a:latin typeface="Cambria Math" panose="02040503050406030204" pitchFamily="18" charset="0"/>
                            </a:rPr>
                            <m:t> </m:t>
                          </m:r>
                          <m:sSubSup>
                            <m:sSubSupPr>
                              <m:ctrlPr>
                                <a:rPr lang="en-US" b="0" i="1">
                                  <a:latin typeface="Cambria Math" panose="02040503050406030204" pitchFamily="18" charset="0"/>
                                </a:rPr>
                              </m:ctrlPr>
                            </m:sSubSupPr>
                            <m:e>
                              <m:r>
                                <a:rPr lang="en-US" b="0" i="1">
                                  <a:latin typeface="Cambria Math" panose="02040503050406030204" pitchFamily="18" charset="0"/>
                                </a:rPr>
                                <m:t>𝛿</m:t>
                              </m:r>
                            </m:e>
                            <m:sub>
                              <m:r>
                                <a:rPr lang="en-US" b="0" i="1">
                                  <a:latin typeface="Cambria Math" panose="02040503050406030204" pitchFamily="18" charset="0"/>
                                </a:rPr>
                                <m:t>𝑎</m:t>
                              </m:r>
                            </m:sub>
                            <m:sup>
                              <m:r>
                                <a:rPr lang="en-US" b="0" i="1">
                                  <a:latin typeface="Cambria Math" panose="02040503050406030204" pitchFamily="18" charset="0"/>
                                </a:rPr>
                                <m:t>𝑡</m:t>
                              </m:r>
                            </m:sup>
                          </m:sSubSup>
                        </m:e>
                      </m:d>
                    </m:oMath>
                  </m:oMathPara>
                </a14:m>
                <a:endParaRPr lang="en-US" b="0" i="0" dirty="0">
                  <a:solidFill>
                    <a:srgbClr val="CCCCCC"/>
                  </a:solidFill>
                  <a:effectLst/>
                  <a:latin typeface="Segoe WPC"/>
                </a:endParaRPr>
              </a:p>
              <a:p>
                <a:pPr algn="l">
                  <a:spcAft>
                    <a:spcPts val="1200"/>
                  </a:spcAft>
                  <a:buNone/>
                </a:pPr>
                <a:r>
                  <a:rPr lang="en-US" b="0" i="0" dirty="0">
                    <a:solidFill>
                      <a:schemeClr val="tx1"/>
                    </a:solidFill>
                    <a:effectLst/>
                    <a:latin typeface="Segoe WPC"/>
                  </a:rPr>
                  <a:t>where </a:t>
                </a:r>
                <a14:m>
                  <m:oMath xmlns:m="http://schemas.openxmlformats.org/officeDocument/2006/math">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𝛿</m:t>
                        </m:r>
                      </m:e>
                      <m:sub>
                        <m:r>
                          <a:rPr lang="en-US" i="1">
                            <a:solidFill>
                              <a:schemeClr val="tx1"/>
                            </a:solidFill>
                            <a:latin typeface="Cambria Math" panose="02040503050406030204" pitchFamily="18" charset="0"/>
                          </a:rPr>
                          <m:t>𝑎</m:t>
                        </m:r>
                      </m:sub>
                      <m:sup>
                        <m:r>
                          <a:rPr lang="en-US" i="1">
                            <a:solidFill>
                              <a:schemeClr val="tx1"/>
                            </a:solidFill>
                            <a:latin typeface="Cambria Math" panose="02040503050406030204" pitchFamily="18" charset="0"/>
                          </a:rPr>
                          <m:t>𝑡</m:t>
                        </m:r>
                      </m:sup>
                    </m:sSubSup>
                  </m:oMath>
                </a14:m>
                <a:r>
                  <a:rPr lang="en-US" b="0" i="0" dirty="0">
                    <a:solidFill>
                      <a:schemeClr val="tx1"/>
                    </a:solidFill>
                    <a:effectLst/>
                    <a:latin typeface="Segoe WPC"/>
                  </a:rPr>
                  <a:t> is agent a’s internally justified direction (its own evidence/reasoning signal).</a:t>
                </a:r>
              </a:p>
              <a:p>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𝑎</m:t>
                        </m:r>
                      </m:sub>
                      <m:sup>
                        <m:r>
                          <a:rPr lang="en-US" i="1">
                            <a:latin typeface="Cambria Math" panose="02040503050406030204" pitchFamily="18" charset="0"/>
                          </a:rPr>
                          <m:t>𝑡</m:t>
                        </m:r>
                      </m:sup>
                    </m:sSubSup>
                    <m:r>
                      <a:rPr lang="en-US" i="1">
                        <a:latin typeface="Cambria Math" panose="02040503050406030204" pitchFamily="18" charset="0"/>
                      </a:rPr>
                      <m:t> </m:t>
                    </m:r>
                    <m:r>
                      <a:rPr lang="en-US" b="0" i="1" smtClean="0">
                        <a:latin typeface="Cambria Math" panose="02040503050406030204" pitchFamily="18" charset="0"/>
                      </a:rPr>
                      <m:t>: </m:t>
                    </m:r>
                  </m:oMath>
                </a14:m>
                <a:r>
                  <a:rPr lang="en-US" dirty="0"/>
                  <a:t>agent (a)’s stance at round (t).</a:t>
                </a:r>
              </a:p>
              <a:p>
                <a14:m>
                  <m:oMath xmlns:m="http://schemas.openxmlformats.org/officeDocument/2006/math">
                    <m:r>
                      <a:rPr lang="en-US" i="1">
                        <a:latin typeface="Cambria Math" panose="02040503050406030204" pitchFamily="18" charset="0"/>
                      </a:rPr>
                      <m:t>𝜂</m:t>
                    </m:r>
                    <m:r>
                      <a:rPr lang="en-US" b="0" i="1" smtClean="0">
                        <a:latin typeface="Cambria Math" panose="02040503050406030204" pitchFamily="18" charset="0"/>
                      </a:rPr>
                      <m:t>: </m:t>
                    </m:r>
                  </m:oMath>
                </a14:m>
                <a:r>
                  <a:rPr lang="en-US" dirty="0"/>
                  <a:t>overall learning/update rate.</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𝑎𝑗</m:t>
                        </m:r>
                      </m:sub>
                    </m:sSub>
                    <m:r>
                      <a:rPr lang="en-US" i="1">
                        <a:latin typeface="Cambria Math" panose="02040503050406030204" pitchFamily="18" charset="0"/>
                      </a:rPr>
                      <m:t> </m:t>
                    </m:r>
                    <m:r>
                      <a:rPr lang="en-US" b="0" i="1" smtClean="0">
                        <a:latin typeface="Cambria Math" panose="02040503050406030204" pitchFamily="18" charset="0"/>
                      </a:rPr>
                      <m:t>: </m:t>
                    </m:r>
                  </m:oMath>
                </a14:m>
                <a:r>
                  <a:rPr lang="en-US" dirty="0"/>
                  <a:t>how much (a) listens to agent (j).</a:t>
                </a:r>
              </a:p>
              <a:p>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𝑗</m:t>
                        </m:r>
                      </m:sub>
                      <m:sup>
                        <m:r>
                          <a:rPr lang="en-US" i="1">
                            <a:latin typeface="Cambria Math" panose="02040503050406030204" pitchFamily="18" charset="0"/>
                          </a:rPr>
                          <m:t>𝑡</m:t>
                        </m:r>
                      </m:sup>
                    </m:sSubSup>
                    <m:r>
                      <a:rPr lang="en-US" i="1">
                        <a:latin typeface="Cambria Math" panose="02040503050406030204" pitchFamily="18" charset="0"/>
                      </a:rPr>
                      <m:t> </m:t>
                    </m:r>
                    <m:r>
                      <a:rPr lang="en-US" b="0" i="1" smtClean="0">
                        <a:latin typeface="Cambria Math" panose="02040503050406030204" pitchFamily="18" charset="0"/>
                      </a:rPr>
                      <m:t>: </m:t>
                    </m:r>
                  </m:oMath>
                </a14:m>
                <a:r>
                  <a:rPr lang="en-US" dirty="0"/>
                  <a:t>pull from peer (j)’s stance.</a:t>
                </a:r>
              </a:p>
              <a:p>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𝛿</m:t>
                        </m:r>
                      </m:e>
                      <m:sub>
                        <m:r>
                          <a:rPr lang="en-US" i="1">
                            <a:latin typeface="Cambria Math" panose="02040503050406030204" pitchFamily="18" charset="0"/>
                          </a:rPr>
                          <m:t>𝑎</m:t>
                        </m:r>
                      </m:sub>
                      <m:sup>
                        <m:r>
                          <a:rPr lang="en-US" i="1">
                            <a:latin typeface="Cambria Math" panose="02040503050406030204" pitchFamily="18" charset="0"/>
                          </a:rPr>
                          <m:t>𝑡</m:t>
                        </m:r>
                      </m:sup>
                    </m:sSubSup>
                    <m:r>
                      <a:rPr lang="en-US" i="1">
                        <a:latin typeface="Cambria Math" panose="02040503050406030204" pitchFamily="18" charset="0"/>
                      </a:rPr>
                      <m:t> </m:t>
                    </m:r>
                    <m:r>
                      <a:rPr lang="en-US" b="0" i="1" smtClean="0">
                        <a:latin typeface="Cambria Math" panose="02040503050406030204" pitchFamily="18" charset="0"/>
                      </a:rPr>
                      <m:t>: </m:t>
                    </m:r>
                  </m:oMath>
                </a14:m>
                <a:r>
                  <a:rPr lang="en-US" dirty="0"/>
                  <a:t>agent (a)’s internal/evidence-based direction (its own reasoning push).</a:t>
                </a:r>
              </a:p>
              <a:p>
                <a14:m>
                  <m:oMath xmlns:m="http://schemas.openxmlformats.org/officeDocument/2006/math">
                    <m:r>
                      <a:rPr lang="en-US" b="0" i="0" smtClean="0">
                        <a:latin typeface="Cambria Math" panose="02040503050406030204" pitchFamily="18" charset="0"/>
                      </a:rPr>
                      <m:t>(</m:t>
                    </m:r>
                    <m:r>
                      <a:rPr lang="en-US">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𝑎</m:t>
                        </m:r>
                      </m:sub>
                    </m:sSub>
                    <m:r>
                      <a:rPr lang="en-US" b="0" i="1" smtClean="0">
                        <a:latin typeface="Cambria Math" panose="02040503050406030204" pitchFamily="18" charset="0"/>
                      </a:rPr>
                      <m:t>) </m:t>
                    </m:r>
                  </m:oMath>
                </a14:m>
                <a:r>
                  <a:rPr lang="en-US" dirty="0"/>
                  <a:t>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𝑎</m:t>
                        </m:r>
                      </m:sub>
                    </m:sSub>
                    <m:r>
                      <m:rPr>
                        <m:nor/>
                      </m:rPr>
                      <a:rPr lang="en-US" i="1">
                        <a:latin typeface="Cambria Math" panose="02040503050406030204" pitchFamily="18" charset="0"/>
                      </a:rPr>
                      <m:t> </m:t>
                    </m:r>
                  </m:oMath>
                </a14:m>
                <a:r>
                  <a:rPr lang="en-US" dirty="0"/>
                  <a:t>): mixing weights between social pull and self-driven reasoning.</a:t>
                </a:r>
              </a:p>
              <a:p>
                <a:endParaRPr lang="en-US" dirty="0"/>
              </a:p>
              <a:p>
                <a:endParaRPr lang="en-US" dirty="0"/>
              </a:p>
              <a:p>
                <a:r>
                  <a:rPr lang="en-US" dirty="0"/>
                  <a:t>Compute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𝑎</m:t>
                        </m:r>
                      </m:sub>
                    </m:sSub>
                    <m:r>
                      <a:rPr lang="en-US" i="1">
                        <a:latin typeface="Cambria Math" panose="02040503050406030204" pitchFamily="18" charset="0"/>
                      </a:rPr>
                      <m:t> </m:t>
                    </m:r>
                  </m:oMath>
                </a14:m>
                <a:r>
                  <a:rPr lang="en-US" dirty="0"/>
                  <a:t>and apply the stance update rule before each agent's next response.</a:t>
                </a:r>
              </a:p>
              <a:p>
                <a:r>
                  <a:rPr lang="en-US" dirty="0"/>
                  <a:t>Log the intermediate state so process diagnostics can measure the effect / shifts. </a:t>
                </a:r>
              </a:p>
              <a:p>
                <a:endParaRPr lang="en-US" dirty="0"/>
              </a:p>
              <a:p>
                <a:pPr algn="l">
                  <a:spcAft>
                    <a:spcPts val="1200"/>
                  </a:spcAft>
                  <a:buNone/>
                </a:pPr>
                <a:endParaRPr lang="en-US" b="0" i="0" dirty="0">
                  <a:solidFill>
                    <a:srgbClr val="CCCCCC"/>
                  </a:solidFill>
                  <a:effectLst/>
                  <a:latin typeface="Segoe WPC"/>
                </a:endParaRPr>
              </a:p>
            </p:txBody>
          </p:sp>
        </mc:Choice>
        <mc:Fallback xmlns="">
          <p:sp>
            <p:nvSpPr>
              <p:cNvPr id="7" name="TextBox 6">
                <a:extLst>
                  <a:ext uri="{FF2B5EF4-FFF2-40B4-BE49-F238E27FC236}">
                    <a16:creationId xmlns:a16="http://schemas.microsoft.com/office/drawing/2014/main" id="{0352642A-1071-6056-6228-9BC2B3436F02}"/>
                  </a:ext>
                </a:extLst>
              </p:cNvPr>
              <p:cNvSpPr txBox="1">
                <a:spLocks noRot="1" noChangeAspect="1" noMove="1" noResize="1" noEditPoints="1" noAdjustHandles="1" noChangeArrowheads="1" noChangeShapeType="1" noTextEdit="1"/>
              </p:cNvSpPr>
              <p:nvPr/>
            </p:nvSpPr>
            <p:spPr>
              <a:xfrm>
                <a:off x="389543" y="694648"/>
                <a:ext cx="8574037" cy="5655651"/>
              </a:xfrm>
              <a:prstGeom prst="rect">
                <a:avLst/>
              </a:prstGeom>
              <a:blipFill>
                <a:blip r:embed="rId2"/>
                <a:stretch>
                  <a:fillRect l="-640"/>
                </a:stretch>
              </a:blipFill>
            </p:spPr>
            <p:txBody>
              <a:bodyPr/>
              <a:lstStyle/>
              <a:p>
                <a:r>
                  <a:rPr lang="en-US">
                    <a:noFill/>
                  </a:rPr>
                  <a:t> </a:t>
                </a:r>
              </a:p>
            </p:txBody>
          </p:sp>
        </mc:Fallback>
      </mc:AlternateContent>
      <p:sp>
        <p:nvSpPr>
          <p:cNvPr id="12" name="Title 1">
            <a:extLst>
              <a:ext uri="{FF2B5EF4-FFF2-40B4-BE49-F238E27FC236}">
                <a16:creationId xmlns:a16="http://schemas.microsoft.com/office/drawing/2014/main" id="{4700DD8D-8405-A72C-6D01-FF4A4E53B8DB}"/>
              </a:ext>
            </a:extLst>
          </p:cNvPr>
          <p:cNvSpPr>
            <a:spLocks noGrp="1"/>
          </p:cNvSpPr>
          <p:nvPr>
            <p:ph type="title"/>
          </p:nvPr>
        </p:nvSpPr>
        <p:spPr>
          <a:xfrm>
            <a:off x="457200" y="274639"/>
            <a:ext cx="8229600" cy="401936"/>
          </a:xfrm>
        </p:spPr>
        <p:txBody>
          <a:bodyPr>
            <a:normAutofit fontScale="90000"/>
          </a:bodyPr>
          <a:lstStyle/>
          <a:p>
            <a:pPr algn="l"/>
            <a:r>
              <a:rPr lang="en-US" sz="3100" dirty="0"/>
              <a:t>Experiment 2: Loser-More-Resistance</a:t>
            </a:r>
            <a:br>
              <a:rPr lang="en-US" dirty="0"/>
            </a:br>
            <a:endParaRPr dirty="0"/>
          </a:p>
        </p:txBody>
      </p:sp>
    </p:spTree>
    <p:extLst>
      <p:ext uri="{BB962C8B-B14F-4D97-AF65-F5344CB8AC3E}">
        <p14:creationId xmlns:p14="http://schemas.microsoft.com/office/powerpoint/2010/main" val="1545882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2C91F-7A9E-5D3A-5422-E8203410066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219C19F-F7A0-AEE2-8B3E-FE0E3B30BA05}"/>
                  </a:ext>
                </a:extLst>
              </p:cNvPr>
              <p:cNvSpPr txBox="1"/>
              <p:nvPr/>
            </p:nvSpPr>
            <p:spPr>
              <a:xfrm>
                <a:off x="389543" y="694648"/>
                <a:ext cx="8574037" cy="1626599"/>
              </a:xfrm>
              <a:prstGeom prst="rect">
                <a:avLst/>
              </a:prstGeom>
              <a:noFill/>
            </p:spPr>
            <p:txBody>
              <a:bodyPr wrap="square">
                <a:spAutoFit/>
              </a:bodyPr>
              <a:lstStyle/>
              <a:p>
                <a:r>
                  <a:rPr lang="en-US" b="1" dirty="0"/>
                  <a:t>1. Define Minority &amp; Majority</a:t>
                </a:r>
              </a:p>
              <a:p>
                <a:pPr/>
                <a14:m>
                  <m:oMathPara xmlns:m="http://schemas.openxmlformats.org/officeDocument/2006/math">
                    <m:oMathParaPr>
                      <m:jc m:val="centerGroup"/>
                    </m:oMathParaPr>
                    <m:oMath xmlns:m="http://schemas.openxmlformats.org/officeDocument/2006/math">
                      <m:r>
                        <m:rPr>
                          <m:nor/>
                        </m:rPr>
                        <a:rPr lang="en-US" b="0"/>
                        <m:t>Majority</m:t>
                      </m:r>
                      <m:d>
                        <m:dPr>
                          <m:ctrlPr>
                            <a:rPr lang="en-US" i="1">
                              <a:latin typeface="Cambria Math" panose="02040503050406030204" pitchFamily="18" charset="0"/>
                            </a:rPr>
                          </m:ctrlPr>
                        </m:dPr>
                        <m:e>
                          <m:r>
                            <a:rPr lang="en-US" b="0" i="1">
                              <a:latin typeface="Cambria Math" panose="02040503050406030204" pitchFamily="18" charset="0"/>
                            </a:rPr>
                            <m:t>𝑡</m:t>
                          </m:r>
                        </m:e>
                      </m:d>
                      <m: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arg</m:t>
                          </m:r>
                        </m:fName>
                        <m:e>
                          <m:limLow>
                            <m:limLowPr>
                              <m:ctrlPr>
                                <a:rPr lang="en-US" i="1">
                                  <a:latin typeface="Cambria Math" panose="02040503050406030204" pitchFamily="18" charset="0"/>
                                </a:rPr>
                              </m:ctrlPr>
                            </m:limLowPr>
                            <m:e>
                              <m:func>
                                <m:funcPr>
                                  <m:ctrlPr>
                                    <a:rPr lang="en-US" i="1">
                                      <a:latin typeface="Cambria Math" panose="02040503050406030204" pitchFamily="18" charset="0"/>
                                    </a:rPr>
                                  </m:ctrlPr>
                                </m:funcPr>
                                <m:fName>
                                  <m:r>
                                    <m:rPr>
                                      <m:sty m:val="p"/>
                                    </m:rPr>
                                    <a:rPr lang="en-US">
                                      <a:latin typeface="Cambria Math" panose="02040503050406030204" pitchFamily="18" charset="0"/>
                                    </a:rPr>
                                    <m:t>max</m:t>
                                  </m:r>
                                </m:fName>
                                <m:e/>
                              </m:func>
                            </m:e>
                            <m:lim>
                              <m:r>
                                <a:rPr lang="en-US" i="1">
                                  <a:latin typeface="Cambria Math" panose="02040503050406030204" pitchFamily="18" charset="0"/>
                                </a:rPr>
                                <m:t>𝑎𝑛𝑠</m:t>
                              </m:r>
                            </m:lim>
                          </m:limLow>
                        </m:e>
                      </m:func>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𝑎</m:t>
                          </m:r>
                          <m:r>
                            <a:rPr lang="en-US">
                              <a:latin typeface="Cambria Math" panose="02040503050406030204" pitchFamily="18" charset="0"/>
                            </a:rPr>
                            <m:t>∈</m:t>
                          </m:r>
                          <m:r>
                            <a:rPr lang="en-US" i="1">
                              <a:latin typeface="Cambria Math" panose="02040503050406030204" pitchFamily="18" charset="0"/>
                            </a:rPr>
                            <m:t>𝐴</m:t>
                          </m:r>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𝑎</m:t>
                              </m:r>
                            </m:sub>
                            <m:sup>
                              <m:r>
                                <a:rPr lang="en-US" i="1">
                                  <a:latin typeface="Cambria Math" panose="02040503050406030204" pitchFamily="18" charset="0"/>
                                </a:rPr>
                                <m:t>𝑡</m:t>
                              </m:r>
                            </m:sup>
                          </m:sSubSup>
                          <m:r>
                            <a:rPr lang="en-US">
                              <a:latin typeface="Cambria Math" panose="02040503050406030204" pitchFamily="18" charset="0"/>
                            </a:rPr>
                            <m:t>=</m:t>
                          </m:r>
                          <m:r>
                            <a:rPr lang="en-US" i="1">
                              <a:latin typeface="Cambria Math" panose="02040503050406030204" pitchFamily="18" charset="0"/>
                            </a:rPr>
                            <m:t>𝑎𝑛𝑠</m:t>
                          </m:r>
                        </m:e>
                      </m:d>
                      <m:r>
                        <a:rPr lang="en-US">
                          <a:latin typeface="Cambria Math" panose="02040503050406030204" pitchFamily="18" charset="0"/>
                        </a:rPr>
                        <m:t>∣</m:t>
                      </m:r>
                    </m:oMath>
                  </m:oMathPara>
                </a14:m>
                <a:endParaRPr lang="en-US" dirty="0">
                  <a:effectLst/>
                </a:endParaRPr>
              </a:p>
              <a:p>
                <a:pPr/>
                <a14:m>
                  <m:oMathPara xmlns:m="http://schemas.openxmlformats.org/officeDocument/2006/math">
                    <m:oMathParaPr>
                      <m:jc m:val="centerGroup"/>
                    </m:oMathParaPr>
                    <m:oMath xmlns:m="http://schemas.openxmlformats.org/officeDocument/2006/math">
                      <m:r>
                        <m:rPr>
                          <m:nor/>
                        </m:rPr>
                        <a:rPr lang="en-US" b="0"/>
                        <m:t>Minority</m:t>
                      </m:r>
                      <m:d>
                        <m:dPr>
                          <m:ctrlPr>
                            <a:rPr lang="en-US" i="1">
                              <a:latin typeface="Cambria Math" panose="02040503050406030204" pitchFamily="18" charset="0"/>
                            </a:rPr>
                          </m:ctrlPr>
                        </m:dPr>
                        <m:e>
                          <m:r>
                            <a:rPr lang="en-US" b="0" i="1">
                              <a:latin typeface="Cambria Math" panose="02040503050406030204" pitchFamily="18" charset="0"/>
                            </a:rPr>
                            <m:t>𝑡</m:t>
                          </m:r>
                        </m:e>
                      </m:d>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𝑎</m:t>
                          </m:r>
                          <m:r>
                            <a:rPr lang="en-US">
                              <a:latin typeface="Cambria Math" panose="02040503050406030204" pitchFamily="18" charset="0"/>
                            </a:rPr>
                            <m:t>∈</m:t>
                          </m:r>
                          <m:r>
                            <a:rPr lang="en-US" i="1">
                              <a:latin typeface="Cambria Math" panose="02040503050406030204" pitchFamily="18" charset="0"/>
                            </a:rPr>
                            <m:t>𝐴</m:t>
                          </m:r>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𝑎</m:t>
                              </m:r>
                            </m:sub>
                            <m:sup>
                              <m:r>
                                <a:rPr lang="en-US" i="1">
                                  <a:latin typeface="Cambria Math" panose="02040503050406030204" pitchFamily="18" charset="0"/>
                                </a:rPr>
                                <m:t>𝑡</m:t>
                              </m:r>
                            </m:sup>
                          </m:sSubSup>
                          <m:r>
                            <a:rPr lang="en-US">
                              <a:latin typeface="Cambria Math" panose="02040503050406030204" pitchFamily="18" charset="0"/>
                            </a:rPr>
                            <m:t>≠</m:t>
                          </m:r>
                          <m:r>
                            <m:rPr>
                              <m:nor/>
                            </m:rPr>
                            <a:rPr lang="en-US" i="1"/>
                            <m:t>Majority</m:t>
                          </m:r>
                          <m:d>
                            <m:dPr>
                              <m:ctrlPr>
                                <a:rPr lang="en-US" i="1">
                                  <a:latin typeface="Cambria Math" panose="02040503050406030204" pitchFamily="18" charset="0"/>
                                </a:rPr>
                              </m:ctrlPr>
                            </m:dPr>
                            <m:e>
                              <m:r>
                                <a:rPr lang="en-US" i="1">
                                  <a:latin typeface="Cambria Math" panose="02040503050406030204" pitchFamily="18" charset="0"/>
                                </a:rPr>
                                <m:t>𝑡</m:t>
                              </m:r>
                            </m:e>
                          </m:d>
                        </m:e>
                      </m:d>
                    </m:oMath>
                  </m:oMathPara>
                </a14:m>
                <a:endParaRPr lang="en-US" dirty="0">
                  <a:effectLst/>
                </a:endParaRPr>
              </a:p>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𝐼</m:t>
                          </m:r>
                        </m:e>
                        <m:sub>
                          <m:r>
                            <a:rPr lang="en-US" i="1">
                              <a:latin typeface="Cambria Math" panose="02040503050406030204" pitchFamily="18" charset="0"/>
                            </a:rPr>
                            <m:t>𝑎</m:t>
                          </m:r>
                        </m:sub>
                        <m:sup>
                          <m:r>
                            <a:rPr lang="en-US" i="1">
                              <a:latin typeface="Cambria Math" panose="02040503050406030204" pitchFamily="18" charset="0"/>
                            </a:rPr>
                            <m:t>𝑚𝑖𝑛</m:t>
                          </m:r>
                        </m:sup>
                      </m:sSubSup>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a:latin typeface="Cambria Math" panose="02040503050406030204" pitchFamily="18" charset="0"/>
                                  </a:rPr>
                                  <m:t>1</m:t>
                                </m:r>
                              </m:e>
                              <m:e>
                                <m:r>
                                  <m:rPr>
                                    <m:nor/>
                                  </m:rPr>
                                  <a:rPr lang="en-US" i="1"/>
                                  <m:t>if</m:t>
                                </m:r>
                                <m:r>
                                  <m:rPr>
                                    <m:nor/>
                                  </m:rPr>
                                  <a:rPr lang="en-US" i="1"/>
                                  <m:t> </m:t>
                                </m:r>
                                <m:r>
                                  <a:rPr lang="en-US" i="1">
                                    <a:latin typeface="Cambria Math" panose="02040503050406030204" pitchFamily="18" charset="0"/>
                                  </a:rPr>
                                  <m:t>𝑎</m:t>
                                </m:r>
                                <m:r>
                                  <a:rPr lang="en-US">
                                    <a:latin typeface="Cambria Math" panose="02040503050406030204" pitchFamily="18" charset="0"/>
                                  </a:rPr>
                                  <m:t>∈</m:t>
                                </m:r>
                                <m:r>
                                  <m:rPr>
                                    <m:nor/>
                                  </m:rPr>
                                  <a:rPr lang="en-US" i="1"/>
                                  <m:t>Minority</m:t>
                                </m:r>
                                <m:d>
                                  <m:dPr>
                                    <m:ctrlPr>
                                      <a:rPr lang="en-US" i="1">
                                        <a:latin typeface="Cambria Math" panose="02040503050406030204" pitchFamily="18" charset="0"/>
                                      </a:rPr>
                                    </m:ctrlPr>
                                  </m:dPr>
                                  <m:e>
                                    <m:r>
                                      <a:rPr lang="en-US" i="1">
                                        <a:latin typeface="Cambria Math" panose="02040503050406030204" pitchFamily="18" charset="0"/>
                                      </a:rPr>
                                      <m:t>𝑡</m:t>
                                    </m:r>
                                  </m:e>
                                </m:d>
                              </m:e>
                            </m:mr>
                            <m:mr>
                              <m:e>
                                <m:r>
                                  <a:rPr lang="en-US">
                                    <a:latin typeface="Cambria Math" panose="02040503050406030204" pitchFamily="18" charset="0"/>
                                  </a:rPr>
                                  <m:t>0</m:t>
                                </m:r>
                              </m:e>
                              <m:e>
                                <m:r>
                                  <m:rPr>
                                    <m:nor/>
                                  </m:rPr>
                                  <a:rPr lang="en-US" i="1"/>
                                  <m:t>otherwise</m:t>
                                </m:r>
                              </m:e>
                            </m:mr>
                          </m:m>
                        </m:e>
                      </m:d>
                    </m:oMath>
                  </m:oMathPara>
                </a14:m>
                <a:br>
                  <a:rPr lang="en-US" dirty="0"/>
                </a:br>
                <a:endParaRPr lang="en-US" b="0" i="0" dirty="0">
                  <a:solidFill>
                    <a:srgbClr val="CCCCCC"/>
                  </a:solidFill>
                  <a:effectLst/>
                  <a:latin typeface="Segoe WPC"/>
                </a:endParaRPr>
              </a:p>
            </p:txBody>
          </p:sp>
        </mc:Choice>
        <mc:Fallback xmlns="">
          <p:sp>
            <p:nvSpPr>
              <p:cNvPr id="7" name="TextBox 6">
                <a:extLst>
                  <a:ext uri="{FF2B5EF4-FFF2-40B4-BE49-F238E27FC236}">
                    <a16:creationId xmlns:a16="http://schemas.microsoft.com/office/drawing/2014/main" id="{C219C19F-F7A0-AEE2-8B3E-FE0E3B30BA05}"/>
                  </a:ext>
                </a:extLst>
              </p:cNvPr>
              <p:cNvSpPr txBox="1">
                <a:spLocks noRot="1" noChangeAspect="1" noMove="1" noResize="1" noEditPoints="1" noAdjustHandles="1" noChangeArrowheads="1" noChangeShapeType="1" noTextEdit="1"/>
              </p:cNvSpPr>
              <p:nvPr/>
            </p:nvSpPr>
            <p:spPr>
              <a:xfrm>
                <a:off x="389543" y="694648"/>
                <a:ext cx="8574037" cy="1626599"/>
              </a:xfrm>
              <a:prstGeom prst="rect">
                <a:avLst/>
              </a:prstGeom>
              <a:blipFill>
                <a:blip r:embed="rId2"/>
                <a:stretch>
                  <a:fillRect l="-640" t="-2247"/>
                </a:stretch>
              </a:blipFill>
            </p:spPr>
            <p:txBody>
              <a:bodyPr/>
              <a:lstStyle/>
              <a:p>
                <a:r>
                  <a:rPr lang="en-US">
                    <a:noFill/>
                  </a:rPr>
                  <a:t> </a:t>
                </a:r>
              </a:p>
            </p:txBody>
          </p:sp>
        </mc:Fallback>
      </mc:AlternateContent>
      <p:sp>
        <p:nvSpPr>
          <p:cNvPr id="12" name="Title 1">
            <a:extLst>
              <a:ext uri="{FF2B5EF4-FFF2-40B4-BE49-F238E27FC236}">
                <a16:creationId xmlns:a16="http://schemas.microsoft.com/office/drawing/2014/main" id="{DC9B5415-7F57-A680-C360-3A0F047C7FE7}"/>
              </a:ext>
            </a:extLst>
          </p:cNvPr>
          <p:cNvSpPr>
            <a:spLocks noGrp="1"/>
          </p:cNvSpPr>
          <p:nvPr>
            <p:ph type="title"/>
          </p:nvPr>
        </p:nvSpPr>
        <p:spPr>
          <a:xfrm>
            <a:off x="457200" y="274639"/>
            <a:ext cx="8229600" cy="401936"/>
          </a:xfrm>
        </p:spPr>
        <p:txBody>
          <a:bodyPr>
            <a:normAutofit fontScale="90000"/>
          </a:bodyPr>
          <a:lstStyle/>
          <a:p>
            <a:pPr algn="l"/>
            <a:r>
              <a:rPr lang="en-US" sz="3100" dirty="0"/>
              <a:t>Experiment 3: </a:t>
            </a:r>
            <a:r>
              <a:rPr lang="en-US" sz="3200" dirty="0"/>
              <a:t>Minority Protection</a:t>
            </a:r>
            <a:br>
              <a:rPr lang="en-US" dirty="0"/>
            </a:br>
            <a:endParaRPr dirty="0"/>
          </a:p>
        </p:txBody>
      </p:sp>
    </p:spTree>
    <p:extLst>
      <p:ext uri="{BB962C8B-B14F-4D97-AF65-F5344CB8AC3E}">
        <p14:creationId xmlns:p14="http://schemas.microsoft.com/office/powerpoint/2010/main" val="2548544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2877</TotalTime>
  <Words>2996</Words>
  <Application>Microsoft Office PowerPoint</Application>
  <PresentationFormat>On-screen Show (4:3)</PresentationFormat>
  <Paragraphs>661</Paragraphs>
  <Slides>39</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Aptos Narrow</vt:lpstr>
      <vt:lpstr>Arial</vt:lpstr>
      <vt:lpstr>Calibri</vt:lpstr>
      <vt:lpstr>Cambria Math</vt:lpstr>
      <vt:lpstr>Courier New</vt:lpstr>
      <vt:lpstr>Segoe WPC</vt:lpstr>
      <vt:lpstr>Office Theme</vt:lpstr>
      <vt:lpstr>Adaptive Influence Balancing for Multi-Agent LLM Debates</vt:lpstr>
      <vt:lpstr>Motivation</vt:lpstr>
      <vt:lpstr>ICML 2026 Paper: Key Insight</vt:lpstr>
      <vt:lpstr>Research Gap</vt:lpstr>
      <vt:lpstr>Hypothesis</vt:lpstr>
      <vt:lpstr>Proposed Framework</vt:lpstr>
      <vt:lpstr>Experimental Design</vt:lpstr>
      <vt:lpstr>Experiment 1: Baseline</vt:lpstr>
      <vt:lpstr>Experiment 2: Loser-More-Resistance</vt:lpstr>
      <vt:lpstr>Experiment 3: Minority Protection</vt:lpstr>
      <vt:lpstr>Experiment 4: Devil's Advocate</vt:lpstr>
      <vt:lpstr>Experiment 5: Uncertainty-Aware Debate </vt:lpstr>
      <vt:lpstr>Research Framework </vt:lpstr>
      <vt:lpstr>Evaluation Plan</vt:lpstr>
      <vt:lpstr>Evaluation Plan – part 1</vt:lpstr>
      <vt:lpstr>Evaluation Plan – part 2</vt:lpstr>
      <vt:lpstr>Evaluation Plan – part 3</vt:lpstr>
      <vt:lpstr>Final Evaluation Study </vt:lpstr>
      <vt:lpstr>Important figure to include</vt:lpstr>
      <vt:lpstr>Expected Contributions</vt:lpstr>
      <vt:lpstr>Why This Matters for Reliability Research</vt:lpstr>
      <vt:lpstr>Experiment #2</vt:lpstr>
      <vt:lpstr>Experiment 2a: Loser-More-Resistance - Methodology</vt:lpstr>
      <vt:lpstr>Experiment 2a: Loser-More-Resistance - Methodology</vt:lpstr>
      <vt:lpstr>Experiment 2b: Loser-More-Resistance – Methodology – Use diagnostics as adaptive trigger</vt:lpstr>
      <vt:lpstr>Experiment 2b: Loser-More-Resistance - Methodology</vt:lpstr>
      <vt:lpstr>Experiment 2: Loser-More-Resistance - Results</vt:lpstr>
      <vt:lpstr>Experiment 2: Loser-More-Resistance - Results</vt:lpstr>
      <vt:lpstr>Experiment #3</vt:lpstr>
      <vt:lpstr>Experiment 3a:</vt:lpstr>
      <vt:lpstr>Experiment 3a:</vt:lpstr>
      <vt:lpstr>Experiment 3a:</vt:lpstr>
      <vt:lpstr>Experiment 3b:</vt:lpstr>
      <vt:lpstr>Experiment 3:</vt:lpstr>
      <vt:lpstr>Experiment 3:</vt:lpstr>
      <vt:lpstr>Appendix</vt:lpstr>
      <vt:lpstr>Experiment 2: Loser-More-Resistance - Methodology</vt:lpstr>
      <vt:lpstr>Experiment 2: Loser-More-Resistance </vt:lpstr>
      <vt:lpstr>Experiment 3: Minority Protection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Zeng, Angie</dc:creator>
  <cp:keywords/>
  <dc:description>generated using python-pptx</dc:description>
  <cp:lastModifiedBy>Kyle Lin</cp:lastModifiedBy>
  <cp:revision>100</cp:revision>
  <dcterms:created xsi:type="dcterms:W3CDTF">2013-01-27T09:14:16Z</dcterms:created>
  <dcterms:modified xsi:type="dcterms:W3CDTF">2026-07-10T15:51:58Z</dcterms:modified>
  <cp:category/>
</cp:coreProperties>
</file>